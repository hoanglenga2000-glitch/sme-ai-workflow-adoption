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349cbd6945f4b76" /><Relationship Type="http://schemas.openxmlformats.org/officeDocument/2006/relationships/extended-properties" Target="/docProps/app.xml" Id="R7e715853b2f147eb" /><Relationship Type="http://schemas.openxmlformats.org/officeDocument/2006/relationships/officeDocument" Target="/ppt/presentation.xml" Id="R78673d945422496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599be830e5641c5"/>
  </p:sldMasterIdLst>
  <p:notesMasterIdLst>
    <p:notesMasterId xmlns:r="http://schemas.openxmlformats.org/officeDocument/2006/relationships" r:id="Ra4314ebc89604fb2"/>
  </p:notesMasterIdLst>
  <p:sldIdLst>
    <p:sldId xmlns:r="http://schemas.openxmlformats.org/officeDocument/2006/relationships" id="256" r:id="R545ec098a1904639"/>
    <p:sldId xmlns:r="http://schemas.openxmlformats.org/officeDocument/2006/relationships" id="257" r:id="R37b4ad4150894a61"/>
    <p:sldId xmlns:r="http://schemas.openxmlformats.org/officeDocument/2006/relationships" id="258" r:id="R41edf46296494dbb"/>
    <p:sldId xmlns:r="http://schemas.openxmlformats.org/officeDocument/2006/relationships" id="259" r:id="R28f9caa9b3e045f6"/>
    <p:sldId xmlns:r="http://schemas.openxmlformats.org/officeDocument/2006/relationships" id="260" r:id="Ra49281ad49844b3c"/>
    <p:sldId xmlns:r="http://schemas.openxmlformats.org/officeDocument/2006/relationships" id="261" r:id="Rb252ff2c9866486c"/>
    <p:sldId xmlns:r="http://schemas.openxmlformats.org/officeDocument/2006/relationships" id="262" r:id="R722d232c2e22431c"/>
    <p:sldId xmlns:r="http://schemas.openxmlformats.org/officeDocument/2006/relationships" id="263" r:id="Re50f60bb59124a41"/>
    <p:sldId xmlns:r="http://schemas.openxmlformats.org/officeDocument/2006/relationships" id="264" r:id="R05373ed38d254d45"/>
    <p:sldId xmlns:r="http://schemas.openxmlformats.org/officeDocument/2006/relationships" id="265" r:id="R92d928754673411c"/>
    <p:sldId xmlns:r="http://schemas.openxmlformats.org/officeDocument/2006/relationships" id="266" r:id="Ra7f530f2983642cb"/>
    <p:sldId xmlns:r="http://schemas.openxmlformats.org/officeDocument/2006/relationships" id="267" r:id="R3c1ef2df95e44c8b"/>
    <p:sldId xmlns:r="http://schemas.openxmlformats.org/officeDocument/2006/relationships" id="268" r:id="Rf5a40a046259434f"/>
    <p:sldId xmlns:r="http://schemas.openxmlformats.org/officeDocument/2006/relationships" id="269" r:id="R0ded5b5ff033437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99be830e5641c5" /><Relationship Type="http://schemas.openxmlformats.org/officeDocument/2006/relationships/theme" Target="/ppt/theme/theme1.xml" Id="R0e8693f660a545c6" /><Relationship Type="http://schemas.openxmlformats.org/officeDocument/2006/relationships/notesMaster" Target="/ppt/notesMasters/notesMaster1.xml" Id="Ra4314ebc89604fb2" /><Relationship Type="http://schemas.openxmlformats.org/officeDocument/2006/relationships/presProps" Target="/ppt/presProps.xml" Id="R96e5261154d741ac" /><Relationship Type="http://schemas.openxmlformats.org/officeDocument/2006/relationships/viewProps" Target="/ppt/viewProps.xml" Id="Rd5429b2a1c4f42f3" /><Relationship Type="http://schemas.openxmlformats.org/officeDocument/2006/relationships/tableStyles" Target="/ppt/tableStyles.xml" Id="R1eb9c38d20484dc2" /><Relationship Type="http://schemas.openxmlformats.org/officeDocument/2006/relationships/slide" Target="/ppt/slides/slide1.xml" Id="R545ec098a1904639" /><Relationship Type="http://schemas.openxmlformats.org/officeDocument/2006/relationships/slide" Target="/ppt/slides/slide2.xml" Id="R37b4ad4150894a61" /><Relationship Type="http://schemas.openxmlformats.org/officeDocument/2006/relationships/slide" Target="/ppt/slides/slide3.xml" Id="R41edf46296494dbb" /><Relationship Type="http://schemas.openxmlformats.org/officeDocument/2006/relationships/slide" Target="/ppt/slides/slide4.xml" Id="R28f9caa9b3e045f6" /><Relationship Type="http://schemas.openxmlformats.org/officeDocument/2006/relationships/slide" Target="/ppt/slides/slide5.xml" Id="Ra49281ad49844b3c" /><Relationship Type="http://schemas.openxmlformats.org/officeDocument/2006/relationships/slide" Target="/ppt/slides/slide6.xml" Id="Rb252ff2c9866486c" /><Relationship Type="http://schemas.openxmlformats.org/officeDocument/2006/relationships/slide" Target="/ppt/slides/slide7.xml" Id="R722d232c2e22431c" /><Relationship Type="http://schemas.openxmlformats.org/officeDocument/2006/relationships/slide" Target="/ppt/slides/slide8.xml" Id="Re50f60bb59124a41" /><Relationship Type="http://schemas.openxmlformats.org/officeDocument/2006/relationships/slide" Target="/ppt/slides/slide9.xml" Id="R05373ed38d254d45" /><Relationship Type="http://schemas.openxmlformats.org/officeDocument/2006/relationships/slide" Target="/ppt/slides/slide10.xml" Id="R92d928754673411c" /><Relationship Type="http://schemas.openxmlformats.org/officeDocument/2006/relationships/slide" Target="/ppt/slides/slide11.xml" Id="Ra7f530f2983642cb" /><Relationship Type="http://schemas.openxmlformats.org/officeDocument/2006/relationships/slide" Target="/ppt/slides/slide12.xml" Id="R3c1ef2df95e44c8b" /><Relationship Type="http://schemas.openxmlformats.org/officeDocument/2006/relationships/slide" Target="/ppt/slides/slide13.xml" Id="Rf5a40a046259434f" /><Relationship Type="http://schemas.openxmlformats.org/officeDocument/2006/relationships/slide" Target="/ppt/slides/slide14.xml" Id="R0ded5b5ff033437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0ccb8e2ef7bc423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5d6207d6a274e75" /><Relationship Type="http://schemas.openxmlformats.org/officeDocument/2006/relationships/notesMaster" Target="/ppt/notesMasters/notesMaster1.xml" Id="Re94da3649c964c0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13b64393ead4cf5" /><Relationship Type="http://schemas.openxmlformats.org/officeDocument/2006/relationships/notesMaster" Target="/ppt/notesMasters/notesMaster1.xml" Id="R224255bde74c4cb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6a498c0ad8f40e3" /><Relationship Type="http://schemas.openxmlformats.org/officeDocument/2006/relationships/notesMaster" Target="/ppt/notesMasters/notesMaster1.xml" Id="R1efc886e547f4cb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a8fd7b05e284c0e" /><Relationship Type="http://schemas.openxmlformats.org/officeDocument/2006/relationships/notesMaster" Target="/ppt/notesMasters/notesMaster1.xml" Id="R0e261e7660904a5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9341f305e7a4744" /><Relationship Type="http://schemas.openxmlformats.org/officeDocument/2006/relationships/notesMaster" Target="/ppt/notesMasters/notesMaster1.xml" Id="Rdac3e25c302e4b4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8ea8c89c8ec40cd" /><Relationship Type="http://schemas.openxmlformats.org/officeDocument/2006/relationships/notesMaster" Target="/ppt/notesMasters/notesMaster1.xml" Id="Rbc3df1bd590643c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d2a8603fefb4d5a" /><Relationship Type="http://schemas.openxmlformats.org/officeDocument/2006/relationships/notesMaster" Target="/ppt/notesMasters/notesMaster1.xml" Id="Rc9f0995f1c52445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347384dc55344aa" /><Relationship Type="http://schemas.openxmlformats.org/officeDocument/2006/relationships/notesMaster" Target="/ppt/notesMasters/notesMaster1.xml" Id="Rd8a7b13f22054f5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dadd0592a584316" /><Relationship Type="http://schemas.openxmlformats.org/officeDocument/2006/relationships/notesMaster" Target="/ppt/notesMasters/notesMaster1.xml" Id="R7ec86b7ceb68474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bd8ecd340b646ae" /><Relationship Type="http://schemas.openxmlformats.org/officeDocument/2006/relationships/notesMaster" Target="/ppt/notesMasters/notesMaster1.xml" Id="R3fa48b359d15483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564593089a84a19" /><Relationship Type="http://schemas.openxmlformats.org/officeDocument/2006/relationships/notesMaster" Target="/ppt/notesMasters/notesMaster1.xml" Id="R89b1d9ccaecf48d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666f91ade8c42ef" /><Relationship Type="http://schemas.openxmlformats.org/officeDocument/2006/relationships/notesMaster" Target="/ppt/notesMasters/notesMaster1.xml" Id="Re1009b176289469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74ad64c01694830" /><Relationship Type="http://schemas.openxmlformats.org/officeDocument/2006/relationships/notesMaster" Target="/ppt/notesMasters/notesMaster1.xml" Id="R351a813311a64d6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6073115b611453e" /><Relationship Type="http://schemas.openxmlformats.org/officeDocument/2006/relationships/notesMaster" Target="/ppt/notesMasters/notesMaster1.xml" Id="R3c210d1b4eaf441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930a7784d645a6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c50fb919337a4aef" /><Relationship Type="http://schemas.openxmlformats.org/officeDocument/2006/relationships/slideLayout" Target="/ppt/slideLayouts/slideLayout2.xml" Id="R5f6a7546f1d6457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f6a7546f1d6457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b829cebba024aa0" /><Relationship Type="http://schemas.openxmlformats.org/officeDocument/2006/relationships/image" Target="/ppt/media/image.png" Id="R0434d404e9104142" /><Relationship Type="http://schemas.openxmlformats.org/officeDocument/2006/relationships/notesSlide" Target="/ppt/notesSlides/notesSlide1.xml" Id="R25b453ecd387481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aacaa44405147ee" /><Relationship Type="http://schemas.openxmlformats.org/officeDocument/2006/relationships/image" Target="/ppt/media/image2.png" Id="R598304b96fe34d1d" /><Relationship Type="http://schemas.openxmlformats.org/officeDocument/2006/relationships/notesSlide" Target="/ppt/notesSlides/notesSlide2.xml" Id="Rda0412d86643410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9bcb3e7247b4592" /><Relationship Type="http://schemas.openxmlformats.org/officeDocument/2006/relationships/image" Target="/ppt/media/image3.png" Id="Re661a2f65be44af5" /><Relationship Type="http://schemas.openxmlformats.org/officeDocument/2006/relationships/notesSlide" Target="/ppt/notesSlides/notesSlide3.xml" Id="Ra59973db1b4847f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d5fb914d057497b" /><Relationship Type="http://schemas.openxmlformats.org/officeDocument/2006/relationships/image" Target="/ppt/media/image4.png" Id="Rfd85945da15244c6" /><Relationship Type="http://schemas.openxmlformats.org/officeDocument/2006/relationships/notesSlide" Target="/ppt/notesSlides/notesSlide4.xml" Id="R1959f8c46869491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b407c000c884fbc" /><Relationship Type="http://schemas.openxmlformats.org/officeDocument/2006/relationships/image" Target="/ppt/media/image5.png" Id="R0f08743710054367" /><Relationship Type="http://schemas.openxmlformats.org/officeDocument/2006/relationships/notesSlide" Target="/ppt/notesSlides/notesSlide5.xml" Id="Rf9c5c5b01ce2441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4f3c3c8a7904cb9" /><Relationship Type="http://schemas.openxmlformats.org/officeDocument/2006/relationships/image" Target="/ppt/media/image6.png" Id="R98faa9b3c44e400b" /><Relationship Type="http://schemas.openxmlformats.org/officeDocument/2006/relationships/notesSlide" Target="/ppt/notesSlides/notesSlide6.xml" Id="R826a23f77b5246d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71753d4eb0e4a51" /><Relationship Type="http://schemas.openxmlformats.org/officeDocument/2006/relationships/image" Target="/ppt/media/image7.png" Id="R53e9261066a44d50" /><Relationship Type="http://schemas.openxmlformats.org/officeDocument/2006/relationships/notesSlide" Target="/ppt/notesSlides/notesSlide7.xml" Id="R3c35194624ba466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96daa9e9e8a4b10" /><Relationship Type="http://schemas.openxmlformats.org/officeDocument/2006/relationships/image" Target="/ppt/media/image8.png" Id="R3ae327569725499a" /><Relationship Type="http://schemas.openxmlformats.org/officeDocument/2006/relationships/notesSlide" Target="/ppt/notesSlides/notesSlide8.xml" Id="Rf6b38e10e31d4af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561d5dff399456d" /><Relationship Type="http://schemas.openxmlformats.org/officeDocument/2006/relationships/image" Target="/ppt/media/image9.png" Id="R32475b4732064ded" /><Relationship Type="http://schemas.openxmlformats.org/officeDocument/2006/relationships/notesSlide" Target="/ppt/notesSlides/notesSlide9.xml" Id="R5e7f317ad49a4ab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38dfbbfccc944c5" /><Relationship Type="http://schemas.openxmlformats.org/officeDocument/2006/relationships/image" Target="/ppt/media/image10.png" Id="Rfccd15ce824c4e7d" /><Relationship Type="http://schemas.openxmlformats.org/officeDocument/2006/relationships/notesSlide" Target="/ppt/notesSlides/notesSlide10.xml" Id="Rc7f9e4617a4d4a4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f7836eea36144b7" /><Relationship Type="http://schemas.openxmlformats.org/officeDocument/2006/relationships/image" Target="/ppt/media/image11.png" Id="Rf19dc2b65e5347c5" /><Relationship Type="http://schemas.openxmlformats.org/officeDocument/2006/relationships/notesSlide" Target="/ppt/notesSlides/notesSlide11.xml" Id="Ra976306c77ab408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a221ae738c5414e" /><Relationship Type="http://schemas.openxmlformats.org/officeDocument/2006/relationships/image" Target="/ppt/media/image12.png" Id="Rd0b2131359594f1d" /><Relationship Type="http://schemas.openxmlformats.org/officeDocument/2006/relationships/notesSlide" Target="/ppt/notesSlides/notesSlide12.xml" Id="Raeeab63b1e3d41e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354bab5ac344e76" /><Relationship Type="http://schemas.openxmlformats.org/officeDocument/2006/relationships/image" Target="/ppt/media/image13.png" Id="R7c15b5af11aa44d0" /><Relationship Type="http://schemas.openxmlformats.org/officeDocument/2006/relationships/notesSlide" Target="/ppt/notesSlides/notesSlide13.xml" Id="R302f71b9ff25448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fbae61def7e48e6" /><Relationship Type="http://schemas.openxmlformats.org/officeDocument/2006/relationships/image" Target="/ppt/media/image14.png" Id="R222dd4ac9eb345a9" /><Relationship Type="http://schemas.openxmlformats.org/officeDocument/2006/relationships/notesSlide" Target="/ppt/notesSlides/notesSlide14.xml" Id="R05fd9c45ebc6414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66F702D-9E92-45BB-B222-CBEBF1059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5A571B-83C0-4164-97C9-9304EF13B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1F5F8B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1F5F8B"/>
                </a:solidFill>
                <a:latin typeface="Aptos"/>
                <a:ea typeface="Aptos"/>
                <a:cs typeface="Aptos"/>
              </a:rPr>
              <a:t>GAMMA-SUPERVISED FIXED LAYOUT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77C7B1-4B9E-4624-9704-09547876D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F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8E08C3-DA1F-4CEB-AFD4-8535EFBC6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04800"/>
            <a:ext cx="609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673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5F6673"/>
                </a:solidFill>
                <a:latin typeface="Cascadia Mono"/>
                <a:ea typeface="Cascadia Mono"/>
                <a:cs typeface="Cascadia Mono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EDA416-051A-4206-94C2-7F8160385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381750"/>
            <a:ext cx="1847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0">
                <a:solidFill>
                  <a:srgbClr val="5F6673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5F6673"/>
                </a:solidFill>
                <a:latin typeface="Aptos"/>
                <a:ea typeface="Aptos"/>
                <a:cs typeface="Aptos"/>
              </a:rPr>
              <a:t>GPT IMAGE 2 VISUAL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360696-04AD-4CD8-B860-66B3F0B52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5029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企业 AI 部署偏好与治理机制：完整机器学习案例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CF03BC-3E87-4F1E-9D01-019EB0386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57350"/>
            <a:ext cx="4629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5F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5F6673"/>
                </a:solidFill>
                <a:latin typeface="Microsoft YaHei"/>
                <a:ea typeface="Microsoft YaHei"/>
                <a:cs typeface="Microsoft YaHei"/>
              </a:rPr>
              <a:t>本项目把官方数据、机器学习验证和可复现展示合成一个完整课程案例。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A4325B-6B50-4D82-9D0F-E7F0F9EB0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47950"/>
            <a:ext cx="45148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C9DEF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41625A-2636-4D27-AED6-C18079E09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19400"/>
            <a:ext cx="104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F5F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F5F8B"/>
                </a:solidFill>
                <a:latin typeface="Microsoft YaHei"/>
                <a:ea typeface="Microsoft YaHei"/>
                <a:cs typeface="Microsoft YaHei"/>
              </a:rPr>
              <a:t>证据对象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BE7DA9-A827-4984-A777-14448E271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905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12.77M official source rows; 5,814 Stage 2 modeling rows; Stage 2 R2=0.7245.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CA79AB-0EF2-4BDD-9718-E5056D595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71900"/>
            <a:ext cx="45148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F"/>
          </a:solidFill>
          <a:ln xmlns:a="http://schemas.openxmlformats.org/drawingml/2006/main" w="9525">
            <a:solidFill>
              <a:srgbClr val="EFD2A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137222-E9D7-422B-9AAE-32F931446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43350"/>
            <a:ext cx="104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36B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36B2C"/>
                </a:solidFill>
                <a:latin typeface="Microsoft YaHei"/>
                <a:ea typeface="Microsoft YaHei"/>
                <a:cs typeface="Microsoft YaHei"/>
              </a:rPr>
              <a:t>边界说明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F552EB-BDEE-413F-BA97-09446A39D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91000"/>
            <a:ext cx="3905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本页图片是 GPT image 2 概念视觉，不作为统计证据。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6545BE-2121-4DC5-9CD3-F40BF4CCB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24450"/>
            <a:ext cx="1200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5F8B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1">
                <a:solidFill>
                  <a:srgbClr val="1F5F8B"/>
                </a:solidFill>
                <a:latin typeface="Cascadia Mono"/>
                <a:ea typeface="Cascadia Mono"/>
                <a:cs typeface="Cascadia Mono"/>
              </a:rPr>
              <a:t>12.77M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DE3621-92A1-4788-95DD-C0C8DBFE7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67350"/>
            <a:ext cx="1200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65" b="0">
                <a:solidFill>
                  <a:srgbClr val="5F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65" b="0">
                <a:solidFill>
                  <a:srgbClr val="5F6673"/>
                </a:solidFill>
                <a:latin typeface="Microsoft YaHei"/>
                <a:ea typeface="Microsoft YaHei"/>
                <a:cs typeface="Microsoft YaHei"/>
              </a:rPr>
              <a:t>官方源数据行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2DA680-E24F-4AEE-B98A-384670C01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124450"/>
            <a:ext cx="1200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5F8B"/>
                </a:solidFill>
                <a:latin typeface="Cascadia Mono"/>
                <a:ea typeface="Cascadia Mono"/>
                <a:cs typeface="Cascadia Mono"/>
              </a:defRPr>
            </a:pPr>
            <a:r>
              <a:rPr sz="1500" b="1">
                <a:solidFill>
                  <a:srgbClr val="1F5F8B"/>
                </a:solidFill>
                <a:latin typeface="Cascadia Mono"/>
                <a:ea typeface="Cascadia Mono"/>
                <a:cs typeface="Cascadia Mono"/>
              </a:rPr>
              <a:t>5,814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DEAA4C-80C7-442E-ADBE-0D2A4AFB1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467350"/>
            <a:ext cx="1200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65" b="0">
                <a:solidFill>
                  <a:srgbClr val="5F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65" b="0">
                <a:solidFill>
                  <a:srgbClr val="5F6673"/>
                </a:solidFill>
                <a:latin typeface="Microsoft YaHei"/>
                <a:ea typeface="Microsoft YaHei"/>
                <a:cs typeface="Microsoft YaHei"/>
              </a:rPr>
              <a:t>Stage 2 建模行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887AF0-EF0D-4A1B-ADA0-B3AB78109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124450"/>
            <a:ext cx="1200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5F8B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1">
                <a:solidFill>
                  <a:srgbClr val="1F5F8B"/>
                </a:solidFill>
                <a:latin typeface="Cascadia Mono"/>
                <a:ea typeface="Cascadia Mono"/>
                <a:cs typeface="Cascadia Mono"/>
              </a:rPr>
              <a:t>0.7245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3B1DC9-9642-4F0C-B18C-D0CF74C66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467350"/>
            <a:ext cx="1200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65" b="0">
                <a:solidFill>
                  <a:srgbClr val="5F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65" b="0">
                <a:solidFill>
                  <a:srgbClr val="5F6673"/>
                </a:solidFill>
                <a:latin typeface="Microsoft YaHei"/>
                <a:ea typeface="Microsoft YaHei"/>
                <a:cs typeface="Microsoft YaHei"/>
              </a:rPr>
              <a:t>Stage 2 R²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E105A9-95AC-4ACB-B17F-5F24F8D64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762000"/>
            <a:ext cx="5581650" cy="491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3E9F2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34d404e9104142"/>
          <a:stretch xmlns:a="http://schemas.openxmlformats.org/drawingml/2006/main"/>
        </p:blipFill>
        <p:spPr>
          <a:xfrm xmlns:a="http://schemas.openxmlformats.org/drawingml/2006/main">
            <a:off x="6019800" y="1511300"/>
            <a:ext cx="5124450" cy="3416300"/>
          </a:xfrm>
          <a:prstGeom xmlns:a="http://schemas.openxmlformats.org/drawingml/2006/main" prst="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6D9763-2D68-4A6F-9C64-D93364DC3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5867400"/>
            <a:ext cx="5581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DAF6E45-5688-4B39-8715-F6171D30B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0007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F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0">
                <a:solidFill>
                  <a:srgbClr val="5F6673"/>
                </a:solidFill>
                <a:latin typeface="Microsoft YaHei"/>
                <a:ea typeface="Microsoft YaHei"/>
                <a:cs typeface="Microsoft YaHei"/>
              </a:rPr>
              <a:t>视觉素材来源：GPT image 2 概念图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4D26234-B834-4730-93D9-B0E6CE192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666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5F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5F6673"/>
                </a:solidFill>
                <a:latin typeface="Microsoft YaHei"/>
                <a:ea typeface="Microsoft YaHei"/>
                <a:cs typeface="Microsoft YaHei"/>
              </a:rPr>
              <a:t>Gamma 负责审美骨架；最终图片版心由固定合成层控制。</a:t>
            </a:r>
          </a:p>
        </p:txBody>
      </p:sp>
    </p:spTree>
    <p:extLst>
      <p:ext uri="{BB962C8B-B14F-4D97-AF65-F5344CB8AC3E}">
        <p14:creationId xmlns:p14="http://schemas.microsoft.com/office/powerpoint/2010/main" val="73075019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213FF48-5E7C-46F4-A6BE-B42990E8F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B688BA-73A9-4AFF-A2F1-A448E9656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1F5F8B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1F5F8B"/>
                </a:solidFill>
                <a:latin typeface="Aptos"/>
                <a:ea typeface="Aptos"/>
                <a:cs typeface="Aptos"/>
              </a:rPr>
              <a:t>GAMMA-SUPERVISED FIXED LAYOUT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5FFF57-7ECD-4F07-A69B-E42577C32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F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39E22D-D163-4B3B-BB9D-014326A95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04800"/>
            <a:ext cx="609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673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5F6673"/>
                </a:solidFill>
                <a:latin typeface="Cascadia Mono"/>
                <a:ea typeface="Cascadia Mono"/>
                <a:cs typeface="Cascadia Mono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B6D10E-818E-48BF-991D-8835F69E7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381750"/>
            <a:ext cx="1847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0">
                <a:solidFill>
                  <a:srgbClr val="5F6673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5F6673"/>
                </a:solidFill>
                <a:latin typeface="Aptos"/>
                <a:ea typeface="Aptos"/>
                <a:cs typeface="Aptos"/>
              </a:rPr>
              <a:t>GPT IMAGE 2 VISUAL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0A95DD-E02F-4220-ADC2-B2DCCE323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5029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主证据从问卷/Kaggle 升级为官方数据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316278-A53B-449C-96B2-333E51518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57350"/>
            <a:ext cx="4629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5F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5F6673"/>
                </a:solidFill>
                <a:latin typeface="Microsoft YaHei"/>
                <a:ea typeface="Microsoft YaHei"/>
                <a:cs typeface="Microsoft YaHei"/>
              </a:rPr>
              <a:t>研究主证据采用 Eurostat 官方企业 ICT 数据，问卷和访谈只作为辅助说明。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44E17C-7BC5-4AD7-829D-27C39B716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47950"/>
            <a:ext cx="45148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C9DEF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5CE3DE-0AE2-4157-AA38-FED6D99E1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19400"/>
            <a:ext cx="104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F5F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F5F8B"/>
                </a:solidFill>
                <a:latin typeface="Microsoft YaHei"/>
                <a:ea typeface="Microsoft YaHei"/>
                <a:cs typeface="Microsoft YaHei"/>
              </a:rPr>
              <a:t>证据对象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2446A0-4082-4350-A194-99478479A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905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Eurostat source manifests, SHA256 records, data/raw and data/processed.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B17FAF-7C3D-4A29-BDD9-B0E59BE2E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71900"/>
            <a:ext cx="45148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F"/>
          </a:solidFill>
          <a:ln xmlns:a="http://schemas.openxmlformats.org/drawingml/2006/main" w="9525">
            <a:solidFill>
              <a:srgbClr val="EFD2A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3607C7-A3ED-4984-A289-923C4E75B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43350"/>
            <a:ext cx="104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36B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36B2C"/>
                </a:solidFill>
                <a:latin typeface="Microsoft YaHei"/>
                <a:ea typeface="Microsoft YaHei"/>
                <a:cs typeface="Microsoft YaHei"/>
              </a:rPr>
              <a:t>边界说明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25A940-A071-4020-8F53-4C026142D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91000"/>
            <a:ext cx="3905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不得把问卷星聚合统计写成逐样本原始数据库。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DFA624-FABB-4623-BC7F-F9FBC0936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0"/>
            <a:ext cx="400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FEEF41-D741-4D86-A69D-9DF5C4F5E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762000"/>
            <a:ext cx="5581650" cy="491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3E9F2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8304b96fe34d1d"/>
          <a:stretch xmlns:a="http://schemas.openxmlformats.org/drawingml/2006/main"/>
        </p:blipFill>
        <p:spPr>
          <a:xfrm xmlns:a="http://schemas.openxmlformats.org/drawingml/2006/main">
            <a:off x="6019800" y="1511300"/>
            <a:ext cx="5124450" cy="341630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E7047B-2500-4B55-A5AB-059611F48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5867400"/>
            <a:ext cx="5581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FE2550-3B0B-4420-A637-BDEB07950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0007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F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0">
                <a:solidFill>
                  <a:srgbClr val="5F6673"/>
                </a:solidFill>
                <a:latin typeface="Microsoft YaHei"/>
                <a:ea typeface="Microsoft YaHei"/>
                <a:cs typeface="Microsoft YaHei"/>
              </a:rPr>
              <a:t>视觉素材来源：GPT image 2 概念图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DBCB14-C980-4319-8E4F-E66D65E4F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666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5F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5F6673"/>
                </a:solidFill>
                <a:latin typeface="Microsoft YaHei"/>
                <a:ea typeface="Microsoft YaHei"/>
                <a:cs typeface="Microsoft YaHei"/>
              </a:rPr>
              <a:t>Gamma 负责审美骨架；最终图片版心由固定合成层控制。</a:t>
            </a:r>
          </a:p>
        </p:txBody>
      </p:sp>
    </p:spTree>
    <p:extLst>
      <p:ext uri="{BB962C8B-B14F-4D97-AF65-F5344CB8AC3E}">
        <p14:creationId xmlns:p14="http://schemas.microsoft.com/office/powerpoint/2010/main" val="13453033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45B24C7-E20A-4031-BEE7-8E88BAC05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C13A64-3C7D-48FD-B782-067751517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1F5F8B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1F5F8B"/>
                </a:solidFill>
                <a:latin typeface="Aptos"/>
                <a:ea typeface="Aptos"/>
                <a:cs typeface="Aptos"/>
              </a:rPr>
              <a:t>GAMMA-SUPERVISED FIXED LAYOUT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9D656A-65F7-4F7A-964C-4F772FD17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F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514AA4-0AD3-4B0F-B088-722236EA2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04800"/>
            <a:ext cx="609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673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5F6673"/>
                </a:solidFill>
                <a:latin typeface="Cascadia Mono"/>
                <a:ea typeface="Cascadia Mono"/>
                <a:cs typeface="Cascadia Mono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7B29BD-E5D5-49CC-8F1E-5481214CC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381750"/>
            <a:ext cx="1847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0">
                <a:solidFill>
                  <a:srgbClr val="5F6673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5F6673"/>
                </a:solidFill>
                <a:latin typeface="Aptos"/>
                <a:ea typeface="Aptos"/>
                <a:cs typeface="Aptos"/>
              </a:rPr>
              <a:t>GPT IMAGE 2 VISUAL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60711D-BACD-4AB0-B94F-BF98EBC1B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5029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数据生命周期每一步都有仓库证据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7A8580-B3DE-49A8-B9AB-57303915A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57350"/>
            <a:ext cx="4629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5F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5F6673"/>
                </a:solidFill>
                <a:latin typeface="Microsoft YaHei"/>
                <a:ea typeface="Microsoft YaHei"/>
                <a:cs typeface="Microsoft YaHei"/>
              </a:rPr>
              <a:t>从源数据、清洗、建模到展示，每一步都能在仓库中追踪。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48DDF5-5756-47CC-8C74-63407795B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47950"/>
            <a:ext cx="45148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C9DEF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413675-2D02-4DC2-B9CF-14BB92115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19400"/>
            <a:ext cx="104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F5F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F5F8B"/>
                </a:solidFill>
                <a:latin typeface="Microsoft YaHei"/>
                <a:ea typeface="Microsoft YaHei"/>
                <a:cs typeface="Microsoft YaHei"/>
              </a:rPr>
              <a:t>证据对象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626225-6920-4928-ACA7-5CF5FB6CD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905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data/raw/manifest*.jsonl, data/processed/*.csv, src/, outputs/.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87D17E-7E7C-4D63-9694-E65BE221A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71900"/>
            <a:ext cx="45148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F"/>
          </a:solidFill>
          <a:ln xmlns:a="http://schemas.openxmlformats.org/drawingml/2006/main" w="9525">
            <a:solidFill>
              <a:srgbClr val="EFD2A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09F89E-83A1-45B0-B545-F2135FD7B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43350"/>
            <a:ext cx="104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36B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36B2C"/>
                </a:solidFill>
                <a:latin typeface="Microsoft YaHei"/>
                <a:ea typeface="Microsoft YaHei"/>
                <a:cs typeface="Microsoft YaHei"/>
              </a:rPr>
              <a:t>边界说明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6C2140-7D22-441C-A724-E4855D245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91000"/>
            <a:ext cx="3905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展示只讲公开复现材料，不暴露私密论文包。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CE2C5A-8639-4D7D-8935-DA9893F6C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0"/>
            <a:ext cx="400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1997F1-AD35-4E35-8B3C-A62778E39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762000"/>
            <a:ext cx="5581650" cy="491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3E9F2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61a2f65be44af5"/>
          <a:stretch xmlns:a="http://schemas.openxmlformats.org/drawingml/2006/main"/>
        </p:blipFill>
        <p:spPr>
          <a:xfrm xmlns:a="http://schemas.openxmlformats.org/drawingml/2006/main">
            <a:off x="6019800" y="1511300"/>
            <a:ext cx="5124450" cy="341630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2729BE-CAB7-409B-910D-F506AAC0B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5867400"/>
            <a:ext cx="5581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76B051-ED6D-4E94-B778-862E5D682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0007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F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0">
                <a:solidFill>
                  <a:srgbClr val="5F6673"/>
                </a:solidFill>
                <a:latin typeface="Microsoft YaHei"/>
                <a:ea typeface="Microsoft YaHei"/>
                <a:cs typeface="Microsoft YaHei"/>
              </a:rPr>
              <a:t>视觉素材来源：GPT image 2 概念图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6E655D-E372-4E74-8360-2396BAC73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666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5F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5F6673"/>
                </a:solidFill>
                <a:latin typeface="Microsoft YaHei"/>
                <a:ea typeface="Microsoft YaHei"/>
                <a:cs typeface="Microsoft YaHei"/>
              </a:rPr>
              <a:t>Gamma 负责审美骨架；最终图片版心由固定合成层控制。</a:t>
            </a:r>
          </a:p>
        </p:txBody>
      </p:sp>
    </p:spTree>
    <p:extLst>
      <p:ext uri="{BB962C8B-B14F-4D97-AF65-F5344CB8AC3E}">
        <p14:creationId xmlns:p14="http://schemas.microsoft.com/office/powerpoint/2010/main" val="47250982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E900FBD-F85D-4700-AE11-50BF6B5D5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AF1BC5-F2D1-4850-AD92-8BBA151AB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1F5F8B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1F5F8B"/>
                </a:solidFill>
                <a:latin typeface="Aptos"/>
                <a:ea typeface="Aptos"/>
                <a:cs typeface="Aptos"/>
              </a:rPr>
              <a:t>GAMMA-SUPERVISED FIXED LAYOUT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CD57D7-D069-483C-9889-4C925F4D5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F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E98B3A-DDBB-45CE-9F47-53772EC70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04800"/>
            <a:ext cx="609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673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5F6673"/>
                </a:solidFill>
                <a:latin typeface="Cascadia Mono"/>
                <a:ea typeface="Cascadia Mono"/>
                <a:cs typeface="Cascadia Mono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F0825E-1FBB-4A13-9A95-81E6EB476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381750"/>
            <a:ext cx="1847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0">
                <a:solidFill>
                  <a:srgbClr val="5F6673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5F6673"/>
                </a:solidFill>
                <a:latin typeface="Aptos"/>
                <a:ea typeface="Aptos"/>
                <a:cs typeface="Aptos"/>
              </a:rPr>
              <a:t>GPT IMAGE 2 VISUAL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31655A-88C3-44EF-BF27-9FC86664E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5029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Stage 1 解释 SME 机制，Stage 2 验证行业/区域泛化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F2400C-29C5-4969-AD54-672DEEFEE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57350"/>
            <a:ext cx="4629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5F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5F6673"/>
                </a:solidFill>
                <a:latin typeface="Microsoft YaHei"/>
                <a:ea typeface="Microsoft YaHei"/>
                <a:cs typeface="Microsoft YaHei"/>
              </a:rPr>
              <a:t>两阶段数据承担不同角色，不能把 Stage 2 写成 SME-only。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AFC1F6-1AE2-4D15-8DAC-6223DC96E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47950"/>
            <a:ext cx="45148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C9DEF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AF7C03-82EE-48B7-BA58-FF0419844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19400"/>
            <a:ext cx="104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F5F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F5F8B"/>
                </a:solidFill>
                <a:latin typeface="Microsoft YaHei"/>
                <a:ea typeface="Microsoft YaHei"/>
                <a:cs typeface="Microsoft YaHei"/>
              </a:rPr>
              <a:t>证据对象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99B63C-97A7-4F6B-9C42-00E2A6087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905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Stage 1: 553 / 544 / 36; Stage 2: 5,814 / 36 / 50; years 2021, 2023-2025.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B10EAA-E5AC-4241-B0E2-5D434F5F9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71900"/>
            <a:ext cx="45148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F"/>
          </a:solidFill>
          <a:ln xmlns:a="http://schemas.openxmlformats.org/drawingml/2006/main" w="9525">
            <a:solidFill>
              <a:srgbClr val="EFD2A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94CF73-31AC-430F-96EE-3C1046B89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43350"/>
            <a:ext cx="104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36B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36B2C"/>
                </a:solidFill>
                <a:latin typeface="Microsoft YaHei"/>
                <a:ea typeface="Microsoft YaHei"/>
                <a:cs typeface="Microsoft YaHei"/>
              </a:rPr>
              <a:t>边界说明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E10716-3D98-4CAC-9B75-43F46B84D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91000"/>
            <a:ext cx="3905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Stage 2 是行业/区域外部验证层，不是中小企业专属样本。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EB9A6E-5A4B-4558-9641-BFA59C317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24450"/>
            <a:ext cx="1200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F5F8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1F5F8B"/>
                </a:solidFill>
                <a:latin typeface="Cascadia Mono"/>
                <a:ea typeface="Cascadia Mono"/>
                <a:cs typeface="Cascadia Mono"/>
              </a:rPr>
              <a:t>553/544/36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BD535E-9DF5-4D8A-97F5-760E5977E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67350"/>
            <a:ext cx="1200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65" b="0">
                <a:solidFill>
                  <a:srgbClr val="5F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65" b="0">
                <a:solidFill>
                  <a:srgbClr val="5F6673"/>
                </a:solidFill>
                <a:latin typeface="Microsoft YaHei"/>
                <a:ea typeface="Microsoft YaHei"/>
                <a:cs typeface="Microsoft YaHei"/>
              </a:rPr>
              <a:t>Stage 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D15548-54D3-4FDD-A297-7695A4ACB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124450"/>
            <a:ext cx="1200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F5F8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1F5F8B"/>
                </a:solidFill>
                <a:latin typeface="Cascadia Mono"/>
                <a:ea typeface="Cascadia Mono"/>
                <a:cs typeface="Cascadia Mono"/>
              </a:rPr>
              <a:t>5,814/36/50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35EA6A-EBFD-46C9-B798-DD9A9B0D0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467350"/>
            <a:ext cx="1200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65" b="0">
                <a:solidFill>
                  <a:srgbClr val="5F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65" b="0">
                <a:solidFill>
                  <a:srgbClr val="5F6673"/>
                </a:solidFill>
                <a:latin typeface="Microsoft YaHei"/>
                <a:ea typeface="Microsoft YaHei"/>
                <a:cs typeface="Microsoft YaHei"/>
              </a:rPr>
              <a:t>Stage 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27DCB2-4054-4822-8D4B-1BD703087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124450"/>
            <a:ext cx="1200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F5F8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1F5F8B"/>
                </a:solidFill>
                <a:latin typeface="Cascadia Mono"/>
                <a:ea typeface="Cascadia Mono"/>
                <a:cs typeface="Cascadia Mono"/>
              </a:rPr>
              <a:t>2021, 2023-2025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054A91-899C-4D0D-827E-2F3ABC5FB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467350"/>
            <a:ext cx="1200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65" b="0">
                <a:solidFill>
                  <a:srgbClr val="5F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65" b="0">
                <a:solidFill>
                  <a:srgbClr val="5F6673"/>
                </a:solidFill>
                <a:latin typeface="Microsoft YaHei"/>
                <a:ea typeface="Microsoft YaHei"/>
                <a:cs typeface="Microsoft YaHei"/>
              </a:rPr>
              <a:t>年份范围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42418B-FA78-4766-A491-221CF8712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762000"/>
            <a:ext cx="5581650" cy="491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3E9F2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85945da15244c6"/>
          <a:stretch xmlns:a="http://schemas.openxmlformats.org/drawingml/2006/main"/>
        </p:blipFill>
        <p:spPr>
          <a:xfrm xmlns:a="http://schemas.openxmlformats.org/drawingml/2006/main">
            <a:off x="6019800" y="1511300"/>
            <a:ext cx="5124450" cy="3416300"/>
          </a:xfrm>
          <a:prstGeom xmlns:a="http://schemas.openxmlformats.org/drawingml/2006/main" prst="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B28709-370F-4732-8CFD-4DB86A1C5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5867400"/>
            <a:ext cx="5581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DD0062E-6C97-42EA-AB66-7F488DFC0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0007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F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0">
                <a:solidFill>
                  <a:srgbClr val="5F6673"/>
                </a:solidFill>
                <a:latin typeface="Microsoft YaHei"/>
                <a:ea typeface="Microsoft YaHei"/>
                <a:cs typeface="Microsoft YaHei"/>
              </a:rPr>
              <a:t>视觉素材来源：GPT image 2 概念图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C301EA-21F9-42E2-98EE-BDA334E5F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666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5F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5F6673"/>
                </a:solidFill>
                <a:latin typeface="Microsoft YaHei"/>
                <a:ea typeface="Microsoft YaHei"/>
                <a:cs typeface="Microsoft YaHei"/>
              </a:rPr>
              <a:t>Gamma 负责审美骨架；最终图片版心由固定合成层控制。</a:t>
            </a:r>
          </a:p>
        </p:txBody>
      </p:sp>
    </p:spTree>
    <p:extLst>
      <p:ext uri="{BB962C8B-B14F-4D97-AF65-F5344CB8AC3E}">
        <p14:creationId xmlns:p14="http://schemas.microsoft.com/office/powerpoint/2010/main" val="157141006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333B8A4-4460-40F3-8A04-570887814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B33173-88C7-4274-95ED-DB096AB00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1F5F8B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1F5F8B"/>
                </a:solidFill>
                <a:latin typeface="Aptos"/>
                <a:ea typeface="Aptos"/>
                <a:cs typeface="Aptos"/>
              </a:rPr>
              <a:t>GAMMA-SUPERVISED FIXED LAYOUT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6C28A6-69E6-4AE9-8AE9-107512244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F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C16F95-8657-4A05-9C87-19A3F329E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04800"/>
            <a:ext cx="609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673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5F6673"/>
                </a:solidFill>
                <a:latin typeface="Cascadia Mono"/>
                <a:ea typeface="Cascadia Mono"/>
                <a:cs typeface="Cascadia Mono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EB3E8C-C0E5-42A1-94FC-102C9A507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381750"/>
            <a:ext cx="1847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0">
                <a:solidFill>
                  <a:srgbClr val="5F6673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5F6673"/>
                </a:solidFill>
                <a:latin typeface="Aptos"/>
                <a:ea typeface="Aptos"/>
                <a:cs typeface="Aptos"/>
              </a:rPr>
              <a:t>DATA-DRIVEN FIGURE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F00A1F-3A50-4486-BC9F-3F62BC775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5029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1277 万源数据行不是直接训练样本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6B4100-E829-4785-92E2-58B02F662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57350"/>
            <a:ext cx="4629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5F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5F6673"/>
                </a:solidFill>
                <a:latin typeface="Microsoft YaHei"/>
                <a:ea typeface="Microsoft YaHei"/>
                <a:cs typeface="Microsoft YaHei"/>
              </a:rPr>
              <a:t>千万级官方数据经扫描、筛选和面板聚合后进入建模。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55E0CC-0C63-4907-B51A-296F903C0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47950"/>
            <a:ext cx="45148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C9DEF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775AB4-FC7F-461B-9D42-5B7612095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19400"/>
            <a:ext cx="104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F5F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F5F8B"/>
                </a:solidFill>
                <a:latin typeface="Microsoft YaHei"/>
                <a:ea typeface="Microsoft YaHei"/>
                <a:cs typeface="Microsoft YaHei"/>
              </a:rPr>
              <a:t>证据对象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B50F82-32A6-4533-9DCF-EC404961B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905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12,770,332 raw rows -&gt; 12,341,630 scanned rows -&gt; 856,880 feature-filtered rows -&gt; 5,814 modeling rows.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7F61B8-DD76-490F-897A-6F2F46E86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71900"/>
            <a:ext cx="45148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F"/>
          </a:solidFill>
          <a:ln xmlns:a="http://schemas.openxmlformats.org/drawingml/2006/main" w="9525">
            <a:solidFill>
              <a:srgbClr val="EFD2A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DFB78A-4F3B-4B3D-8E80-A020C2317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43350"/>
            <a:ext cx="104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36B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36B2C"/>
                </a:solidFill>
                <a:latin typeface="Microsoft YaHei"/>
                <a:ea typeface="Microsoft YaHei"/>
                <a:cs typeface="Microsoft YaHei"/>
              </a:rPr>
              <a:t>边界说明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8C019A-77DC-4181-970C-CCDA9B1BC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91000"/>
            <a:ext cx="3905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禁止写成千万样本直接训练。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41A4A2-B012-4168-A470-5AAC7B4D9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24450"/>
            <a:ext cx="1200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F5F8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1F5F8B"/>
                </a:solidFill>
                <a:latin typeface="Cascadia Mono"/>
                <a:ea typeface="Cascadia Mono"/>
                <a:cs typeface="Cascadia Mono"/>
              </a:rPr>
              <a:t>12,770,332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A259A2-92E3-403A-8454-6BD26C660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67350"/>
            <a:ext cx="1200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65" b="0">
                <a:solidFill>
                  <a:srgbClr val="5F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65" b="0">
                <a:solidFill>
                  <a:srgbClr val="5F6673"/>
                </a:solidFill>
                <a:latin typeface="Microsoft YaHei"/>
                <a:ea typeface="Microsoft YaHei"/>
                <a:cs typeface="Microsoft YaHei"/>
              </a:rPr>
              <a:t>源数据行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D999BB-BAF8-4F5D-BF34-332E15857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124450"/>
            <a:ext cx="1200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5F8B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1">
                <a:solidFill>
                  <a:srgbClr val="1F5F8B"/>
                </a:solidFill>
                <a:latin typeface="Cascadia Mono"/>
                <a:ea typeface="Cascadia Mono"/>
                <a:cs typeface="Cascadia Mono"/>
              </a:rPr>
              <a:t>856,880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451E99-0CF0-414B-A9B8-8A06D0E03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467350"/>
            <a:ext cx="1200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65" b="0">
                <a:solidFill>
                  <a:srgbClr val="5F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65" b="0">
                <a:solidFill>
                  <a:srgbClr val="5F6673"/>
                </a:solidFill>
                <a:latin typeface="Microsoft YaHei"/>
                <a:ea typeface="Microsoft YaHei"/>
                <a:cs typeface="Microsoft YaHei"/>
              </a:rPr>
              <a:t>候选特征行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906B8F-F8A8-4FDA-8E6B-DB15CEAAB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124450"/>
            <a:ext cx="1200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5F8B"/>
                </a:solidFill>
                <a:latin typeface="Cascadia Mono"/>
                <a:ea typeface="Cascadia Mono"/>
                <a:cs typeface="Cascadia Mono"/>
              </a:defRPr>
            </a:pPr>
            <a:r>
              <a:rPr sz="1500" b="1">
                <a:solidFill>
                  <a:srgbClr val="1F5F8B"/>
                </a:solidFill>
                <a:latin typeface="Cascadia Mono"/>
                <a:ea typeface="Cascadia Mono"/>
                <a:cs typeface="Cascadia Mono"/>
              </a:rPr>
              <a:t>5,814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E3EBC6-25D2-4DBC-9248-2456917A8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467350"/>
            <a:ext cx="1200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65" b="0">
                <a:solidFill>
                  <a:srgbClr val="5F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65" b="0">
                <a:solidFill>
                  <a:srgbClr val="5F6673"/>
                </a:solidFill>
                <a:latin typeface="Microsoft YaHei"/>
                <a:ea typeface="Microsoft YaHei"/>
                <a:cs typeface="Microsoft YaHei"/>
              </a:rPr>
              <a:t>建模面板行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493A62-2F07-40B5-ABA1-7E4A964AA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762000"/>
            <a:ext cx="5581650" cy="491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3E9F2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08743710054367"/>
          <a:stretch xmlns:a="http://schemas.openxmlformats.org/drawingml/2006/main"/>
        </p:blipFill>
        <p:spPr>
          <a:xfrm xmlns:a="http://schemas.openxmlformats.org/drawingml/2006/main">
            <a:off x="6019800" y="2026550"/>
            <a:ext cx="5124450" cy="2385801"/>
          </a:xfrm>
          <a:prstGeom xmlns:a="http://schemas.openxmlformats.org/drawingml/2006/main" prst="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50CC1E8-FEC3-4C1B-B51E-DC95DDF12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5867400"/>
            <a:ext cx="5581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817001-620D-4B22-9DD1-10B418F2D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0007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F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0">
                <a:solidFill>
                  <a:srgbClr val="5F6673"/>
                </a:solidFill>
                <a:latin typeface="Microsoft YaHei"/>
                <a:ea typeface="Microsoft YaHei"/>
                <a:cs typeface="Microsoft YaHei"/>
              </a:rPr>
              <a:t>视觉素材来源：真实数据图表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7B53F6-F8EC-4E5A-9E45-BBCB53197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666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5F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5F6673"/>
                </a:solidFill>
                <a:latin typeface="Microsoft YaHei"/>
                <a:ea typeface="Microsoft YaHei"/>
                <a:cs typeface="Microsoft YaHei"/>
              </a:rPr>
              <a:t>Gamma 负责审美骨架；最终图片版心由固定合成层控制。</a:t>
            </a:r>
          </a:p>
        </p:txBody>
      </p:sp>
    </p:spTree>
    <p:extLst>
      <p:ext uri="{BB962C8B-B14F-4D97-AF65-F5344CB8AC3E}">
        <p14:creationId xmlns:p14="http://schemas.microsoft.com/office/powerpoint/2010/main" val="175893665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6E62362-495C-4969-A16A-64A5C8DC4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B15CEA-79BD-4CC1-A27B-342302DAF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1F5F8B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1F5F8B"/>
                </a:solidFill>
                <a:latin typeface="Aptos"/>
                <a:ea typeface="Aptos"/>
                <a:cs typeface="Aptos"/>
              </a:rPr>
              <a:t>GAMMA-SUPERVISED FIXED LAYOUT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D08313-0D4B-46C3-AF2C-BE5C97DC8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F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062B75-32F6-4329-80BD-C855AD006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04800"/>
            <a:ext cx="609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673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5F6673"/>
                </a:solidFill>
                <a:latin typeface="Cascadia Mono"/>
                <a:ea typeface="Cascadia Mono"/>
                <a:cs typeface="Cascadia Mono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76B838-E827-4926-8C8F-403A5A9FF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381750"/>
            <a:ext cx="1847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0">
                <a:solidFill>
                  <a:srgbClr val="5F6673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5F6673"/>
                </a:solidFill>
                <a:latin typeface="Aptos"/>
                <a:ea typeface="Aptos"/>
                <a:cs typeface="Aptos"/>
              </a:rPr>
              <a:t>GPT IMAGE 2 VISUAL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349B9D-A55C-461F-987B-141085DE6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5029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监督学习任务围绕官方 AI 工作流指标展开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8C6A05-97EF-41BB-8850-9C7CA337F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57350"/>
            <a:ext cx="4629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5F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5F6673"/>
                </a:solidFill>
                <a:latin typeface="Microsoft YaHei"/>
                <a:ea typeface="Microsoft YaHei"/>
                <a:cs typeface="Microsoft YaHei"/>
              </a:rPr>
              <a:t>模型任务围绕官方 AI 工作流/流程自动化指标，而不是训练大语言模型。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337ADA-CCDD-4C88-9C23-CA97126FE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47950"/>
            <a:ext cx="45148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C9DEF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82AEAB-1E73-4605-ADFA-52284E017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19400"/>
            <a:ext cx="104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F5F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F5F8B"/>
                </a:solidFill>
                <a:latin typeface="Microsoft YaHei"/>
                <a:ea typeface="Microsoft YaHei"/>
                <a:cs typeface="Microsoft YaHei"/>
              </a:rPr>
              <a:t>证据对象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FB48EA-11F6-416D-ACD8-F888C712E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905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target_workflow_automation; Ridge and ExtraTrees; leakage-controlled features.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9A2048-2E9B-462D-8EA2-67CF1619F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71900"/>
            <a:ext cx="45148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F"/>
          </a:solidFill>
          <a:ln xmlns:a="http://schemas.openxmlformats.org/drawingml/2006/main" w="9525">
            <a:solidFill>
              <a:srgbClr val="EFD2A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2C28FA-4E67-4B27-A09A-C76B449D3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43350"/>
            <a:ext cx="104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36B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36B2C"/>
                </a:solidFill>
                <a:latin typeface="Microsoft YaHei"/>
                <a:ea typeface="Microsoft YaHei"/>
                <a:cs typeface="Microsoft YaHei"/>
              </a:rPr>
              <a:t>边界说明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D4DCA0-96F6-4CF2-BB75-301582BFD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91000"/>
            <a:ext cx="3905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LLM/Agent 负责组织回答，表格模型负责可复现预测和解释。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A9F368-9127-4EA9-871A-A6CE2EE3E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0"/>
            <a:ext cx="400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8D78C8-D5C4-4761-9989-A8816610F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762000"/>
            <a:ext cx="5581650" cy="491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3E9F2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faa9b3c44e400b"/>
          <a:stretch xmlns:a="http://schemas.openxmlformats.org/drawingml/2006/main"/>
        </p:blipFill>
        <p:spPr>
          <a:xfrm xmlns:a="http://schemas.openxmlformats.org/drawingml/2006/main">
            <a:off x="6019800" y="1511300"/>
            <a:ext cx="5124450" cy="341630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A7D069-AA6E-49B6-BABD-905C4AE6B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5867400"/>
            <a:ext cx="5581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3099BF-6FA7-4A16-8CF3-5E9ABD079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0007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F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0">
                <a:solidFill>
                  <a:srgbClr val="5F6673"/>
                </a:solidFill>
                <a:latin typeface="Microsoft YaHei"/>
                <a:ea typeface="Microsoft YaHei"/>
                <a:cs typeface="Microsoft YaHei"/>
              </a:rPr>
              <a:t>视觉素材来源：GPT image 2 概念图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3D167A-73B7-485D-BB01-F1539FECF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666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5F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5F6673"/>
                </a:solidFill>
                <a:latin typeface="Microsoft YaHei"/>
                <a:ea typeface="Microsoft YaHei"/>
                <a:cs typeface="Microsoft YaHei"/>
              </a:rPr>
              <a:t>Gamma 负责审美骨架；最终图片版心由固定合成层控制。</a:t>
            </a:r>
          </a:p>
        </p:txBody>
      </p:sp>
    </p:spTree>
    <p:extLst>
      <p:ext uri="{BB962C8B-B14F-4D97-AF65-F5344CB8AC3E}">
        <p14:creationId xmlns:p14="http://schemas.microsoft.com/office/powerpoint/2010/main" val="100583708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9195236-5B3D-429A-B170-9622B1465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11CBE7-D653-4D3C-8DD1-00524A119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1F5F8B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1F5F8B"/>
                </a:solidFill>
                <a:latin typeface="Aptos"/>
                <a:ea typeface="Aptos"/>
                <a:cs typeface="Aptos"/>
              </a:rPr>
              <a:t>GAMMA-SUPERVISED FIXED LAYOUT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2FA447-3F8D-445A-A628-7233A485E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F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6056AC-111B-4C29-A132-AF5B552A0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04800"/>
            <a:ext cx="609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673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5F6673"/>
                </a:solidFill>
                <a:latin typeface="Cascadia Mono"/>
                <a:ea typeface="Cascadia Mono"/>
                <a:cs typeface="Cascadia Mono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5E1F5C-E346-4D23-9E7F-6ED6CF663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381750"/>
            <a:ext cx="1847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0">
                <a:solidFill>
                  <a:srgbClr val="5F6673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5F6673"/>
                </a:solidFill>
                <a:latin typeface="Aptos"/>
                <a:ea typeface="Aptos"/>
                <a:cs typeface="Aptos"/>
              </a:rPr>
              <a:t>DATA-DRIVEN FIGURE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D038D7-EF19-4006-89B7-5FB8753DE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5029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GroupKFold 按国家分组降低泄漏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9D8248-25F5-4503-89D2-1B20C33AA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57350"/>
            <a:ext cx="4629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5F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5F6673"/>
                </a:solidFill>
                <a:latin typeface="Microsoft YaHei"/>
                <a:ea typeface="Microsoft YaHei"/>
                <a:cs typeface="Microsoft YaHei"/>
              </a:rPr>
              <a:t>用国家分组验证降低同一国家信息在训练和测试间泄漏的风险。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4C189D-5652-49DB-BBC9-C631A5D70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47950"/>
            <a:ext cx="45148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C9DEF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A35642-DD6B-40D5-AAB9-CA6085ECC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19400"/>
            <a:ext cx="104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F5F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F5F8B"/>
                </a:solidFill>
                <a:latin typeface="Microsoft YaHei"/>
                <a:ea typeface="Microsoft YaHei"/>
                <a:cs typeface="Microsoft YaHei"/>
              </a:rPr>
              <a:t>证据对象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227BCA-B037-4FC6-968F-6C7DDBF54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905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Stage 1 R2=0.8680; Stage 2 R2=0.7245; time holdout as boundary check.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7475B8-6689-4D30-8653-A719BB8C7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71900"/>
            <a:ext cx="45148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F"/>
          </a:solidFill>
          <a:ln xmlns:a="http://schemas.openxmlformats.org/drawingml/2006/main" w="9525">
            <a:solidFill>
              <a:srgbClr val="EFD2A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349275-22FD-4C5A-8B8B-ECAA852DB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43350"/>
            <a:ext cx="104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36B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36B2C"/>
                </a:solidFill>
                <a:latin typeface="Microsoft YaHei"/>
                <a:ea typeface="Microsoft YaHei"/>
                <a:cs typeface="Microsoft YaHei"/>
              </a:rPr>
              <a:t>边界说明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90626C-22D6-4498-9A07-5752D373C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91000"/>
            <a:ext cx="3905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模型验证说明泛化能力，不证明因果关系。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91C36C-87B5-4C39-872B-09EA3ABA2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24450"/>
            <a:ext cx="1200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5F8B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1">
                <a:solidFill>
                  <a:srgbClr val="1F5F8B"/>
                </a:solidFill>
                <a:latin typeface="Cascadia Mono"/>
                <a:ea typeface="Cascadia Mono"/>
                <a:cs typeface="Cascadia Mono"/>
              </a:rPr>
              <a:t>0.8680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8DD6F2-BF6E-4639-91C3-8CC3D2649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67350"/>
            <a:ext cx="1200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65" b="0">
                <a:solidFill>
                  <a:srgbClr val="5F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65" b="0">
                <a:solidFill>
                  <a:srgbClr val="5F6673"/>
                </a:solidFill>
                <a:latin typeface="Microsoft YaHei"/>
                <a:ea typeface="Microsoft YaHei"/>
                <a:cs typeface="Microsoft YaHei"/>
              </a:rPr>
              <a:t>Stage 1 R²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674962-71DD-43B0-96C7-40747BBD9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124450"/>
            <a:ext cx="1200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5F8B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1">
                <a:solidFill>
                  <a:srgbClr val="1F5F8B"/>
                </a:solidFill>
                <a:latin typeface="Cascadia Mono"/>
                <a:ea typeface="Cascadia Mono"/>
                <a:cs typeface="Cascadia Mono"/>
              </a:rPr>
              <a:t>0.7245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0C7D77-137E-49BE-BC43-57D94E3D2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467350"/>
            <a:ext cx="1200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65" b="0">
                <a:solidFill>
                  <a:srgbClr val="5F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65" b="0">
                <a:solidFill>
                  <a:srgbClr val="5F6673"/>
                </a:solidFill>
                <a:latin typeface="Microsoft YaHei"/>
                <a:ea typeface="Microsoft YaHei"/>
                <a:cs typeface="Microsoft YaHei"/>
              </a:rPr>
              <a:t>Stage 2 R²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0BA255-1AE7-4F2B-A25E-D11C4AA44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124450"/>
            <a:ext cx="1200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F5F8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1F5F8B"/>
                </a:solidFill>
                <a:latin typeface="Cascadia Mono"/>
                <a:ea typeface="Cascadia Mono"/>
                <a:cs typeface="Cascadia Mono"/>
              </a:rPr>
              <a:t>GroupKFold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EAE8FD-3F7E-4345-B3E6-076A5B0DA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467350"/>
            <a:ext cx="1200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65" b="0">
                <a:solidFill>
                  <a:srgbClr val="5F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65" b="0">
                <a:solidFill>
                  <a:srgbClr val="5F6673"/>
                </a:solidFill>
                <a:latin typeface="Microsoft YaHei"/>
                <a:ea typeface="Microsoft YaHei"/>
                <a:cs typeface="Microsoft YaHei"/>
              </a:rPr>
              <a:t>主验证口径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D278EF-86DB-48CF-B876-E79D40B09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762000"/>
            <a:ext cx="5581650" cy="491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3E9F2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e9261066a44d50"/>
          <a:stretch xmlns:a="http://schemas.openxmlformats.org/drawingml/2006/main"/>
        </p:blipFill>
        <p:spPr>
          <a:xfrm xmlns:a="http://schemas.openxmlformats.org/drawingml/2006/main">
            <a:off x="6019800" y="1948210"/>
            <a:ext cx="5124450" cy="2542481"/>
          </a:xfrm>
          <a:prstGeom xmlns:a="http://schemas.openxmlformats.org/drawingml/2006/main" prst="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FC755C-3AD1-4E8D-A3A5-D79781B8F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5867400"/>
            <a:ext cx="5581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03B406-E40B-43AB-8CA2-2BF44BF5E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0007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F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0">
                <a:solidFill>
                  <a:srgbClr val="5F6673"/>
                </a:solidFill>
                <a:latin typeface="Microsoft YaHei"/>
                <a:ea typeface="Microsoft YaHei"/>
                <a:cs typeface="Microsoft YaHei"/>
              </a:rPr>
              <a:t>视觉素材来源：真实数据图表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35A4C23-FD86-43CF-898F-FE8A6EBD3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666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5F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5F6673"/>
                </a:solidFill>
                <a:latin typeface="Microsoft YaHei"/>
                <a:ea typeface="Microsoft YaHei"/>
                <a:cs typeface="Microsoft YaHei"/>
              </a:rPr>
              <a:t>Gamma 负责审美骨架；最终图片版心由固定合成层控制。</a:t>
            </a:r>
          </a:p>
        </p:txBody>
      </p:sp>
    </p:spTree>
    <p:extLst>
      <p:ext uri="{BB962C8B-B14F-4D97-AF65-F5344CB8AC3E}">
        <p14:creationId xmlns:p14="http://schemas.microsoft.com/office/powerpoint/2010/main" val="172025841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8D03F82-1CCE-4DC6-96C8-920514A9A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DB29AB-6ABB-4A35-9EF1-08697C584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1F5F8B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1F5F8B"/>
                </a:solidFill>
                <a:latin typeface="Aptos"/>
                <a:ea typeface="Aptos"/>
                <a:cs typeface="Aptos"/>
              </a:rPr>
              <a:t>GAMMA-SUPERVISED FIXED LAYOUT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35760D-F5F4-49EB-99B1-E663123CC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F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7249F1-D702-411F-8B9E-00919AF6D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04800"/>
            <a:ext cx="609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673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5F6673"/>
                </a:solidFill>
                <a:latin typeface="Cascadia Mono"/>
                <a:ea typeface="Cascadia Mono"/>
                <a:cs typeface="Cascadia Mono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8DD605-8C44-455C-AD14-81F0A8E0D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381750"/>
            <a:ext cx="1847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0">
                <a:solidFill>
                  <a:srgbClr val="5F6673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5F6673"/>
                </a:solidFill>
                <a:latin typeface="Aptos"/>
                <a:ea typeface="Aptos"/>
                <a:cs typeface="Aptos"/>
              </a:rPr>
              <a:t>DATA-DRIVEN FIGURE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BB7AE6-197C-4597-B6B6-123D65B6F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5029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Stage 1 Ridge 支撑 SME 机制解释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60A9AB-11C1-4838-903F-76CD75D78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57350"/>
            <a:ext cx="4629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5F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5F6673"/>
                </a:solidFill>
                <a:latin typeface="Microsoft YaHei"/>
                <a:ea typeface="Microsoft YaHei"/>
                <a:cs typeface="Microsoft YaHei"/>
              </a:rPr>
              <a:t>Stage 1 用 Ridge 给出更稳定、可解释的机制层结果。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B9E54D-4729-4FA1-B92F-11E15F2B8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47950"/>
            <a:ext cx="45148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C9DEF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3C3DFD-881D-416D-9312-00D6A40F6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19400"/>
            <a:ext cx="104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F5F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F5F8B"/>
                </a:solidFill>
                <a:latin typeface="Microsoft YaHei"/>
                <a:ea typeface="Microsoft YaHei"/>
                <a:cs typeface="Microsoft YaHei"/>
              </a:rPr>
              <a:t>证据对象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78814B-D36B-4FBD-BE69-7C620FC3E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905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553 panel rows, 544 modeling rows, 36 geo groups; R2=0.8680; MAE=1.8342.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2260A9-F569-401D-84C1-DD79BF843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71900"/>
            <a:ext cx="45148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F"/>
          </a:solidFill>
          <a:ln xmlns:a="http://schemas.openxmlformats.org/drawingml/2006/main" w="9525">
            <a:solidFill>
              <a:srgbClr val="EFD2A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2A3F03-790D-4D09-B1A3-9EEB54655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43350"/>
            <a:ext cx="104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36B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36B2C"/>
                </a:solidFill>
                <a:latin typeface="Microsoft YaHei"/>
                <a:ea typeface="Microsoft YaHei"/>
                <a:cs typeface="Microsoft YaHei"/>
              </a:rPr>
              <a:t>边界说明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625E20-BB7F-41CD-9243-1B11780E9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91000"/>
            <a:ext cx="3905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Stage 1 是 SME 机制解释层，不直接替代 Stage 2 外部验证。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DC29A0-1D94-412C-B7DB-7E842FC4E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24450"/>
            <a:ext cx="1200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5F8B"/>
                </a:solidFill>
                <a:latin typeface="Cascadia Mono"/>
                <a:ea typeface="Cascadia Mono"/>
                <a:cs typeface="Cascadia Mono"/>
              </a:defRPr>
            </a:pPr>
            <a:r>
              <a:rPr sz="1500" b="1">
                <a:solidFill>
                  <a:srgbClr val="1F5F8B"/>
                </a:solidFill>
                <a:latin typeface="Cascadia Mono"/>
                <a:ea typeface="Cascadia Mono"/>
                <a:cs typeface="Cascadia Mono"/>
              </a:rPr>
              <a:t>553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AA9D02-46AC-4843-A5D5-DF3F28CA3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67350"/>
            <a:ext cx="1200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65" b="0">
                <a:solidFill>
                  <a:srgbClr val="5F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65" b="0">
                <a:solidFill>
                  <a:srgbClr val="5F6673"/>
                </a:solidFill>
                <a:latin typeface="Microsoft YaHei"/>
                <a:ea typeface="Microsoft YaHei"/>
                <a:cs typeface="Microsoft YaHei"/>
              </a:rPr>
              <a:t>面板行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96F09B-9554-4239-992F-230005311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124450"/>
            <a:ext cx="1200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5F8B"/>
                </a:solidFill>
                <a:latin typeface="Cascadia Mono"/>
                <a:ea typeface="Cascadia Mono"/>
                <a:cs typeface="Cascadia Mono"/>
              </a:defRPr>
            </a:pPr>
            <a:r>
              <a:rPr sz="1500" b="1">
                <a:solidFill>
                  <a:srgbClr val="1F5F8B"/>
                </a:solidFill>
                <a:latin typeface="Cascadia Mono"/>
                <a:ea typeface="Cascadia Mono"/>
                <a:cs typeface="Cascadia Mono"/>
              </a:rPr>
              <a:t>544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24EB22-5B9C-48F3-8605-6E8910DD6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467350"/>
            <a:ext cx="1200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65" b="0">
                <a:solidFill>
                  <a:srgbClr val="5F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65" b="0">
                <a:solidFill>
                  <a:srgbClr val="5F6673"/>
                </a:solidFill>
                <a:latin typeface="Microsoft YaHei"/>
                <a:ea typeface="Microsoft YaHei"/>
                <a:cs typeface="Microsoft YaHei"/>
              </a:rPr>
              <a:t>可建模样本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AF8E43-6BE1-4A10-9BE4-43687EAB9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124450"/>
            <a:ext cx="1200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5F8B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1">
                <a:solidFill>
                  <a:srgbClr val="1F5F8B"/>
                </a:solidFill>
                <a:latin typeface="Cascadia Mono"/>
                <a:ea typeface="Cascadia Mono"/>
                <a:cs typeface="Cascadia Mono"/>
              </a:rPr>
              <a:t>1.8342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C9131F-4623-4CF4-9ECC-8BE07513B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467350"/>
            <a:ext cx="1200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65" b="0">
                <a:solidFill>
                  <a:srgbClr val="5F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65" b="0">
                <a:solidFill>
                  <a:srgbClr val="5F6673"/>
                </a:solidFill>
                <a:latin typeface="Microsoft YaHei"/>
                <a:ea typeface="Microsoft YaHei"/>
                <a:cs typeface="Microsoft YaHei"/>
              </a:rPr>
              <a:t>MAE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DD10A5-C97C-40A9-B221-8091E5E6D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762000"/>
            <a:ext cx="5581650" cy="491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3E9F2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e327569725499a"/>
          <a:stretch xmlns:a="http://schemas.openxmlformats.org/drawingml/2006/main"/>
        </p:blipFill>
        <p:spPr>
          <a:xfrm xmlns:a="http://schemas.openxmlformats.org/drawingml/2006/main">
            <a:off x="6019800" y="1948210"/>
            <a:ext cx="5124450" cy="2542481"/>
          </a:xfrm>
          <a:prstGeom xmlns:a="http://schemas.openxmlformats.org/drawingml/2006/main" prst="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631390-E5D4-4D4F-8CB3-D95EC90FA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5867400"/>
            <a:ext cx="5581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423DEA-B29A-4368-94EB-C0B523A79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0007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F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0">
                <a:solidFill>
                  <a:srgbClr val="5F6673"/>
                </a:solidFill>
                <a:latin typeface="Microsoft YaHei"/>
                <a:ea typeface="Microsoft YaHei"/>
                <a:cs typeface="Microsoft YaHei"/>
              </a:rPr>
              <a:t>视觉素材来源：真实数据图表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C278443-B098-45BE-AF6F-0485F58AA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666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5F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5F6673"/>
                </a:solidFill>
                <a:latin typeface="Microsoft YaHei"/>
                <a:ea typeface="Microsoft YaHei"/>
                <a:cs typeface="Microsoft YaHei"/>
              </a:rPr>
              <a:t>Gamma 负责审美骨架；最终图片版心由固定合成层控制。</a:t>
            </a:r>
          </a:p>
        </p:txBody>
      </p:sp>
    </p:spTree>
    <p:extLst>
      <p:ext uri="{BB962C8B-B14F-4D97-AF65-F5344CB8AC3E}">
        <p14:creationId xmlns:p14="http://schemas.microsoft.com/office/powerpoint/2010/main" val="190616456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6E5E84A-7A96-4222-A2AD-3BF79A840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B88128-9429-4AD9-AC86-55C37155F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1F5F8B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1F5F8B"/>
                </a:solidFill>
                <a:latin typeface="Aptos"/>
                <a:ea typeface="Aptos"/>
                <a:cs typeface="Aptos"/>
              </a:rPr>
              <a:t>GAMMA-SUPERVISED FIXED LAYOUT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948BDE-BE0E-4528-8E58-AD50282D9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F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10DAC2-B11F-440B-82B5-682984118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04800"/>
            <a:ext cx="609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673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5F6673"/>
                </a:solidFill>
                <a:latin typeface="Cascadia Mono"/>
                <a:ea typeface="Cascadia Mono"/>
                <a:cs typeface="Cascadia Mono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9FB1BA-C90C-49AD-8DD3-3443B2419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381750"/>
            <a:ext cx="1847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0">
                <a:solidFill>
                  <a:srgbClr val="5F6673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5F6673"/>
                </a:solidFill>
                <a:latin typeface="Aptos"/>
                <a:ea typeface="Aptos"/>
                <a:cs typeface="Aptos"/>
              </a:rPr>
              <a:t>DATA-DRIVEN FIGURE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359C84-ACFD-4117-842B-B99754E29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5029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Stage 2 ExtraTrees 支撑行业/区域外部验证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F9F829-6583-470D-8F8C-599AA4075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57350"/>
            <a:ext cx="4629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5F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5F6673"/>
                </a:solidFill>
                <a:latin typeface="Microsoft YaHei"/>
                <a:ea typeface="Microsoft YaHei"/>
                <a:cs typeface="Microsoft YaHei"/>
              </a:rPr>
              <a:t>Stage 2 在行业和区域层面检验模型是否能跨情境保持解释力。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60F533-A113-4F89-A959-3D8937687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47950"/>
            <a:ext cx="45148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C9DEF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BE7DC7-6CB0-46A0-8EB5-87533C84A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19400"/>
            <a:ext cx="104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F5F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F5F8B"/>
                </a:solidFill>
                <a:latin typeface="Microsoft YaHei"/>
                <a:ea typeface="Microsoft YaHei"/>
                <a:cs typeface="Microsoft YaHei"/>
              </a:rPr>
              <a:t>证据对象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19BF8C-1F57-4622-9A55-918EA7685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905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5,814 modeling rows, 36 geo groups, 50 industries; R2=0.7245; MAE=1.9646.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22B918-CC4C-4A96-A402-82A2434B8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71900"/>
            <a:ext cx="45148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F"/>
          </a:solidFill>
          <a:ln xmlns:a="http://schemas.openxmlformats.org/drawingml/2006/main" w="9525">
            <a:solidFill>
              <a:srgbClr val="EFD2A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EA0EA4-777D-4FD3-B4EB-B6E930FF3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43350"/>
            <a:ext cx="104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36B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36B2C"/>
                </a:solidFill>
                <a:latin typeface="Microsoft YaHei"/>
                <a:ea typeface="Microsoft YaHei"/>
                <a:cs typeface="Microsoft YaHei"/>
              </a:rPr>
              <a:t>边界说明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ED7C60-243E-495C-8E9D-10069B612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91000"/>
            <a:ext cx="3905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不把 Stage 2 说成 SME-only，不夸大为因果识别。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A01DAC-FB9D-4B23-A01A-062C8BE8D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24450"/>
            <a:ext cx="1200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5F8B"/>
                </a:solidFill>
                <a:latin typeface="Cascadia Mono"/>
                <a:ea typeface="Cascadia Mono"/>
                <a:cs typeface="Cascadia Mono"/>
              </a:defRPr>
            </a:pPr>
            <a:r>
              <a:rPr sz="1500" b="1">
                <a:solidFill>
                  <a:srgbClr val="1F5F8B"/>
                </a:solidFill>
                <a:latin typeface="Cascadia Mono"/>
                <a:ea typeface="Cascadia Mono"/>
                <a:cs typeface="Cascadia Mono"/>
              </a:rPr>
              <a:t>5,814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E29B4F-17A0-4BBC-AF2E-0B45E82D1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67350"/>
            <a:ext cx="1200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65" b="0">
                <a:solidFill>
                  <a:srgbClr val="5F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65" b="0">
                <a:solidFill>
                  <a:srgbClr val="5F6673"/>
                </a:solidFill>
                <a:latin typeface="Microsoft YaHei"/>
                <a:ea typeface="Microsoft YaHei"/>
                <a:cs typeface="Microsoft YaHei"/>
              </a:rPr>
              <a:t>建模行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B55EF0-EB8F-423E-8B0D-D26C9037B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124450"/>
            <a:ext cx="1200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5F8B"/>
                </a:solidFill>
                <a:latin typeface="Cascadia Mono"/>
                <a:ea typeface="Cascadia Mono"/>
                <a:cs typeface="Cascadia Mono"/>
              </a:defRPr>
            </a:pPr>
            <a:r>
              <a:rPr sz="1500" b="1">
                <a:solidFill>
                  <a:srgbClr val="1F5F8B"/>
                </a:solidFill>
                <a:latin typeface="Cascadia Mono"/>
                <a:ea typeface="Cascadia Mono"/>
                <a:cs typeface="Cascadia Mono"/>
              </a:rPr>
              <a:t>50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BA7E16-4865-4A11-9F8E-388348FBF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467350"/>
            <a:ext cx="1200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65" b="0">
                <a:solidFill>
                  <a:srgbClr val="5F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65" b="0">
                <a:solidFill>
                  <a:srgbClr val="5F6673"/>
                </a:solidFill>
                <a:latin typeface="Microsoft YaHei"/>
                <a:ea typeface="Microsoft YaHei"/>
                <a:cs typeface="Microsoft YaHei"/>
              </a:rPr>
              <a:t>行业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B9664E-F92B-4655-BDDE-FEEBA9999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124450"/>
            <a:ext cx="1200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5F8B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1">
                <a:solidFill>
                  <a:srgbClr val="1F5F8B"/>
                </a:solidFill>
                <a:latin typeface="Cascadia Mono"/>
                <a:ea typeface="Cascadia Mono"/>
                <a:cs typeface="Cascadia Mono"/>
              </a:rPr>
              <a:t>1.9646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D0D724-BD9E-4EC6-8D77-A282826E3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467350"/>
            <a:ext cx="1200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65" b="0">
                <a:solidFill>
                  <a:srgbClr val="5F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65" b="0">
                <a:solidFill>
                  <a:srgbClr val="5F6673"/>
                </a:solidFill>
                <a:latin typeface="Microsoft YaHei"/>
                <a:ea typeface="Microsoft YaHei"/>
                <a:cs typeface="Microsoft YaHei"/>
              </a:rPr>
              <a:t>MAE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87AE77-59FB-4738-AD7B-8F2156AE0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762000"/>
            <a:ext cx="5581650" cy="491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3E9F2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475b4732064ded"/>
          <a:stretch xmlns:a="http://schemas.openxmlformats.org/drawingml/2006/main"/>
        </p:blipFill>
        <p:spPr>
          <a:xfrm xmlns:a="http://schemas.openxmlformats.org/drawingml/2006/main">
            <a:off x="6019800" y="1948210"/>
            <a:ext cx="5124450" cy="2542481"/>
          </a:xfrm>
          <a:prstGeom xmlns:a="http://schemas.openxmlformats.org/drawingml/2006/main" prst="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30F9DF4-3885-47AB-AA21-88AB03F8E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5867400"/>
            <a:ext cx="5581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4ADE3C-CAB6-47E8-880E-020D35A2E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0007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F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0">
                <a:solidFill>
                  <a:srgbClr val="5F6673"/>
                </a:solidFill>
                <a:latin typeface="Microsoft YaHei"/>
                <a:ea typeface="Microsoft YaHei"/>
                <a:cs typeface="Microsoft YaHei"/>
              </a:rPr>
              <a:t>视觉素材来源：真实数据图表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0D8E9F8-085C-4203-9472-584E26A46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666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5F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5F6673"/>
                </a:solidFill>
                <a:latin typeface="Microsoft YaHei"/>
                <a:ea typeface="Microsoft YaHei"/>
                <a:cs typeface="Microsoft YaHei"/>
              </a:rPr>
              <a:t>Gamma 负责审美骨架；最终图片版心由固定合成层控制。</a:t>
            </a:r>
          </a:p>
        </p:txBody>
      </p:sp>
    </p:spTree>
    <p:extLst>
      <p:ext uri="{BB962C8B-B14F-4D97-AF65-F5344CB8AC3E}">
        <p14:creationId xmlns:p14="http://schemas.microsoft.com/office/powerpoint/2010/main" val="207149794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6DA4732-F47E-474D-998E-09629DBF7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3EA3D8-7090-4D37-90DF-F150A152A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1F5F8B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1F5F8B"/>
                </a:solidFill>
                <a:latin typeface="Aptos"/>
                <a:ea typeface="Aptos"/>
                <a:cs typeface="Aptos"/>
              </a:rPr>
              <a:t>GAMMA-SUPERVISED FIXED LAYOUT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130E46-AA03-48BF-ABE5-334803444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F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D309B3-046C-466F-9470-2D5DCAA1F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04800"/>
            <a:ext cx="609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673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5F6673"/>
                </a:solidFill>
                <a:latin typeface="Cascadia Mono"/>
                <a:ea typeface="Cascadia Mono"/>
                <a:cs typeface="Cascadia Mono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552E8E-8B49-4F94-9672-269C24730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381750"/>
            <a:ext cx="1847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0">
                <a:solidFill>
                  <a:srgbClr val="5F6673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5F6673"/>
                </a:solidFill>
                <a:latin typeface="Aptos"/>
                <a:ea typeface="Aptos"/>
                <a:cs typeface="Aptos"/>
              </a:rPr>
              <a:t>DATA-DRIVEN FIGURE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B34DE7-E966-4808-A12B-753B960CB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5029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特征重要性服务机制解释，不写成因果证明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EC1054-7AEF-4017-9672-5F3D993F4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57350"/>
            <a:ext cx="4629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5F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5F6673"/>
                </a:solidFill>
                <a:latin typeface="Microsoft YaHei"/>
                <a:ea typeface="Microsoft YaHei"/>
                <a:cs typeface="Microsoft YaHei"/>
              </a:rPr>
              <a:t>特征重要性用于解释部署准备度、数字基础和治理约束的相对作用。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DCB4DA-D3F4-467B-9187-EB4790F87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47950"/>
            <a:ext cx="45148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C9DEF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516861-B6B5-4958-97CF-689F9C55E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19400"/>
            <a:ext cx="104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F5F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F5F8B"/>
                </a:solidFill>
                <a:latin typeface="Microsoft YaHei"/>
                <a:ea typeface="Microsoft YaHei"/>
                <a:cs typeface="Microsoft YaHei"/>
              </a:rPr>
              <a:t>证据对象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00A587-6D1C-4DC2-9422-1B2BAAD19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905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feature importance table and mechanism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407189-A3E4-4D90-BA4F-4B246314F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71900"/>
            <a:ext cx="45148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F"/>
          </a:solidFill>
          <a:ln xmlns:a="http://schemas.openxmlformats.org/drawingml/2006/main" w="9525">
            <a:solidFill>
              <a:srgbClr val="EFD2A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9257EB-FF4A-41C4-93F6-817920E1C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43350"/>
            <a:ext cx="104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36B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36B2C"/>
                </a:solidFill>
                <a:latin typeface="Microsoft YaHei"/>
                <a:ea typeface="Microsoft YaHei"/>
                <a:cs typeface="Microsoft YaHei"/>
              </a:rPr>
              <a:t>边界说明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8DF783-A7E8-40B3-8881-09B21BBEF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91000"/>
            <a:ext cx="3905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重要性排序不等于因果效应。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CAE1E6-8270-435A-9D4A-4E5C41998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0"/>
            <a:ext cx="400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21C115-F936-47B5-A632-A9126AC59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762000"/>
            <a:ext cx="5581650" cy="491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3E9F2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cd15ce824c4e7d"/>
          <a:stretch xmlns:a="http://schemas.openxmlformats.org/drawingml/2006/main"/>
        </p:blipFill>
        <p:spPr>
          <a:xfrm xmlns:a="http://schemas.openxmlformats.org/drawingml/2006/main">
            <a:off x="6019800" y="1922970"/>
            <a:ext cx="5124450" cy="2592961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57BB62-AF11-4E24-A99F-37C4980DA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5867400"/>
            <a:ext cx="5581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1810A7-F466-4CD2-BB7F-7B62EAF32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0007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F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0">
                <a:solidFill>
                  <a:srgbClr val="5F6673"/>
                </a:solidFill>
                <a:latin typeface="Microsoft YaHei"/>
                <a:ea typeface="Microsoft YaHei"/>
                <a:cs typeface="Microsoft YaHei"/>
              </a:rPr>
              <a:t>视觉素材来源：真实数据图表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F9F53D-6C02-4B20-83AD-65D4D92D5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666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5F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5F6673"/>
                </a:solidFill>
                <a:latin typeface="Microsoft YaHei"/>
                <a:ea typeface="Microsoft YaHei"/>
                <a:cs typeface="Microsoft YaHei"/>
              </a:rPr>
              <a:t>Gamma 负责审美骨架；最终图片版心由固定合成层控制。</a:t>
            </a:r>
          </a:p>
        </p:txBody>
      </p:sp>
    </p:spTree>
    <p:extLst>
      <p:ext uri="{BB962C8B-B14F-4D97-AF65-F5344CB8AC3E}">
        <p14:creationId xmlns:p14="http://schemas.microsoft.com/office/powerpoint/2010/main" val="1743041241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07582A0-AC2E-4DC9-BA15-0EE544B5D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F82CD8-E672-4848-9C05-694150D9B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1F5F8B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1F5F8B"/>
                </a:solidFill>
                <a:latin typeface="Aptos"/>
                <a:ea typeface="Aptos"/>
                <a:cs typeface="Aptos"/>
              </a:rPr>
              <a:t>GAMMA-SUPERVISED FIXED LAYOUT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814867-737E-49CB-8E3A-5D1538D6A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F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18EC7F-C943-45C3-833F-CB7138CCD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04800"/>
            <a:ext cx="609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673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5F6673"/>
                </a:solidFill>
                <a:latin typeface="Cascadia Mono"/>
                <a:ea typeface="Cascadia Mono"/>
                <a:cs typeface="Cascadia Mono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2628DE-BEC0-41A6-AD5A-5AA0E9D82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381750"/>
            <a:ext cx="1847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0">
                <a:solidFill>
                  <a:srgbClr val="5F6673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5F6673"/>
                </a:solidFill>
                <a:latin typeface="Aptos"/>
                <a:ea typeface="Aptos"/>
                <a:cs typeface="Aptos"/>
              </a:rPr>
              <a:t>GPT IMAGE 2 VISUAL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2554BA-80EB-4568-9CE4-CEF42044D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5029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Agent 原型把证据约束转成可演示工具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98E411-1A71-4957-90B5-FFE85AFFF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57350"/>
            <a:ext cx="4629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5F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5F6673"/>
                </a:solidFill>
                <a:latin typeface="Microsoft YaHei"/>
                <a:ea typeface="Microsoft YaHei"/>
                <a:cs typeface="Microsoft YaHei"/>
              </a:rPr>
              <a:t>Agent 原型只基于仓库证据回答，并在缺少模型二进制时安全返回 unavailable。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99A63D-49E3-4808-8B75-55B13C56D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47950"/>
            <a:ext cx="45148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C9DEF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738670-6B91-491C-9764-45FEA1549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19400"/>
            <a:ext cx="104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F5F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F5F8B"/>
                </a:solidFill>
                <a:latin typeface="Microsoft YaHei"/>
                <a:ea typeface="Microsoft YaHei"/>
                <a:cs typeface="Microsoft YaHei"/>
              </a:rPr>
              <a:t>证据对象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4ED26D-B569-4CA6-8FC1-BC7A6491B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905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10_Agent系统 tests and reports; 8 unit tests pass.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F126F2-7C0E-463C-BC6E-151160B9A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71900"/>
            <a:ext cx="45148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F"/>
          </a:solidFill>
          <a:ln xmlns:a="http://schemas.openxmlformats.org/drawingml/2006/main" w="9525">
            <a:solidFill>
              <a:srgbClr val="EFD2A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10395E-A3FA-45B8-B04C-E31ABFE92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43350"/>
            <a:ext cx="104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36B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36B2C"/>
                </a:solidFill>
                <a:latin typeface="Microsoft YaHei"/>
                <a:ea typeface="Microsoft YaHei"/>
                <a:cs typeface="Microsoft YaHei"/>
              </a:rPr>
              <a:t>边界说明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733160-240A-439E-81BE-51AE4C6B5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91000"/>
            <a:ext cx="3905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公开仓库不提交 .joblib/.pkl 模型二进制。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8DFD99-26A5-43C7-AEFE-30DDDE6DF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24450"/>
            <a:ext cx="1200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5F8B"/>
                </a:solidFill>
                <a:latin typeface="Cascadia Mono"/>
                <a:ea typeface="Cascadia Mono"/>
                <a:cs typeface="Cascadia Mono"/>
              </a:defRPr>
            </a:pPr>
            <a:r>
              <a:rPr sz="1500" b="1">
                <a:solidFill>
                  <a:srgbClr val="1F5F8B"/>
                </a:solidFill>
                <a:latin typeface="Cascadia Mono"/>
                <a:ea typeface="Cascadia Mono"/>
                <a:cs typeface="Cascadia Mono"/>
              </a:rPr>
              <a:t>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FAEFBD-A7CD-49D5-8EDD-7A375F256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67350"/>
            <a:ext cx="1200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65" b="0">
                <a:solidFill>
                  <a:srgbClr val="5F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65" b="0">
                <a:solidFill>
                  <a:srgbClr val="5F6673"/>
                </a:solidFill>
                <a:latin typeface="Microsoft YaHei"/>
                <a:ea typeface="Microsoft YaHei"/>
                <a:cs typeface="Microsoft YaHei"/>
              </a:rPr>
              <a:t>单元测试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E47544-FE53-44A1-B73B-A363139DD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124450"/>
            <a:ext cx="1200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F5F8B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1">
                <a:solidFill>
                  <a:srgbClr val="1F5F8B"/>
                </a:solidFill>
                <a:latin typeface="Cascadia Mono"/>
                <a:ea typeface="Cascadia Mono"/>
                <a:cs typeface="Cascadia Mono"/>
              </a:rPr>
              <a:t>unavailable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FA261C-630F-4B3F-9199-FBF96A142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467350"/>
            <a:ext cx="1200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65" b="0">
                <a:solidFill>
                  <a:srgbClr val="5F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65" b="0">
                <a:solidFill>
                  <a:srgbClr val="5F6673"/>
                </a:solidFill>
                <a:latin typeface="Microsoft YaHei"/>
                <a:ea typeface="Microsoft YaHei"/>
                <a:cs typeface="Microsoft YaHei"/>
              </a:rPr>
              <a:t>安全降级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6DBCD1-7E87-43A9-B424-13433A18D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124450"/>
            <a:ext cx="1200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5F8B"/>
                </a:solidFill>
                <a:latin typeface="Cascadia Mono"/>
                <a:ea typeface="Cascadia Mono"/>
                <a:cs typeface="Cascadia Mono"/>
              </a:defRPr>
            </a:pPr>
            <a:r>
              <a:rPr sz="1500" b="1">
                <a:solidFill>
                  <a:srgbClr val="1F5F8B"/>
                </a:solidFill>
                <a:latin typeface="Cascadia Mono"/>
                <a:ea typeface="Cascadia Mono"/>
                <a:cs typeface="Cascadia Mono"/>
              </a:rPr>
              <a:t>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3FE476-EC33-4578-8CC8-A9E0AC759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467350"/>
            <a:ext cx="1200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65" b="0">
                <a:solidFill>
                  <a:srgbClr val="5F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65" b="0">
                <a:solidFill>
                  <a:srgbClr val="5F6673"/>
                </a:solidFill>
                <a:latin typeface="Microsoft YaHei"/>
                <a:ea typeface="Microsoft YaHei"/>
                <a:cs typeface="Microsoft YaHei"/>
              </a:rPr>
              <a:t>模型二进制公开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E7BD69-EED8-4F77-B491-09AF768AC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762000"/>
            <a:ext cx="5581650" cy="491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3E9F2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9dc2b65e5347c5"/>
          <a:stretch xmlns:a="http://schemas.openxmlformats.org/drawingml/2006/main"/>
        </p:blipFill>
        <p:spPr>
          <a:xfrm xmlns:a="http://schemas.openxmlformats.org/drawingml/2006/main">
            <a:off x="6019800" y="1511300"/>
            <a:ext cx="5124450" cy="3416300"/>
          </a:xfrm>
          <a:prstGeom xmlns:a="http://schemas.openxmlformats.org/drawingml/2006/main" prst="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793AC8-88B6-4951-A8D8-1DBB6539A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5867400"/>
            <a:ext cx="5581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B68848-0663-4B65-8004-6A87B5391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0007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F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0">
                <a:solidFill>
                  <a:srgbClr val="5F6673"/>
                </a:solidFill>
                <a:latin typeface="Microsoft YaHei"/>
                <a:ea typeface="Microsoft YaHei"/>
                <a:cs typeface="Microsoft YaHei"/>
              </a:rPr>
              <a:t>视觉素材来源：GPT image 2 概念图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9E70B4B-FD44-405D-9528-DA424612C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666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5F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5F6673"/>
                </a:solidFill>
                <a:latin typeface="Microsoft YaHei"/>
                <a:ea typeface="Microsoft YaHei"/>
                <a:cs typeface="Microsoft YaHei"/>
              </a:rPr>
              <a:t>Gamma 负责审美骨架；最终图片版心由固定合成层控制。</a:t>
            </a:r>
          </a:p>
        </p:txBody>
      </p:sp>
    </p:spTree>
    <p:extLst>
      <p:ext uri="{BB962C8B-B14F-4D97-AF65-F5344CB8AC3E}">
        <p14:creationId xmlns:p14="http://schemas.microsoft.com/office/powerpoint/2010/main" val="427745291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E914E23-56C2-40CE-9DDE-D327D7E04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86017C-46AB-4423-A80A-1D46D9F46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1F5F8B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1F5F8B"/>
                </a:solidFill>
                <a:latin typeface="Aptos"/>
                <a:ea typeface="Aptos"/>
                <a:cs typeface="Aptos"/>
              </a:rPr>
              <a:t>GAMMA-SUPERVISED FIXED LAYOUT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409CD1-2A0F-42F5-B4C4-34BAF0717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F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97B6EB-1478-4D28-8104-7F4B91239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04800"/>
            <a:ext cx="609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673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5F6673"/>
                </a:solidFill>
                <a:latin typeface="Cascadia Mono"/>
                <a:ea typeface="Cascadia Mono"/>
                <a:cs typeface="Cascadia Mono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C490A8-C9A7-48F5-99B4-DF17DBE3D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381750"/>
            <a:ext cx="1847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0">
                <a:solidFill>
                  <a:srgbClr val="5F6673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5F6673"/>
                </a:solidFill>
                <a:latin typeface="Aptos"/>
                <a:ea typeface="Aptos"/>
                <a:cs typeface="Aptos"/>
              </a:rPr>
              <a:t>GPT IMAGE 2 VISUAL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3300C9-82B3-4C2B-AB24-3593B7729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5029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公开仓库只保留课程复现材料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EE0A91-4EE6-44D7-8E40-A653753AA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57350"/>
            <a:ext cx="4629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5F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5F6673"/>
                </a:solidFill>
                <a:latin typeface="Microsoft YaHei"/>
                <a:ea typeface="Microsoft YaHei"/>
                <a:cs typeface="Microsoft YaHei"/>
              </a:rPr>
              <a:t>公开仓库保留课程案例和复现工程，私密论文与问卷/访谈材料不公开。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87E6F8-9AD7-4599-8858-88DC47640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47950"/>
            <a:ext cx="45148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C9DEF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DFC27C-5E4F-4D1A-8C1D-6C802349A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19400"/>
            <a:ext cx="104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F5F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F5F8B"/>
                </a:solidFill>
                <a:latin typeface="Microsoft YaHei"/>
                <a:ea typeface="Microsoft YaHei"/>
                <a:cs typeface="Microsoft YaHei"/>
              </a:rPr>
              <a:t>证据对象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E3E0A8-31D1-4E70-91F9-BDC3B46C5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905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Public: data/code/outputs/PPT; private: manuscript/questionnaire/interview; no .env/.joblib/.pkl.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3ADC45-FF1A-4AAE-84AC-3D3B691DA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71900"/>
            <a:ext cx="45148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F"/>
          </a:solidFill>
          <a:ln xmlns:a="http://schemas.openxmlformats.org/drawingml/2006/main" w="9525">
            <a:solidFill>
              <a:srgbClr val="EFD2A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035021-1B10-429C-A0E6-0AA184E4C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43350"/>
            <a:ext cx="104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36B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36B2C"/>
                </a:solidFill>
                <a:latin typeface="Microsoft YaHei"/>
                <a:ea typeface="Microsoft YaHei"/>
                <a:cs typeface="Microsoft YaHei"/>
              </a:rPr>
              <a:t>边界说明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3B37D6-AB7F-4FB8-AC87-1BECC82EE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91000"/>
            <a:ext cx="3905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不得把 private_research_archive 或投稿包推到 GitHub。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449FCB-3C6F-4164-83E2-07111EC87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0"/>
            <a:ext cx="400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9798C6-CE81-43D9-8E11-D8284DC0F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762000"/>
            <a:ext cx="5581650" cy="491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3E9F2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b2131359594f1d"/>
          <a:stretch xmlns:a="http://schemas.openxmlformats.org/drawingml/2006/main"/>
        </p:blipFill>
        <p:spPr>
          <a:xfrm xmlns:a="http://schemas.openxmlformats.org/drawingml/2006/main">
            <a:off x="6019800" y="1511300"/>
            <a:ext cx="5124450" cy="341630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61EB87-2AA9-4A08-8771-FA08BE9C1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5867400"/>
            <a:ext cx="5581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18223A-5814-4BA2-867B-103712653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0007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F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0">
                <a:solidFill>
                  <a:srgbClr val="5F6673"/>
                </a:solidFill>
                <a:latin typeface="Microsoft YaHei"/>
                <a:ea typeface="Microsoft YaHei"/>
                <a:cs typeface="Microsoft YaHei"/>
              </a:rPr>
              <a:t>视觉素材来源：GPT image 2 概念图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639DCF-0E9A-4EBE-ABF7-9AA91EC1E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666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5F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5F6673"/>
                </a:solidFill>
                <a:latin typeface="Microsoft YaHei"/>
                <a:ea typeface="Microsoft YaHei"/>
                <a:cs typeface="Microsoft YaHei"/>
              </a:rPr>
              <a:t>Gamma 负责审美骨架；最终图片版心由固定合成层控制。</a:t>
            </a:r>
          </a:p>
        </p:txBody>
      </p:sp>
    </p:spTree>
    <p:extLst>
      <p:ext uri="{BB962C8B-B14F-4D97-AF65-F5344CB8AC3E}">
        <p14:creationId xmlns:p14="http://schemas.microsoft.com/office/powerpoint/2010/main" val="1381883736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ACAF4B3-4B40-42A0-BC8A-E184E4E47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665986-DF0A-4D22-B1D7-C6713E789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1F5F8B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1F5F8B"/>
                </a:solidFill>
                <a:latin typeface="Aptos"/>
                <a:ea typeface="Aptos"/>
                <a:cs typeface="Aptos"/>
              </a:rPr>
              <a:t>GAMMA-SUPERVISED FIXED LAYOUT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E38B09-4DF1-4588-BC9E-2CA43193B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F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4E884A-A24D-4501-A686-2E07DFBE2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04800"/>
            <a:ext cx="609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673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5F6673"/>
                </a:solidFill>
                <a:latin typeface="Cascadia Mono"/>
                <a:ea typeface="Cascadia Mono"/>
                <a:cs typeface="Cascadia Mono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523BED-46DD-4374-9FDB-FA59BC0D5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381750"/>
            <a:ext cx="1847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0">
                <a:solidFill>
                  <a:srgbClr val="5F6673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5F6673"/>
                </a:solidFill>
                <a:latin typeface="Aptos"/>
                <a:ea typeface="Aptos"/>
                <a:cs typeface="Aptos"/>
              </a:rPr>
              <a:t>GPT IMAGE 2 VISUAL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C2718C-7E69-4C01-9FDC-19FAD2F74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5029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边界说清楚，比把结论写满更专业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CE9909-941A-4299-A702-F35E7B1EF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57350"/>
            <a:ext cx="4629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5F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5F6673"/>
                </a:solidFill>
                <a:latin typeface="Microsoft YaHei"/>
                <a:ea typeface="Microsoft YaHei"/>
                <a:cs typeface="Microsoft YaHei"/>
              </a:rPr>
              <a:t>准确说明数据边界能提高课程展示和后续研究可信度。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60349D-F16F-43B3-9197-792C64EA0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47950"/>
            <a:ext cx="45148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C9DEF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B8EDA0-6D5B-4839-AABF-D463C85DA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19400"/>
            <a:ext cx="104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F5F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F5F8B"/>
                </a:solidFill>
                <a:latin typeface="Microsoft YaHei"/>
                <a:ea typeface="Microsoft YaHei"/>
                <a:cs typeface="Microsoft YaHei"/>
              </a:rPr>
              <a:t>证据对象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EF97D2-7AC4-43AC-BCFC-08A094908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905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source-chain wording; no causal overclaim; questionnaire is aggregate only.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5DD723-BBF8-453A-A018-9240EC5D5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71900"/>
            <a:ext cx="45148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F"/>
          </a:solidFill>
          <a:ln xmlns:a="http://schemas.openxmlformats.org/drawingml/2006/main" w="9525">
            <a:solidFill>
              <a:srgbClr val="EFD2A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B849AE-9482-4314-A81A-1454CB022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43350"/>
            <a:ext cx="104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36B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36B2C"/>
                </a:solidFill>
                <a:latin typeface="Microsoft YaHei"/>
                <a:ea typeface="Microsoft YaHei"/>
                <a:cs typeface="Microsoft YaHei"/>
              </a:rPr>
              <a:t>边界说明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2945E8-9041-4012-AF92-6A0A96E97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91000"/>
            <a:ext cx="3905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禁止机器学习证明因果、千万样本直接训练、问卷逐样本数据库等越界表述。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170F8D-3C49-4656-9F03-D9AF26E0D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0"/>
            <a:ext cx="400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0D89EA-5109-41FC-88AC-086A1A4E1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762000"/>
            <a:ext cx="5581650" cy="491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3E9F2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15b5af11aa44d0"/>
          <a:stretch xmlns:a="http://schemas.openxmlformats.org/drawingml/2006/main"/>
        </p:blipFill>
        <p:spPr>
          <a:xfrm xmlns:a="http://schemas.openxmlformats.org/drawingml/2006/main">
            <a:off x="6019800" y="1511300"/>
            <a:ext cx="5124450" cy="341630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40731A-E760-4739-BCBE-ADCF54C0B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5867400"/>
            <a:ext cx="5581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EBDB83-3C0F-4A7D-AF6C-8D7C00F31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0007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F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0">
                <a:solidFill>
                  <a:srgbClr val="5F6673"/>
                </a:solidFill>
                <a:latin typeface="Microsoft YaHei"/>
                <a:ea typeface="Microsoft YaHei"/>
                <a:cs typeface="Microsoft YaHei"/>
              </a:rPr>
              <a:t>视觉素材来源：GPT image 2 概念图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1B823A-DDFE-4575-8B64-77913DEF1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666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5F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5F6673"/>
                </a:solidFill>
                <a:latin typeface="Microsoft YaHei"/>
                <a:ea typeface="Microsoft YaHei"/>
                <a:cs typeface="Microsoft YaHei"/>
              </a:rPr>
              <a:t>Gamma 负责审美骨架；最终图片版心由固定合成层控制。</a:t>
            </a:r>
          </a:p>
        </p:txBody>
      </p:sp>
    </p:spTree>
    <p:extLst>
      <p:ext uri="{BB962C8B-B14F-4D97-AF65-F5344CB8AC3E}">
        <p14:creationId xmlns:p14="http://schemas.microsoft.com/office/powerpoint/2010/main" val="1910994548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D1308FB-8D78-40CD-9C1F-8F1936DB0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8C0C60-DC9A-438F-91E8-EB98F56E2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1F5F8B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1F5F8B"/>
                </a:solidFill>
                <a:latin typeface="Aptos"/>
                <a:ea typeface="Aptos"/>
                <a:cs typeface="Aptos"/>
              </a:rPr>
              <a:t>GAMMA-SUPERVISED FIXED LAYOUT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A491F0-6BF3-4BB8-981C-F166B2ED0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F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DDB9AF-41F7-4CC0-BFC2-32C4F1A02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04800"/>
            <a:ext cx="609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673"/>
                </a:solidFill>
                <a:latin typeface="Cascadia Mono"/>
                <a:ea typeface="Cascadia Mono"/>
                <a:cs typeface="Cascadia Mono"/>
              </a:defRPr>
            </a:pPr>
            <a:r>
              <a:rPr sz="900" b="0">
                <a:solidFill>
                  <a:srgbClr val="5F6673"/>
                </a:solidFill>
                <a:latin typeface="Cascadia Mono"/>
                <a:ea typeface="Cascadia Mono"/>
                <a:cs typeface="Cascadia Mono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926C2F-FD5E-4C86-A612-927DB333D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381750"/>
            <a:ext cx="1847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38" b="0">
                <a:solidFill>
                  <a:srgbClr val="5F6673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5F6673"/>
                </a:solidFill>
                <a:latin typeface="Aptos"/>
                <a:ea typeface="Aptos"/>
                <a:cs typeface="Aptos"/>
              </a:rPr>
              <a:t>GPT IMAGE 2 VISUAL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1D44F7-1DCD-49FC-9E28-714F62BE6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5029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真实数据、严格验证、可复现展示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EBD400-ED7A-461B-BBF3-1B8EDFDE6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57350"/>
            <a:ext cx="4629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5F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5F6673"/>
                </a:solidFill>
                <a:latin typeface="Microsoft YaHei"/>
                <a:ea typeface="Microsoft YaHei"/>
                <a:cs typeface="Microsoft YaHei"/>
              </a:rPr>
              <a:t>最终展示交付包括 PPTX、PDF、预览、证据映射和 QA 报告。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307905-1363-4C3D-ABFF-214C410C6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47950"/>
            <a:ext cx="45148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C9DEF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83DD67-5BE2-45FA-B529-41C1C5287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19400"/>
            <a:ext cx="104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F5F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F5F8B"/>
                </a:solidFill>
                <a:latin typeface="Microsoft YaHei"/>
                <a:ea typeface="Microsoft YaHei"/>
                <a:cs typeface="Microsoft YaHei"/>
              </a:rPr>
              <a:t>证据对象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634671-A2CC-438D-827D-1F154577D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905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Final PPTX/PDF; 14 previews; contact sheet; slide_to_evidence_map.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76CD19-22DC-4950-8262-9A7DE0A86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71900"/>
            <a:ext cx="45148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F"/>
          </a:solidFill>
          <a:ln xmlns:a="http://schemas.openxmlformats.org/drawingml/2006/main" w="9525">
            <a:solidFill>
              <a:srgbClr val="EFD2A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24F577-8A86-4471-A51E-761779A6C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43350"/>
            <a:ext cx="104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36B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36B2C"/>
                </a:solidFill>
                <a:latin typeface="Microsoft YaHei"/>
                <a:ea typeface="Microsoft YaHei"/>
                <a:cs typeface="Microsoft YaHei"/>
              </a:rPr>
              <a:t>边界说明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FB7FA7-FE4B-41ED-87BE-DC8C236F9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91000"/>
            <a:ext cx="3905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课程展示版不是投稿论文终稿。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3DE0C9-0319-4B6E-998A-4273FE0BA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24450"/>
            <a:ext cx="1200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5F8B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1">
                <a:solidFill>
                  <a:srgbClr val="1F5F8B"/>
                </a:solidFill>
                <a:latin typeface="Cascadia Mono"/>
                <a:ea typeface="Cascadia Mono"/>
                <a:cs typeface="Cascadia Mono"/>
              </a:rPr>
              <a:t>PPTX/PDF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BB53E3-2960-412A-88F5-30BC40E2F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67350"/>
            <a:ext cx="1200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65" b="0">
                <a:solidFill>
                  <a:srgbClr val="5F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65" b="0">
                <a:solidFill>
                  <a:srgbClr val="5F6673"/>
                </a:solidFill>
                <a:latin typeface="Microsoft YaHei"/>
                <a:ea typeface="Microsoft YaHei"/>
                <a:cs typeface="Microsoft YaHei"/>
              </a:rPr>
              <a:t>最终交付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B00159-F750-4BD9-A863-D9F75243A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124450"/>
            <a:ext cx="1200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5F8B"/>
                </a:solidFill>
                <a:latin typeface="Cascadia Mono"/>
                <a:ea typeface="Cascadia Mono"/>
                <a:cs typeface="Cascadia Mono"/>
              </a:defRPr>
            </a:pPr>
            <a:r>
              <a:rPr sz="1500" b="1">
                <a:solidFill>
                  <a:srgbClr val="1F5F8B"/>
                </a:solidFill>
                <a:latin typeface="Cascadia Mono"/>
                <a:ea typeface="Cascadia Mono"/>
                <a:cs typeface="Cascadia Mono"/>
              </a:rPr>
              <a:t>14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F0CD75-FB24-48C9-8703-C7B94A194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467350"/>
            <a:ext cx="1200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65" b="0">
                <a:solidFill>
                  <a:srgbClr val="5F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65" b="0">
                <a:solidFill>
                  <a:srgbClr val="5F6673"/>
                </a:solidFill>
                <a:latin typeface="Microsoft YaHei"/>
                <a:ea typeface="Microsoft YaHei"/>
                <a:cs typeface="Microsoft YaHei"/>
              </a:rPr>
              <a:t>逐页预览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80E85D-EF49-4A8A-996A-E1474AAC0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124450"/>
            <a:ext cx="1200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5F8B"/>
                </a:solidFill>
                <a:latin typeface="Cascadia Mono"/>
                <a:ea typeface="Cascadia Mono"/>
                <a:cs typeface="Cascadia Mono"/>
              </a:defRPr>
            </a:pPr>
            <a:r>
              <a:rPr sz="1500" b="1">
                <a:solidFill>
                  <a:srgbClr val="1F5F8B"/>
                </a:solidFill>
                <a:latin typeface="Cascadia Mono"/>
                <a:ea typeface="Cascadia Mono"/>
                <a:cs typeface="Cascadia Mono"/>
              </a:rPr>
              <a:t>QA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D656DF-6CE7-4E64-B654-682B25EA7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467350"/>
            <a:ext cx="1200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65" b="0">
                <a:solidFill>
                  <a:srgbClr val="5F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65" b="0">
                <a:solidFill>
                  <a:srgbClr val="5F6673"/>
                </a:solidFill>
                <a:latin typeface="Microsoft YaHei"/>
                <a:ea typeface="Microsoft YaHei"/>
                <a:cs typeface="Microsoft YaHei"/>
              </a:rPr>
              <a:t>质量门禁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D1171A-A45E-41EE-B6EF-097528BD3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762000"/>
            <a:ext cx="5581650" cy="491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3E9F2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2dd4ac9eb345a9"/>
          <a:stretch xmlns:a="http://schemas.openxmlformats.org/drawingml/2006/main"/>
        </p:blipFill>
        <p:spPr>
          <a:xfrm xmlns:a="http://schemas.openxmlformats.org/drawingml/2006/main">
            <a:off x="6019800" y="1511300"/>
            <a:ext cx="5124450" cy="3416300"/>
          </a:xfrm>
          <a:prstGeom xmlns:a="http://schemas.openxmlformats.org/drawingml/2006/main" prst="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6A5307-0899-44A4-96F2-8B8E8E180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5867400"/>
            <a:ext cx="5581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57ABBC-4B20-40B7-9EB2-F8179CC1E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0007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F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0">
                <a:solidFill>
                  <a:srgbClr val="5F6673"/>
                </a:solidFill>
                <a:latin typeface="Microsoft YaHei"/>
                <a:ea typeface="Microsoft YaHei"/>
                <a:cs typeface="Microsoft YaHei"/>
              </a:rPr>
              <a:t>视觉素材来源：GPT image 2 概念图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B83362-91E0-47D7-A658-394A04EF4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666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5F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 b="0">
                <a:solidFill>
                  <a:srgbClr val="5F6673"/>
                </a:solidFill>
                <a:latin typeface="Microsoft YaHei"/>
                <a:ea typeface="Microsoft YaHei"/>
                <a:cs typeface="Microsoft YaHei"/>
              </a:rPr>
              <a:t>Gamma 负责审美骨架；最终图片版心由固定合成层控制。</a:t>
            </a:r>
          </a:p>
        </p:txBody>
      </p:sp>
    </p:spTree>
    <p:extLst>
      <p:ext uri="{BB962C8B-B14F-4D97-AF65-F5344CB8AC3E}">
        <p14:creationId xmlns:p14="http://schemas.microsoft.com/office/powerpoint/2010/main" val="6510313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2026-05-24T16:56:08.9630000Z</dcterms:created>
  <dcterms:modified xsi:type="dcterms:W3CDTF">2026-05-24T16:56:08.9630000Z</dcterms:modified>
</coreProperties>
</file>