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7bf5e8b3fa4fbf" /><Relationship Type="http://schemas.openxmlformats.org/officeDocument/2006/relationships/extended-properties" Target="/docProps/app.xml" Id="R604fa96f6e8f4d39" /><Relationship Type="http://schemas.openxmlformats.org/officeDocument/2006/relationships/officeDocument" Target="/ppt/presentation.xml" Id="R02ffaa10925340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1f7733ba874211"/>
  </p:sldMasterIdLst>
  <p:notesMasterIdLst>
    <p:notesMasterId xmlns:r="http://schemas.openxmlformats.org/officeDocument/2006/relationships" r:id="R887b82e8fb874d18"/>
  </p:notesMasterIdLst>
  <p:sldIdLst>
    <p:sldId xmlns:r="http://schemas.openxmlformats.org/officeDocument/2006/relationships" id="256" r:id="Rd478837b43004ad4"/>
    <p:sldId xmlns:r="http://schemas.openxmlformats.org/officeDocument/2006/relationships" id="257" r:id="Ref63c1f1060c47a9"/>
    <p:sldId xmlns:r="http://schemas.openxmlformats.org/officeDocument/2006/relationships" id="258" r:id="R3ae1f78c1b5b47c1"/>
    <p:sldId xmlns:r="http://schemas.openxmlformats.org/officeDocument/2006/relationships" id="259" r:id="R257786b8a6004f60"/>
    <p:sldId xmlns:r="http://schemas.openxmlformats.org/officeDocument/2006/relationships" id="260" r:id="Re0f8bfaec92f42f0"/>
    <p:sldId xmlns:r="http://schemas.openxmlformats.org/officeDocument/2006/relationships" id="261" r:id="Rabb37174afca4f5b"/>
    <p:sldId xmlns:r="http://schemas.openxmlformats.org/officeDocument/2006/relationships" id="262" r:id="R01b6dbb75ea04133"/>
    <p:sldId xmlns:r="http://schemas.openxmlformats.org/officeDocument/2006/relationships" id="263" r:id="R180628e706c94f1f"/>
    <p:sldId xmlns:r="http://schemas.openxmlformats.org/officeDocument/2006/relationships" id="264" r:id="Rb82d35febadc4061"/>
    <p:sldId xmlns:r="http://schemas.openxmlformats.org/officeDocument/2006/relationships" id="265" r:id="Rd67b41e874a44198"/>
    <p:sldId xmlns:r="http://schemas.openxmlformats.org/officeDocument/2006/relationships" id="266" r:id="Rfdf1500b5ff040d8"/>
    <p:sldId xmlns:r="http://schemas.openxmlformats.org/officeDocument/2006/relationships" id="267" r:id="Rf775ef7bbbf1447b"/>
    <p:sldId xmlns:r="http://schemas.openxmlformats.org/officeDocument/2006/relationships" id="268" r:id="R9d47c04626a34c72"/>
    <p:sldId xmlns:r="http://schemas.openxmlformats.org/officeDocument/2006/relationships" id="269" r:id="R617979667fe5497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1f7733ba874211" /><Relationship Type="http://schemas.openxmlformats.org/officeDocument/2006/relationships/theme" Target="/ppt/theme/theme1.xml" Id="R0df1e52777174a9e" /><Relationship Type="http://schemas.openxmlformats.org/officeDocument/2006/relationships/notesMaster" Target="/ppt/notesMasters/notesMaster1.xml" Id="R887b82e8fb874d18" /><Relationship Type="http://schemas.openxmlformats.org/officeDocument/2006/relationships/presProps" Target="/ppt/presProps.xml" Id="R1ff1b2e9be3f4b8a" /><Relationship Type="http://schemas.openxmlformats.org/officeDocument/2006/relationships/viewProps" Target="/ppt/viewProps.xml" Id="Rbbbb8e4cb5a04e4f" /><Relationship Type="http://schemas.openxmlformats.org/officeDocument/2006/relationships/tableStyles" Target="/ppt/tableStyles.xml" Id="R172300bf1af645ad" /><Relationship Type="http://schemas.openxmlformats.org/officeDocument/2006/relationships/slide" Target="/ppt/slides/slide1.xml" Id="Rd478837b43004ad4" /><Relationship Type="http://schemas.openxmlformats.org/officeDocument/2006/relationships/slide" Target="/ppt/slides/slide2.xml" Id="Ref63c1f1060c47a9" /><Relationship Type="http://schemas.openxmlformats.org/officeDocument/2006/relationships/slide" Target="/ppt/slides/slide3.xml" Id="R3ae1f78c1b5b47c1" /><Relationship Type="http://schemas.openxmlformats.org/officeDocument/2006/relationships/slide" Target="/ppt/slides/slide4.xml" Id="R257786b8a6004f60" /><Relationship Type="http://schemas.openxmlformats.org/officeDocument/2006/relationships/slide" Target="/ppt/slides/slide5.xml" Id="Re0f8bfaec92f42f0" /><Relationship Type="http://schemas.openxmlformats.org/officeDocument/2006/relationships/slide" Target="/ppt/slides/slide6.xml" Id="Rabb37174afca4f5b" /><Relationship Type="http://schemas.openxmlformats.org/officeDocument/2006/relationships/slide" Target="/ppt/slides/slide7.xml" Id="R01b6dbb75ea04133" /><Relationship Type="http://schemas.openxmlformats.org/officeDocument/2006/relationships/slide" Target="/ppt/slides/slide8.xml" Id="R180628e706c94f1f" /><Relationship Type="http://schemas.openxmlformats.org/officeDocument/2006/relationships/slide" Target="/ppt/slides/slide9.xml" Id="Rb82d35febadc4061" /><Relationship Type="http://schemas.openxmlformats.org/officeDocument/2006/relationships/slide" Target="/ppt/slides/slide10.xml" Id="Rd67b41e874a44198" /><Relationship Type="http://schemas.openxmlformats.org/officeDocument/2006/relationships/slide" Target="/ppt/slides/slide11.xml" Id="Rfdf1500b5ff040d8" /><Relationship Type="http://schemas.openxmlformats.org/officeDocument/2006/relationships/slide" Target="/ppt/slides/slide12.xml" Id="Rf775ef7bbbf1447b" /><Relationship Type="http://schemas.openxmlformats.org/officeDocument/2006/relationships/slide" Target="/ppt/slides/slide13.xml" Id="R9d47c04626a34c72" /><Relationship Type="http://schemas.openxmlformats.org/officeDocument/2006/relationships/slide" Target="/ppt/slides/slide14.xml" Id="R617979667fe549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c22a807100041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a3d0b5c5394dce" /><Relationship Type="http://schemas.openxmlformats.org/officeDocument/2006/relationships/notesMaster" Target="/ppt/notesMasters/notesMaster1.xml" Id="R6241fd20605a43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c8046060e5412c" /><Relationship Type="http://schemas.openxmlformats.org/officeDocument/2006/relationships/notesMaster" Target="/ppt/notesMasters/notesMaster1.xml" Id="R122290aec9b04b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817fd2b8194842" /><Relationship Type="http://schemas.openxmlformats.org/officeDocument/2006/relationships/notesMaster" Target="/ppt/notesMasters/notesMaster1.xml" Id="Rbdb8a2e22c0a4c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3bd5eed6d64632" /><Relationship Type="http://schemas.openxmlformats.org/officeDocument/2006/relationships/notesMaster" Target="/ppt/notesMasters/notesMaster1.xml" Id="R5eeafb3772a049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2eb39d20214600" /><Relationship Type="http://schemas.openxmlformats.org/officeDocument/2006/relationships/notesMaster" Target="/ppt/notesMasters/notesMaster1.xml" Id="Rc46309ae157946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d20256453347a6" /><Relationship Type="http://schemas.openxmlformats.org/officeDocument/2006/relationships/notesMaster" Target="/ppt/notesMasters/notesMaster1.xml" Id="Rb3b4225d4d8d4bc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3c98aa9e244ea4" /><Relationship Type="http://schemas.openxmlformats.org/officeDocument/2006/relationships/notesMaster" Target="/ppt/notesMasters/notesMaster1.xml" Id="R2fcead1e514444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ff6d2981eba4230" /><Relationship Type="http://schemas.openxmlformats.org/officeDocument/2006/relationships/notesMaster" Target="/ppt/notesMasters/notesMaster1.xml" Id="Rd912049bc7474a1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ae97c5fda264615" /><Relationship Type="http://schemas.openxmlformats.org/officeDocument/2006/relationships/notesMaster" Target="/ppt/notesMasters/notesMaster1.xml" Id="R3378b4f10c99454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cb3c0f36a8d4032" /><Relationship Type="http://schemas.openxmlformats.org/officeDocument/2006/relationships/notesMaster" Target="/ppt/notesMasters/notesMaster1.xml" Id="Rbf8cb1eca311463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830bc99dc86407f" /><Relationship Type="http://schemas.openxmlformats.org/officeDocument/2006/relationships/notesMaster" Target="/ppt/notesMasters/notesMaster1.xml" Id="R4c0fa8352e12402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e754acda1774a0c" /><Relationship Type="http://schemas.openxmlformats.org/officeDocument/2006/relationships/notesMaster" Target="/ppt/notesMasters/notesMaster1.xml" Id="R98d05ac340414ec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60d106f503446b6" /><Relationship Type="http://schemas.openxmlformats.org/officeDocument/2006/relationships/notesMaster" Target="/ppt/notesMasters/notesMaster1.xml" Id="R4e2c94010fd7430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21312a2c88c45cc" /><Relationship Type="http://schemas.openxmlformats.org/officeDocument/2006/relationships/notesMaster" Target="/ppt/notesMasters/notesMaster1.xml" Id="R1d4b7ef1de1f4a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d3e529702e476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cf15bb9bd2d48f2" /><Relationship Type="http://schemas.openxmlformats.org/officeDocument/2006/relationships/slideLayout" Target="/ppt/slideLayouts/slideLayout2.xml" Id="Rbfe184c1322a41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e184c1322a41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f51248272546b4" /><Relationship Type="http://schemas.openxmlformats.org/officeDocument/2006/relationships/image" Target="/ppt/media/image.png" Id="R3e511e0070404d19" /><Relationship Type="http://schemas.openxmlformats.org/officeDocument/2006/relationships/notesSlide" Target="/ppt/notesSlides/notesSlide1.xml" Id="R0b8e03debfe840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168463a0c04da3" /><Relationship Type="http://schemas.openxmlformats.org/officeDocument/2006/relationships/image" Target="/ppt/media/image2.png" Id="Raff4a86405204d00" /><Relationship Type="http://schemas.openxmlformats.org/officeDocument/2006/relationships/notesSlide" Target="/ppt/notesSlides/notesSlide2.xml" Id="R20f14c06b71540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ee7412ba0642f2" /><Relationship Type="http://schemas.openxmlformats.org/officeDocument/2006/relationships/image" Target="/ppt/media/image3.png" Id="Rc5e9126f326049d6" /><Relationship Type="http://schemas.openxmlformats.org/officeDocument/2006/relationships/notesSlide" Target="/ppt/notesSlides/notesSlide3.xml" Id="Rb90b2328744b4e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c9db57ccb74ab5" /><Relationship Type="http://schemas.openxmlformats.org/officeDocument/2006/relationships/image" Target="/ppt/media/image4.png" Id="Ra2279925f435447f" /><Relationship Type="http://schemas.openxmlformats.org/officeDocument/2006/relationships/notesSlide" Target="/ppt/notesSlides/notesSlide4.xml" Id="R039fbeb4346a45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7f97559228434f" /><Relationship Type="http://schemas.openxmlformats.org/officeDocument/2006/relationships/image" Target="/ppt/media/image5.png" Id="R3574940d2b274457" /><Relationship Type="http://schemas.openxmlformats.org/officeDocument/2006/relationships/notesSlide" Target="/ppt/notesSlides/notesSlide5.xml" Id="R6a87e44dca2748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6efc54f3684677" /><Relationship Type="http://schemas.openxmlformats.org/officeDocument/2006/relationships/image" Target="/ppt/media/image6.png" Id="R13d5cdd1626648e9" /><Relationship Type="http://schemas.openxmlformats.org/officeDocument/2006/relationships/notesSlide" Target="/ppt/notesSlides/notesSlide6.xml" Id="Rdf66c2980c37436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46c3ff529b4c14" /><Relationship Type="http://schemas.openxmlformats.org/officeDocument/2006/relationships/notesSlide" Target="/ppt/notesSlides/notesSlide7.xml" Id="R314b63e623be45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2bba6d6e3448f3" /><Relationship Type="http://schemas.openxmlformats.org/officeDocument/2006/relationships/notesSlide" Target="/ppt/notesSlides/notesSlide8.xml" Id="R41d773fbb482422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3ac403c0284427" /><Relationship Type="http://schemas.openxmlformats.org/officeDocument/2006/relationships/notesSlide" Target="/ppt/notesSlides/notesSlide9.xml" Id="R2ff126ae245e4a4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04870751ba46ae" /><Relationship Type="http://schemas.openxmlformats.org/officeDocument/2006/relationships/notesSlide" Target="/ppt/notesSlides/notesSlide10.xml" Id="Re0c1120c437e46d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71eb28a506479d" /><Relationship Type="http://schemas.openxmlformats.org/officeDocument/2006/relationships/image" Target="/ppt/media/image7.png" Id="R80e672a4338947cd" /><Relationship Type="http://schemas.openxmlformats.org/officeDocument/2006/relationships/notesSlide" Target="/ppt/notesSlides/notesSlide11.xml" Id="R6f0985d0cee443b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3e0954c83d475e" /><Relationship Type="http://schemas.openxmlformats.org/officeDocument/2006/relationships/image" Target="/ppt/media/image8.png" Id="R253ce87de0234a64" /><Relationship Type="http://schemas.openxmlformats.org/officeDocument/2006/relationships/notesSlide" Target="/ppt/notesSlides/notesSlide12.xml" Id="R999346446549415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b7a45059474256" /><Relationship Type="http://schemas.openxmlformats.org/officeDocument/2006/relationships/image" Target="/ppt/media/image9.png" Id="Ree32bf728a0c43ea" /><Relationship Type="http://schemas.openxmlformats.org/officeDocument/2006/relationships/notesSlide" Target="/ppt/notesSlides/notesSlide13.xml" Id="Ra380c16cb9c345b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fea75861494800" /><Relationship Type="http://schemas.openxmlformats.org/officeDocument/2006/relationships/image" Target="/ppt/media/image10.png" Id="R15635f24e64e42ea" /><Relationship Type="http://schemas.openxmlformats.org/officeDocument/2006/relationships/notesSlide" Target="/ppt/notesSlides/notesSlide14.xml" Id="R1b89d9293d2d4a3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B3BEC1-DCC0-4004-88FD-828A4EDF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D15469-3E00-49CB-B554-CF89D6F9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5F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5F8B"/>
                </a:solidFill>
                <a:latin typeface="Aptos"/>
                <a:ea typeface="Aptos"/>
                <a:cs typeface="Aptos"/>
              </a:rPr>
              <a:t>OPENING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C3068C-C635-4D91-AC54-9B4CD9F9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9D18AB-E58D-43CD-8D34-1CEB3A7F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企业 AI 部署偏好与治理机制：完整机器学习案例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C1CE86-5E26-42A8-82DE-B92ADAA5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3D7B11-E7F2-468C-BB46-CFBFD35C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885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public repository data, result tables, imagegen manifest, and QA reports.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021F40-0896-47D9-A125-9BAAEA2D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9C3BD9-AE76-4BE4-9812-CD89A52C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571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用官方数据、机器学习验证和证据约束 Agent，形成明天可展示的完整课程案例。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511e0070404d19"/>
          <a:stretch xmlns:a="http://schemas.openxmlformats.org/drawingml/2006/main"/>
        </p:blipFill>
        <p:spPr>
          <a:xfrm xmlns:a="http://schemas.openxmlformats.org/drawingml/2006/main">
            <a:off x="6496050" y="1450975"/>
            <a:ext cx="4762500" cy="3175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00E403-EBC7-4B7F-B6BC-5A3F7ADE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3842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569A8E-8EA2-49E7-A727-E62580FA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4591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12.77M official source rows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F72DED-B369-4E59-B1EC-CF41DAF5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4802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5DD6D2-2BEA-45A7-9C9A-BF5E8527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4591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5,814 Stage 2 modeling rows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FD1D4F-885A-4EAA-AB30-BB62E0C9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FD0705-7AEC-4025-B7D5-1EEE9F86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4591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0.7245 Stage 2 R2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54FCD2-AED1-4D16-A574-AA5B0B84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1762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defRPr>
            </a:pPr>
            <a:r>
              <a:rPr sz="2025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rPr>
              <a:t>12.77M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BDAE0F-9E1A-44DC-83E1-6ABF4D59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official source rows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6D4E94-64A3-489B-845F-7FDCCEAD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14900"/>
            <a:ext cx="1762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defRPr>
            </a:pPr>
            <a:r>
              <a:rPr sz="2025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rPr>
              <a:t>5,814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0B6C97-EDE0-4664-82DE-46AD0101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334000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modeling panel rows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9E41D9-6137-4F22-B0BE-D0A94B4E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914900"/>
            <a:ext cx="1762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defRPr>
            </a:pPr>
            <a:r>
              <a:rPr sz="2025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rPr>
              <a:t>0.7245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34B9F0-31DB-4CDC-8411-BCD296F3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334000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Stage 2 long-run R2</a:t>
            </a:r>
          </a:p>
        </p:txBody>
      </p:sp>
    </p:spTree>
    <p:extLst>
      <p:ext uri="{BB962C8B-B14F-4D97-AF65-F5344CB8AC3E}">
        <p14:creationId xmlns:p14="http://schemas.microsoft.com/office/powerpoint/2010/main" val="112147169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5BD691-0B4D-48A7-A7E5-9BEB23C1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A1E620-D0EF-4CCE-92E3-F8D79921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5F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5F8B"/>
                </a:solidFill>
                <a:latin typeface="Aptos"/>
                <a:ea typeface="Aptos"/>
                <a:cs typeface="Aptos"/>
              </a:rPr>
              <a:t>DATA UPGRADE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F28692-6F68-4ECC-8959-3E05C4AB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6DAF7B-627A-4E50-8B51-E21384F4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主证据从问卷/Kaggle 升级为官方数据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736F8C-32BB-427E-AE57-FC25DD3A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A8B537-6DE2-4A93-A274-0592AA14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885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public repository data, result tables, imagegen manifest, and QA reports.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D7C797-9AA6-4C00-A7F5-108D3B80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1EA770-F509-42B8-A002-71C9DF85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571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问卷和访谈解释机制，公开主模型必须依赖可追溯官方数据。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f4a86405204d00"/>
          <a:stretch xmlns:a="http://schemas.openxmlformats.org/drawingml/2006/main"/>
        </p:blipFill>
        <p:spPr>
          <a:xfrm xmlns:a="http://schemas.openxmlformats.org/drawingml/2006/main">
            <a:off x="6496050" y="1450975"/>
            <a:ext cx="4762500" cy="3175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36BBD9-8970-4276-95F8-E66AE8BA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3842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55AC55-66B0-4732-8B89-74807E2D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4591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Eurostat source manifests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39652E-676F-4956-A709-3190A669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4802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1E273F-FA1A-4136-B3F7-6EF12B59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4591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SHA256 and download records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E16167-A9BE-4D65-B974-95F961EB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C1501C-69A6-428E-95E1-5D58FCE3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4591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Questionnaire only as auxiliary evidence</a:t>
            </a:r>
          </a:p>
        </p:txBody>
      </p:sp>
    </p:spTree>
    <p:extLst>
      <p:ext uri="{BB962C8B-B14F-4D97-AF65-F5344CB8AC3E}">
        <p14:creationId xmlns:p14="http://schemas.microsoft.com/office/powerpoint/2010/main" val="98139944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906A96-9F3A-4A47-908E-1647B303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45430B-A00A-480F-B761-82538D24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5F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5F8B"/>
                </a:solidFill>
                <a:latin typeface="Aptos"/>
                <a:ea typeface="Aptos"/>
                <a:cs typeface="Aptos"/>
              </a:rPr>
              <a:t>LIFECYCLE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9D0B23-3E8B-465A-A7C7-48B29D5E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4F3498-C279-44EA-B289-2039523C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数据生命周期每一步都有仓库证据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7EA1D8-85B7-437D-8C1E-34AAA033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3C9EEF-9983-4558-A44E-A8BDAB51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885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public repository data, result tables, imagegen manifest, and QA reports.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9C3508-8D07-488D-B844-94CD0E56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6E5AD8-F26B-4BA6-A546-F480B206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571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从 source manifest 到 processed panel，再到 outputs 和 PPT，路径可复查。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e9126f326049d6"/>
          <a:stretch xmlns:a="http://schemas.openxmlformats.org/drawingml/2006/main"/>
        </p:blipFill>
        <p:spPr>
          <a:xfrm xmlns:a="http://schemas.openxmlformats.org/drawingml/2006/main">
            <a:off x="6496050" y="1450975"/>
            <a:ext cx="4762500" cy="3175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A2BDA5-261A-4A32-B5E3-BC308B4C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3842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5F9215-CEED-4EDA-B432-B0D58F62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4591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data/raw/manifest*.jsonl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0AEA79-BFCB-43FD-820F-BBF77FD0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4802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E4DEC8-B7C5-46E4-B6A9-A11C746A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4591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data/processed/*.csv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9C1698-1611-469B-A7FA-A0D6A688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4BF32B-9078-456F-B087-BAA7959F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4591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outputs/tables and reports</a:t>
            </a:r>
          </a:p>
        </p:txBody>
      </p:sp>
    </p:spTree>
    <p:extLst>
      <p:ext uri="{BB962C8B-B14F-4D97-AF65-F5344CB8AC3E}">
        <p14:creationId xmlns:p14="http://schemas.microsoft.com/office/powerpoint/2010/main" val="201074972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267064-CABC-4C65-AEA4-2E644920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118CA6-96C6-4B40-BEC3-6DB2F4C0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5F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5F8B"/>
                </a:solidFill>
                <a:latin typeface="Aptos"/>
                <a:ea typeface="Aptos"/>
                <a:cs typeface="Aptos"/>
              </a:rPr>
              <a:t>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EC5CFC-6414-43E3-A0B6-718E4F6E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548442-2486-4381-AF54-AE5A15B8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Stage 1 解释 SME 机制，Stage 2 验证行业/区域泛化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3C9BE5-5AEE-43A7-90FD-351DC2B8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5B8E89-3130-4FD6-A97C-5D1D1DD8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885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public repository data, result tables, imagegen manifest, and QA reports.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6532D8-14EF-4029-BFAC-B7DDDF37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6957DD-1146-4C80-9173-55F29BF2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571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两层数据边界分开讲，避免把 Stage 2 误说成 SME-only。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279925f435447f"/>
          <a:stretch xmlns:a="http://schemas.openxmlformats.org/drawingml/2006/main"/>
        </p:blipFill>
        <p:spPr>
          <a:xfrm xmlns:a="http://schemas.openxmlformats.org/drawingml/2006/main">
            <a:off x="6496050" y="1450975"/>
            <a:ext cx="4762500" cy="3175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0128E6-2EC1-4A91-B8C4-7FF7FAC9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3842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1F7CBC-9359-420C-9FF4-92D8F11A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4591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Stage 1: 553 / 544 / 36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57CAEF-0F5C-4026-91F0-9161CFFE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4802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60C760-D5F7-4631-A9E8-063E2BDD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4591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Stage 2: 5,814 / 36 / 50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899574-CE63-4089-9AD2-08ACC43A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FE5E1D-5A0E-45BC-8442-A9272B38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4591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2021, 2023-2025</a:t>
            </a:r>
          </a:p>
        </p:txBody>
      </p:sp>
    </p:spTree>
    <p:extLst>
      <p:ext uri="{BB962C8B-B14F-4D97-AF65-F5344CB8AC3E}">
        <p14:creationId xmlns:p14="http://schemas.microsoft.com/office/powerpoint/2010/main" val="45008324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7AB165-C6CA-49B3-9A3B-57359361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02FFBB-D937-49C3-B938-6234D20D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5F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5F8B"/>
                </a:solidFill>
                <a:latin typeface="Aptos"/>
                <a:ea typeface="Aptos"/>
                <a:cs typeface="Aptos"/>
              </a:rPr>
              <a:t>SCALE 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B99D8C-C16A-48D7-94C9-202C9EFA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6F8B22-ECC6-4AFC-A690-4B73C4E1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1277 万源数据行不是直接训练样本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807E03-4C6A-4266-A420-7378546E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99C4E7-E3BC-4F75-815D-BB6391B2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885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public repository data, result tables, imagegen manifest, and QA reports.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C89348-8722-4240-96CE-E056C2E7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34C9A4-4607-4050-9411-7140E3BD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571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官方源数据经过扫描、筛选和聚合，形成 5,814 行建模面板。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74940d2b274457"/>
          <a:stretch xmlns:a="http://schemas.openxmlformats.org/drawingml/2006/main"/>
        </p:blipFill>
        <p:spPr>
          <a:xfrm xmlns:a="http://schemas.openxmlformats.org/drawingml/2006/main">
            <a:off x="6496050" y="1929832"/>
            <a:ext cx="4762500" cy="2217287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AF0659-9B47-4B83-B8D9-5463800B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3842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5D950F-9F74-4F94-86DB-C1F0EA7B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4591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12,770,332 raw rows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30C63D-F39A-466F-834A-D19C7E5D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4802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B161C6-4C84-43D4-B9E2-034FAED3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4591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856,880 feature-filtered rows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661FC5-62C4-49CC-98D6-2922F5E4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9C3886-7D7E-4ABD-AB23-5CDBBD26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4591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5,814 modeling rows</a:t>
            </a:r>
          </a:p>
        </p:txBody>
      </p:sp>
    </p:spTree>
    <p:extLst>
      <p:ext uri="{BB962C8B-B14F-4D97-AF65-F5344CB8AC3E}">
        <p14:creationId xmlns:p14="http://schemas.microsoft.com/office/powerpoint/2010/main" val="182960127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C4181B-1E30-4279-A221-2B41CE82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2DDF33-E15A-4928-B45F-22DBFF19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5F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5F8B"/>
                </a:solidFill>
                <a:latin typeface="Aptos"/>
                <a:ea typeface="Aptos"/>
                <a:cs typeface="Aptos"/>
              </a:rPr>
              <a:t>ML TASK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7219E-1CA5-4C63-9A95-088BA3C0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78B374-B0B0-4DFC-B803-BCD6F1CE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监督学习任务围绕官方 AI 工作流指标展开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5BBEF0-BDB8-439A-A3B9-05883363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6CD265-A862-44C5-9294-D8297494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885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public repository data, result tables, imagegen manifest, and QA reports.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D269A8-0061-4E0C-8DB2-F622E7A1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2C8452-DD78-4148-B6EC-968AAC59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571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目标变量来自企业使用 AI 自动化工作流或辅助决策的官方指标。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d5cdd1626648e9"/>
          <a:stretch xmlns:a="http://schemas.openxmlformats.org/drawingml/2006/main"/>
        </p:blipFill>
        <p:spPr>
          <a:xfrm xmlns:a="http://schemas.openxmlformats.org/drawingml/2006/main">
            <a:off x="6496050" y="1450975"/>
            <a:ext cx="4762500" cy="3175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502B99-A297-48E4-9E1B-D5B0B82E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3842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823511-49B1-4043-AA46-5DD8920D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4591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Target: workflow automation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53394B-D17B-414B-9F32-02A348B1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4802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6E30E7-47B7-4F67-B1A2-BFC13C76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4591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Ridge and ExtraTrees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6653C5-85E8-470B-835C-7D8BA082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409832-DE8B-47C7-ACD8-6B392A83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4591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Leakage-controlled features</a:t>
            </a:r>
          </a:p>
        </p:txBody>
      </p:sp>
    </p:spTree>
    <p:extLst>
      <p:ext uri="{BB962C8B-B14F-4D97-AF65-F5344CB8AC3E}">
        <p14:creationId xmlns:p14="http://schemas.microsoft.com/office/powerpoint/2010/main" val="167380663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84420C-C4A8-42A3-9619-C1B47689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5C965C-F008-4C61-8B92-EBF669A8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5F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5F8B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3F0F6E-9CC3-4AE6-ACB1-627D77FC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AEA70C-E722-4023-91FC-6175FAD8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GroupKFold 按国家分组降低泄漏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2C22DC-B8E1-4199-B679-7141FA85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231B82-7C48-4E72-B8F9-341A71F8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885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public repository data, result tables, imagegen manifest, and QA reports.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4982B0-4E3E-4DBD-A2AB-615B1B41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BAA34D-222F-424D-A959-FD8B55BB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571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公开展示使用保守的分组验证，不用随机切分夸大结果。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0268DF-F928-45D3-9521-45F61155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3842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D5F706-26C4-4D3D-9B7D-621B9C29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4591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Stage 1 R2=0.8680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B8E6D0-9306-4200-9C58-7003AF59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4802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59CB06-8570-4F59-8974-E49623A6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4591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Stage 2 R2=0.7245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5CFDF9-6556-4E27-B1A5-FFC1339E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8E38A9-54F4-4091-A366-09A974E4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4591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Time holdout as boundary check</a:t>
            </a:r>
          </a:p>
        </p:txBody>
      </p:sp>
    </p:spTree>
    <p:extLst>
      <p:ext uri="{BB962C8B-B14F-4D97-AF65-F5344CB8AC3E}">
        <p14:creationId xmlns:p14="http://schemas.microsoft.com/office/powerpoint/2010/main" val="86978060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6B5363-D983-4DCA-BEE6-44C37007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7B0538-14F3-47EC-BCE6-0B344217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5F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5F8B"/>
                </a:solidFill>
                <a:latin typeface="Aptos"/>
                <a:ea typeface="Aptos"/>
                <a:cs typeface="Aptos"/>
              </a:rPr>
              <a:t>STAGE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FE2CEA-B1B4-4875-A124-677B69B8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829677-FB7C-4E5B-B30F-F3C72F29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Stage 1 Ridge 支撑 SME 机制解释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B86D31-E092-4C44-B77D-3D9A8238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DA875D-0825-4AFC-868F-D2C17212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885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public repository data, result tables, imagegen manifest, and QA reports.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1DB519-60DF-46A7-9DB3-7EBBEC6D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9CC929-BB22-4002-8509-3EC3C609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571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553 行面板、544 行可建模样本、36 个 geo，主指标 R2=0.8680。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8C5F40-85E1-49D1-91BE-7878A245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3842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1705EE-A1FD-4048-8F88-B99B8E3A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4591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Ridge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EC81DF-DDAF-41E8-9753-8F718D20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4802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DF5269-C01A-4915-83C2-71F9439A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4591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MAE=1.8342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C864BB-800D-43E1-90D3-496CC3A7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61AD2B-62A8-441C-A3A6-24229D59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4591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SME mechanism layer</a:t>
            </a:r>
          </a:p>
        </p:txBody>
      </p:sp>
    </p:spTree>
    <p:extLst>
      <p:ext uri="{BB962C8B-B14F-4D97-AF65-F5344CB8AC3E}">
        <p14:creationId xmlns:p14="http://schemas.microsoft.com/office/powerpoint/2010/main" val="200881006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6BFE0D-575A-437D-8AC9-D54C448B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512919-C61E-4037-97BF-A8AF9C70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5F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5F8B"/>
                </a:solidFill>
                <a:latin typeface="Aptos"/>
                <a:ea typeface="Aptos"/>
                <a:cs typeface="Aptos"/>
              </a:rPr>
              <a:t>STAGE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651D58-7CA9-4597-B601-95A3EC30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6F210-2E7C-4589-99D5-71855E90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Stage 2 ExtraTrees 支撑行业/区域外部验证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62B8A3-1493-4CD7-AB1A-9F50B0F7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3481F2-8C2C-453F-86A8-5ACC655A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885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public repository data, result tables, imagegen manifest, and QA reports.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02E9B6-A04E-495F-AC00-A680CBB8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978238-9902-4252-B869-EBC2B235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571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5,814 行、36 个 geo、50 个行业，长跑复算 R2=0.7245。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EADB57-6D4B-4640-9E89-055C5654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3842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FC04E8-7477-44E2-AD97-8E1BB9ED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4591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ExtraTrees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6015EF-2376-45FD-9566-59287A12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4802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CC27D2-468D-4676-8709-3AAF2B32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4591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MAE=1.9646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98FD7C-9DD7-4A3E-8F94-5BC9AF47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7AB516-88E1-4F60-AAC5-99AF0CAF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4591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External validation layer</a:t>
            </a:r>
          </a:p>
        </p:txBody>
      </p:sp>
    </p:spTree>
    <p:extLst>
      <p:ext uri="{BB962C8B-B14F-4D97-AF65-F5344CB8AC3E}">
        <p14:creationId xmlns:p14="http://schemas.microsoft.com/office/powerpoint/2010/main" val="15159230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1717C8-1B4A-44FA-B336-1A0D7EA9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5945D3-138C-47D7-A0AB-BA9B52F8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5F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5F8B"/>
                </a:solidFill>
                <a:latin typeface="Aptos"/>
                <a:ea typeface="Aptos"/>
                <a:cs typeface="Aptos"/>
              </a:rPr>
              <a:t>MECHANISM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24F861-E5E8-4969-8571-6BD9CAE6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99B7E0-81C2-44CB-8173-F69EB4C2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特征重要性服务机制解释，不写成因果证明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DA28C5-6CEA-4EBD-9999-79AC97C1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2E2D77-CF19-4024-8DAF-B17DD9AB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885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public repository data, result tables, imagegen manifest, and QA reports.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8EC2B3-C6E6-49A4-BB48-C0AC576C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421409-FA7A-465E-BDE5-F01282C3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571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数字基础、部署准备度和治理相关变量进入解释链。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B050D9-7FA0-4EC6-B65B-98E17D71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3842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CBDC27-788D-4C55-A348-01BD7A70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4591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Feature importance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91CAD3-C59C-4CC6-9EC3-F3CB07CD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4802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483372-0994-4F7A-92F8-25A20860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4591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Deployment readiness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01FB87-8DC2-4B88-AF5E-169885E2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D807CF-F539-4A2C-B0FA-A3A080E9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4591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No causal proof claim</a:t>
            </a:r>
          </a:p>
        </p:txBody>
      </p:sp>
    </p:spTree>
    <p:extLst>
      <p:ext uri="{BB962C8B-B14F-4D97-AF65-F5344CB8AC3E}">
        <p14:creationId xmlns:p14="http://schemas.microsoft.com/office/powerpoint/2010/main" val="160479561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446E1C-18F1-4CC6-8C0F-184702FE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0BDF7F-146A-49FE-BA4D-83741228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5F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5F8B"/>
                </a:solidFill>
                <a:latin typeface="Aptos"/>
                <a:ea typeface="Aptos"/>
                <a:cs typeface="Aptos"/>
              </a:rPr>
              <a:t>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10E089-2F6A-49AE-8030-9301FBC3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222BD2-8036-4293-9E95-D071E3A6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Agent 原型把证据约束转成可演示工具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936C05-E288-4837-B7F8-1135C5B9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85D0D4-F2E5-4DD4-B22A-0BB19002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885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public repository data, result tables, imagegen manifest, and QA reports.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85A97E-1624-441D-B6C5-5CFB7C22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DE9EEA-6135-4DC6-9528-040EC900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571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无模型二进制时返回 unavailable 和复现路径，不伪造预测。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e672a4338947cd"/>
          <a:stretch xmlns:a="http://schemas.openxmlformats.org/drawingml/2006/main"/>
        </p:blipFill>
        <p:spPr>
          <a:xfrm xmlns:a="http://schemas.openxmlformats.org/drawingml/2006/main">
            <a:off x="6496050" y="1450975"/>
            <a:ext cx="4762500" cy="3175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AC157D-22EA-4B2C-9C4B-588B7AC0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3842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5BB16F-2C9F-4C18-AE2F-A3F87143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4591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Evidence-bound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3EA965-3A25-4183-B682-55F29419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4802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CA8899-996B-4951-B288-7B0F9150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4591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Safe unavailable fallback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DA7439-A5FB-4729-8D32-C6A1B878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92B76A-8C45-4323-8B71-A1261465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4591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8 unit tests pass</a:t>
            </a:r>
          </a:p>
        </p:txBody>
      </p:sp>
    </p:spTree>
    <p:extLst>
      <p:ext uri="{BB962C8B-B14F-4D97-AF65-F5344CB8AC3E}">
        <p14:creationId xmlns:p14="http://schemas.microsoft.com/office/powerpoint/2010/main" val="151680403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CE3B63-CED5-4982-AA62-16334C5D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69E771-CC6F-4FE2-BCA3-A6F7D13A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5F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5F8B"/>
                </a:solidFill>
                <a:latin typeface="Aptos"/>
                <a:ea typeface="Aptos"/>
                <a:cs typeface="Aptos"/>
              </a:rPr>
              <a:t>GITHUB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5A872A-9378-4DBD-AD73-4AD5ABE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103180-0025-4BF6-B13C-1B204AD0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公开仓库只保留课程复现材料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6567CA-0A2B-47F8-A3C3-AAEEF973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183117-FBEC-4D6D-87E7-F8F70436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885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public repository data, result tables, imagegen manifest, and QA reports.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01012B-84CA-4833-B5AD-E8FCDAA5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6E822E-9DB7-4CF8-99FF-2C1CBB7F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571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论文、问卷/访谈隐私、模型二进制和认证信息不进入公开仓库。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3ce87de0234a64"/>
          <a:stretch xmlns:a="http://schemas.openxmlformats.org/drawingml/2006/main"/>
        </p:blipFill>
        <p:spPr>
          <a:xfrm xmlns:a="http://schemas.openxmlformats.org/drawingml/2006/main">
            <a:off x="6496050" y="1450975"/>
            <a:ext cx="4762500" cy="3175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465172-47E0-454B-89AE-BCF68BAC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3842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0D309B-B5AE-4016-BB23-4792AEF5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4591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Public: data/code/outputs/PPT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854D01-2C87-4FB2-8EBB-55C31F5F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4802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184648-2263-483E-AAD0-58B59304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4591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Private: manuscript/questionnaire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58ACE6-C1DE-4812-842F-CF8325D3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932472-7395-4141-B9E8-87576153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4591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No joblib / pkl / env</a:t>
            </a:r>
          </a:p>
        </p:txBody>
      </p:sp>
    </p:spTree>
    <p:extLst>
      <p:ext uri="{BB962C8B-B14F-4D97-AF65-F5344CB8AC3E}">
        <p14:creationId xmlns:p14="http://schemas.microsoft.com/office/powerpoint/2010/main" val="16768616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9841E4-DF01-4C53-AB7C-EBEB8201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674985-3304-4AF2-B81E-4B563B5B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5F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5F8B"/>
                </a:solidFill>
                <a:latin typeface="Aptos"/>
                <a:ea typeface="Aptos"/>
                <a:cs typeface="Aptos"/>
              </a:rPr>
              <a:t>LIMITS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999B0E-F651-4F3D-B3EE-FCB1EC1F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634983-5A24-4A35-836C-0C3E5104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边界说清楚，比把结论写满更专业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86454E-6F6B-4C3C-9E94-6609D447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CD0542-4561-4860-B452-865ED8A4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885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public repository data, result tables, imagegen manifest, and QA reports.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ECFD8E-650C-420C-AFB6-BEC0D0FC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77BBFD-5F0D-45B6-B014-57538A9B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571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不写千万样本直接训练、不写机器学习证明因果、不写 Stage 2 SME-only。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32bf728a0c43ea"/>
          <a:stretch xmlns:a="http://schemas.openxmlformats.org/drawingml/2006/main"/>
        </p:blipFill>
        <p:spPr>
          <a:xfrm xmlns:a="http://schemas.openxmlformats.org/drawingml/2006/main">
            <a:off x="6496050" y="1450975"/>
            <a:ext cx="4762500" cy="3175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689AF5-C7EB-4AFB-940B-B2FE2BDE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3842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486C4C-1798-4C1C-9E7E-12D6A73C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4591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Correct source-chain wording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C66A3E-B724-4BD9-A57D-0F260CDF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4802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624BC7-BB77-4379-8CE2-B6D99A62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4591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No causal overclaim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CF895B-6E51-4239-AFB8-5B762C49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6800BD-A3C6-4455-88EE-6D22DD98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4591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Questionnaire is aggregate only</a:t>
            </a:r>
          </a:p>
        </p:txBody>
      </p:sp>
    </p:spTree>
    <p:extLst>
      <p:ext uri="{BB962C8B-B14F-4D97-AF65-F5344CB8AC3E}">
        <p14:creationId xmlns:p14="http://schemas.microsoft.com/office/powerpoint/2010/main" val="102625020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4AEC1D-B2F8-4985-A79A-9706E36F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70C60C-835A-4344-A97D-60C1FDF1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5F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5F8B"/>
                </a:solidFill>
                <a:latin typeface="Aptos"/>
                <a:ea typeface="Aptos"/>
                <a:cs typeface="Aptos"/>
              </a:rPr>
              <a:t>CLOSE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4402C8-C220-420C-8264-9D10736A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037DA5-871D-47AD-97CC-5D005C06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真实数据、严格验证、可复现展示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568BB9-1C83-4FB0-9EDF-BDB1D9F9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EFD3EB-C233-4244-944B-6A5F0497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885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public repository data, result tables, imagegen manifest, and QA reports.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528C9D-142F-4C8F-ABD4-A46EC57E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BA2BB6-9C5B-44EB-BBF6-9CEFBF15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571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这套案例能体现机器学习课程的数据治理、模型训练、解释和工程复现。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635f24e64e42ea"/>
          <a:stretch xmlns:a="http://schemas.openxmlformats.org/drawingml/2006/main"/>
        </p:blipFill>
        <p:spPr>
          <a:xfrm xmlns:a="http://schemas.openxmlformats.org/drawingml/2006/main">
            <a:off x="6496050" y="1450975"/>
            <a:ext cx="4762500" cy="3175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0E4263-ED41-4486-A17F-3BE776F4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3842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D94EFF-44C1-4CE7-B8E8-E34D13D8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4591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Final PPTX and PDF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3B451B-0758-4010-ABAD-CFED480C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4802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D41458-4B25-463E-B2B3-D7E3601C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4591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14 previews + contact sheet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6289ED-A7A9-4959-A569-6DCCF938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E3F319-EEA0-446C-A1B0-D8268F44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4591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Evidence map and QA</a:t>
            </a:r>
          </a:p>
        </p:txBody>
      </p:sp>
    </p:spTree>
    <p:extLst>
      <p:ext uri="{BB962C8B-B14F-4D97-AF65-F5344CB8AC3E}">
        <p14:creationId xmlns:p14="http://schemas.microsoft.com/office/powerpoint/2010/main" val="7383857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2026-05-24T15:34:31.7700000Z</dcterms:created>
  <dcterms:modified xsi:type="dcterms:W3CDTF">2026-05-24T15:34:31.7700000Z</dcterms:modified>
</coreProperties>
</file>