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cca9dc65574400" /><Relationship Type="http://schemas.openxmlformats.org/officeDocument/2006/relationships/extended-properties" Target="/docProps/app.xml" Id="R964d5cfb53c143ab" /><Relationship Type="http://schemas.openxmlformats.org/officeDocument/2006/relationships/officeDocument" Target="/ppt/presentation.xml" Id="Read29306e8db4b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ebe90dd32e4b1f"/>
  </p:sldMasterIdLst>
  <p:notesMasterIdLst>
    <p:notesMasterId xmlns:r="http://schemas.openxmlformats.org/officeDocument/2006/relationships" r:id="Raba344ceeddd40ca"/>
  </p:notesMasterIdLst>
  <p:sldIdLst>
    <p:sldId xmlns:r="http://schemas.openxmlformats.org/officeDocument/2006/relationships" id="256" r:id="Rd78aa70bf7954c19"/>
    <p:sldId xmlns:r="http://schemas.openxmlformats.org/officeDocument/2006/relationships" id="257" r:id="R9b360171cd984e62"/>
    <p:sldId xmlns:r="http://schemas.openxmlformats.org/officeDocument/2006/relationships" id="258" r:id="Rc83362f8b7ef4633"/>
    <p:sldId xmlns:r="http://schemas.openxmlformats.org/officeDocument/2006/relationships" id="259" r:id="Rff36fd1a1f1645b4"/>
    <p:sldId xmlns:r="http://schemas.openxmlformats.org/officeDocument/2006/relationships" id="260" r:id="R43009816c9c442b6"/>
    <p:sldId xmlns:r="http://schemas.openxmlformats.org/officeDocument/2006/relationships" id="261" r:id="R436d3bce78ef4d79"/>
    <p:sldId xmlns:r="http://schemas.openxmlformats.org/officeDocument/2006/relationships" id="262" r:id="R31d966e22e584fce"/>
    <p:sldId xmlns:r="http://schemas.openxmlformats.org/officeDocument/2006/relationships" id="263" r:id="R96b5f1ccc3d34db2"/>
    <p:sldId xmlns:r="http://schemas.openxmlformats.org/officeDocument/2006/relationships" id="264" r:id="R350f2ae9b9584beb"/>
    <p:sldId xmlns:r="http://schemas.openxmlformats.org/officeDocument/2006/relationships" id="265" r:id="Rc06c5376f5ba4c5e"/>
    <p:sldId xmlns:r="http://schemas.openxmlformats.org/officeDocument/2006/relationships" id="266" r:id="Ra74544560b8d41ad"/>
    <p:sldId xmlns:r="http://schemas.openxmlformats.org/officeDocument/2006/relationships" id="267" r:id="R30338602d4f841d1"/>
    <p:sldId xmlns:r="http://schemas.openxmlformats.org/officeDocument/2006/relationships" id="268" r:id="Rf92ca7ea91a646a6"/>
    <p:sldId xmlns:r="http://schemas.openxmlformats.org/officeDocument/2006/relationships" id="269" r:id="Ree871dd3be4348b6"/>
    <p:sldId xmlns:r="http://schemas.openxmlformats.org/officeDocument/2006/relationships" id="270" r:id="Rce29ce78f9ca45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be90dd32e4b1f" /><Relationship Type="http://schemas.openxmlformats.org/officeDocument/2006/relationships/theme" Target="/ppt/theme/theme1.xml" Id="R0a13e570ff9644a7" /><Relationship Type="http://schemas.openxmlformats.org/officeDocument/2006/relationships/notesMaster" Target="/ppt/notesMasters/notesMaster1.xml" Id="Raba344ceeddd40ca" /><Relationship Type="http://schemas.openxmlformats.org/officeDocument/2006/relationships/presProps" Target="/ppt/presProps.xml" Id="Re056d7778c3c425a" /><Relationship Type="http://schemas.openxmlformats.org/officeDocument/2006/relationships/viewProps" Target="/ppt/viewProps.xml" Id="R3cc49c1fee0240ae" /><Relationship Type="http://schemas.openxmlformats.org/officeDocument/2006/relationships/tableStyles" Target="/ppt/tableStyles.xml" Id="R84128f301e294853" /><Relationship Type="http://schemas.openxmlformats.org/officeDocument/2006/relationships/slide" Target="/ppt/slides/slide1.xml" Id="Rd78aa70bf7954c19" /><Relationship Type="http://schemas.openxmlformats.org/officeDocument/2006/relationships/slide" Target="/ppt/slides/slide2.xml" Id="R9b360171cd984e62" /><Relationship Type="http://schemas.openxmlformats.org/officeDocument/2006/relationships/slide" Target="/ppt/slides/slide3.xml" Id="Rc83362f8b7ef4633" /><Relationship Type="http://schemas.openxmlformats.org/officeDocument/2006/relationships/slide" Target="/ppt/slides/slide4.xml" Id="Rff36fd1a1f1645b4" /><Relationship Type="http://schemas.openxmlformats.org/officeDocument/2006/relationships/slide" Target="/ppt/slides/slide5.xml" Id="R43009816c9c442b6" /><Relationship Type="http://schemas.openxmlformats.org/officeDocument/2006/relationships/slide" Target="/ppt/slides/slide6.xml" Id="R436d3bce78ef4d79" /><Relationship Type="http://schemas.openxmlformats.org/officeDocument/2006/relationships/slide" Target="/ppt/slides/slide7.xml" Id="R31d966e22e584fce" /><Relationship Type="http://schemas.openxmlformats.org/officeDocument/2006/relationships/slide" Target="/ppt/slides/slide8.xml" Id="R96b5f1ccc3d34db2" /><Relationship Type="http://schemas.openxmlformats.org/officeDocument/2006/relationships/slide" Target="/ppt/slides/slide9.xml" Id="R350f2ae9b9584beb" /><Relationship Type="http://schemas.openxmlformats.org/officeDocument/2006/relationships/slide" Target="/ppt/slides/slide10.xml" Id="Rc06c5376f5ba4c5e" /><Relationship Type="http://schemas.openxmlformats.org/officeDocument/2006/relationships/slide" Target="/ppt/slides/slide11.xml" Id="Ra74544560b8d41ad" /><Relationship Type="http://schemas.openxmlformats.org/officeDocument/2006/relationships/slide" Target="/ppt/slides/slide12.xml" Id="R30338602d4f841d1" /><Relationship Type="http://schemas.openxmlformats.org/officeDocument/2006/relationships/slide" Target="/ppt/slides/slide13.xml" Id="Rf92ca7ea91a646a6" /><Relationship Type="http://schemas.openxmlformats.org/officeDocument/2006/relationships/slide" Target="/ppt/slides/slide14.xml" Id="Ree871dd3be4348b6" /><Relationship Type="http://schemas.openxmlformats.org/officeDocument/2006/relationships/slide" Target="/ppt/slides/slide15.xml" Id="Rce29ce78f9ca45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934e6a276414a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7cb2039ac2493c" /><Relationship Type="http://schemas.openxmlformats.org/officeDocument/2006/relationships/notesMaster" Target="/ppt/notesMasters/notesMaster1.xml" Id="R3cebffc59ad444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f91aefa2034ab2" /><Relationship Type="http://schemas.openxmlformats.org/officeDocument/2006/relationships/notesMaster" Target="/ppt/notesMasters/notesMaster1.xml" Id="R86578b8a8fa840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120240b3794b01" /><Relationship Type="http://schemas.openxmlformats.org/officeDocument/2006/relationships/notesMaster" Target="/ppt/notesMasters/notesMaster1.xml" Id="R2f90a07bab4c46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8afb1701d7485a" /><Relationship Type="http://schemas.openxmlformats.org/officeDocument/2006/relationships/notesMaster" Target="/ppt/notesMasters/notesMaster1.xml" Id="Rb9eeebea30af46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f035e1d84446da" /><Relationship Type="http://schemas.openxmlformats.org/officeDocument/2006/relationships/notesMaster" Target="/ppt/notesMasters/notesMaster1.xml" Id="R71b9141f1dc44f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00eb86ec4c4de3" /><Relationship Type="http://schemas.openxmlformats.org/officeDocument/2006/relationships/notesMaster" Target="/ppt/notesMasters/notesMaster1.xml" Id="R5450618c921749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6a8ea1e4754e52" /><Relationship Type="http://schemas.openxmlformats.org/officeDocument/2006/relationships/notesMaster" Target="/ppt/notesMasters/notesMaster1.xml" Id="Rcbda4c96602a4e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67015e1a2247a2" /><Relationship Type="http://schemas.openxmlformats.org/officeDocument/2006/relationships/notesMaster" Target="/ppt/notesMasters/notesMaster1.xml" Id="R1deedac146a449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d68886b30f4b84" /><Relationship Type="http://schemas.openxmlformats.org/officeDocument/2006/relationships/notesMaster" Target="/ppt/notesMasters/notesMaster1.xml" Id="Rfe01257e9b5f41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cf67f9c5a64fb0" /><Relationship Type="http://schemas.openxmlformats.org/officeDocument/2006/relationships/notesMaster" Target="/ppt/notesMasters/notesMaster1.xml" Id="Ra8389371b02542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ea53c5eae545a9" /><Relationship Type="http://schemas.openxmlformats.org/officeDocument/2006/relationships/notesMaster" Target="/ppt/notesMasters/notesMaster1.xml" Id="R69f47ba2623c48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94a95aed4446f6" /><Relationship Type="http://schemas.openxmlformats.org/officeDocument/2006/relationships/notesMaster" Target="/ppt/notesMasters/notesMaster1.xml" Id="Rcc8d76c435de4a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61f8da085d498e" /><Relationship Type="http://schemas.openxmlformats.org/officeDocument/2006/relationships/notesMaster" Target="/ppt/notesMasters/notesMaster1.xml" Id="R75d84a34095b44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8d16f7691241c5" /><Relationship Type="http://schemas.openxmlformats.org/officeDocument/2006/relationships/notesMaster" Target="/ppt/notesMasters/notesMaster1.xml" Id="R7e0774a6590a4f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92507a0b6ff4fe5" /><Relationship Type="http://schemas.openxmlformats.org/officeDocument/2006/relationships/notesMaster" Target="/ppt/notesMasters/notesMaster1.xml" Id="Rf7ff8c0a6ef240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7742d3aec4c4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3497d4fef144c09" /><Relationship Type="http://schemas.openxmlformats.org/officeDocument/2006/relationships/slideLayout" Target="/ppt/slideLayouts/slideLayout2.xml" Id="R7d29e9c5b4d847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29e9c5b4d847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ddab51b7794103" /><Relationship Type="http://schemas.openxmlformats.org/officeDocument/2006/relationships/image" Target="/ppt/media/image.png" Id="R04b081b7e4e44c8d" /><Relationship Type="http://schemas.openxmlformats.org/officeDocument/2006/relationships/notesSlide" Target="/ppt/notesSlides/notesSlide1.xml" Id="Ra46fe6022f164b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65fc9eee5140dc" /><Relationship Type="http://schemas.openxmlformats.org/officeDocument/2006/relationships/image" Target="/ppt/media/image2.png" Id="R9d44552569be43ff" /><Relationship Type="http://schemas.openxmlformats.org/officeDocument/2006/relationships/notesSlide" Target="/ppt/notesSlides/notesSlide2.xml" Id="Rbfd8264edf344d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e8214644d84ca6" /><Relationship Type="http://schemas.openxmlformats.org/officeDocument/2006/relationships/notesSlide" Target="/ppt/notesSlides/notesSlide3.xml" Id="R5fd0728d05e246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c9903e4e174db9" /><Relationship Type="http://schemas.openxmlformats.org/officeDocument/2006/relationships/notesSlide" Target="/ppt/notesSlides/notesSlide4.xml" Id="R2afba24ad1ea46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881454b0be4e3f" /><Relationship Type="http://schemas.openxmlformats.org/officeDocument/2006/relationships/image" Target="/ppt/media/image3.png" Id="R587d0e205bc54b1c" /><Relationship Type="http://schemas.openxmlformats.org/officeDocument/2006/relationships/image" Target="/ppt/media/image4.png" Id="Rfca49271a2c347d4" /><Relationship Type="http://schemas.openxmlformats.org/officeDocument/2006/relationships/notesSlide" Target="/ppt/notesSlides/notesSlide5.xml" Id="R3f885b5a694645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828a3ebb0a4594" /><Relationship Type="http://schemas.openxmlformats.org/officeDocument/2006/relationships/image" Target="/ppt/media/image5.png" Id="R5362bda09eaf4e3f" /><Relationship Type="http://schemas.openxmlformats.org/officeDocument/2006/relationships/notesSlide" Target="/ppt/notesSlides/notesSlide6.xml" Id="R29cfef635ce447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1435156fd143db" /><Relationship Type="http://schemas.openxmlformats.org/officeDocument/2006/relationships/notesSlide" Target="/ppt/notesSlides/notesSlide7.xml" Id="R4487bb058c1348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a2d99e03f94ee6" /><Relationship Type="http://schemas.openxmlformats.org/officeDocument/2006/relationships/image" Target="/ppt/media/image6.png" Id="R5e4023a3e3ee4e84" /><Relationship Type="http://schemas.openxmlformats.org/officeDocument/2006/relationships/notesSlide" Target="/ppt/notesSlides/notesSlide8.xml" Id="R57736afd7b6b49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6a9828f2c947bd" /><Relationship Type="http://schemas.openxmlformats.org/officeDocument/2006/relationships/image" Target="/ppt/media/image7.png" Id="R85f21dd04f95488f" /><Relationship Type="http://schemas.openxmlformats.org/officeDocument/2006/relationships/notesSlide" Target="/ppt/notesSlides/notesSlide9.xml" Id="R0374fd5d27d34e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a9da1faab248fe" /><Relationship Type="http://schemas.openxmlformats.org/officeDocument/2006/relationships/image" Target="/ppt/media/image8.png" Id="Rcf0e54e617b44f1e" /><Relationship Type="http://schemas.openxmlformats.org/officeDocument/2006/relationships/notesSlide" Target="/ppt/notesSlides/notesSlide10.xml" Id="R6ead6fba56c644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5d2c0a35914b43" /><Relationship Type="http://schemas.openxmlformats.org/officeDocument/2006/relationships/image" Target="/ppt/media/image9.png" Id="Ra727edd0af824002" /><Relationship Type="http://schemas.openxmlformats.org/officeDocument/2006/relationships/notesSlide" Target="/ppt/notesSlides/notesSlide11.xml" Id="R7a14e6cb9d0249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66adab04954343" /><Relationship Type="http://schemas.openxmlformats.org/officeDocument/2006/relationships/image" Target="/ppt/media/image10.png" Id="R4bf8ce0dfbc944a7" /><Relationship Type="http://schemas.openxmlformats.org/officeDocument/2006/relationships/notesSlide" Target="/ppt/notesSlides/notesSlide12.xml" Id="R60da22c5c9a441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cb7c0336c34494" /><Relationship Type="http://schemas.openxmlformats.org/officeDocument/2006/relationships/image" Target="/ppt/media/image11.png" Id="R53d95f0c77924b10" /><Relationship Type="http://schemas.openxmlformats.org/officeDocument/2006/relationships/notesSlide" Target="/ppt/notesSlides/notesSlide13.xml" Id="R2c4d14dc5ff249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20e6e6863c4f41" /><Relationship Type="http://schemas.openxmlformats.org/officeDocument/2006/relationships/image" Target="/ppt/media/image12.png" Id="R296636a701084612" /><Relationship Type="http://schemas.openxmlformats.org/officeDocument/2006/relationships/image" Target="/ppt/media/image.jpeg" Id="R608fa131043647ae" /><Relationship Type="http://schemas.openxmlformats.org/officeDocument/2006/relationships/notesSlide" Target="/ppt/notesSlides/notesSlide14.xml" Id="Rcd4f1e77cd6846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7f6bf840164548" /><Relationship Type="http://schemas.openxmlformats.org/officeDocument/2006/relationships/notesSlide" Target="/ppt/notesSlides/notesSlide15.xml" Id="R825f9c92ae864d4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F86CD2-50FA-41B7-B211-1C8A9DE0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C2B4A-B6E8-4665-A21F-7E5DD418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RESEARCH DEFENSE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E90F8-C096-4FFB-B013-04333E5F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5ABA3-C983-4AE4-8E8B-8C48E5C9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590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流程自动化采纳不是技术选择，而是中小企业的组织决策。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2BE3A-2F0F-480C-9D58-AC321D63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基于效率需求、安全顾虑与部署偏好的实证分析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081b7e4e44c8d"/>
          <a:stretch xmlns:a="http://schemas.openxmlformats.org/drawingml/2006/main"/>
        </p:blipFill>
        <p:spPr>
          <a:xfrm xmlns:a="http://schemas.openxmlformats.org/drawingml/2006/main">
            <a:off x="7219950" y="1265039"/>
            <a:ext cx="4171950" cy="23467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76834-A17D-459E-AFCE-CDC53382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defRPr>
            </a:pPr>
            <a:r>
              <a:rPr sz="21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rPr>
              <a:t>12.77M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3EAA9-EB12-4BAE-AAEB-EDD63A80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Stage 2 官方行数画像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B7ACF-BB60-4A40-AB42-5C95DBDF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243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defRPr>
            </a:pPr>
            <a:r>
              <a:rPr sz="21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rPr>
              <a:t>0.850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BF459-2D8D-4143-894E-1BBF6B56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815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SME GroupKFold R²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453C6-9E4A-49FF-B7F5-B8A0E87E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243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defRPr>
            </a:pPr>
            <a:r>
              <a:rPr sz="21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rPr>
              <a:t>0.724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B0D69-78A5-452D-954A-0ADEA37A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8155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GE10 外部验证 R²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87FD2-05F5-401C-81A8-4A27BF08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Official Eurostat data · SHA256 validation · GroupKFold by country · NVIDIA A10 MLP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39171-3033-448A-B4D0-D7A932B8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5FDA6-9E00-4888-B206-8D30005D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Data: Eurostat SDMX-CSV; Evidence tables: outputs/tables/enhanced_*.csv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3BFF6-C750-497C-95AC-07E653B7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348692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A80A00-2339-4278-86F3-9735B0A1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C3A93-BD85-42A5-9F9A-777EF7D3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THE REAL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70534-F662-40F9-9996-1E6E93F3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5BD02-4D98-4522-A4E4-62EC3476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中小企业想要自动化，但真正约束采纳的是风险承受能力。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FC65F-0E8A-49FF-94DC-C9281EA5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BC1D4-A357-4842-8645-82D7312C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Eurostat official SDMX-CSV; reproducible Python pipeline; A10 GPU baseline.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E44C1-8FC6-472F-814C-BDDA7CA6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4552569be43ff"/>
          <a:stretch xmlns:a="http://schemas.openxmlformats.org/drawingml/2006/main"/>
        </p:blipFill>
        <p:spPr>
          <a:xfrm xmlns:a="http://schemas.openxmlformats.org/drawingml/2006/main">
            <a:off x="685800" y="1749028"/>
            <a:ext cx="5905500" cy="332184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F82F8-7263-43EE-A54D-92FA407F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764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4DDFA-D275-4ED1-87B2-4924A04F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人工成本和重复性流程推动企业寻找自动化工具。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473BB-AA58-4AC6-BF18-C04DEFD0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8127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D2D61-3CED-4FBC-A1C9-6BBBC219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1460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数据安全、权限边界和治理责任会减缓采纳。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C232C-1955-46F2-88A6-EAF1101C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861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6C27E-F452-4C76-B55E-532DF69B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部署准备度决定需求能否转化成实际使用。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00333-F2E9-45F9-A23B-732160DE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00500"/>
            <a:ext cx="3638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the chart shows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F241A-C1B0-4F4E-9600-01FBC7A1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29100"/>
            <a:ext cx="3638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采纳不是单变量决策，而是效率、风险和部署能力的共同结果。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789A6-D05F-4ED8-86A5-C0694238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10100"/>
            <a:ext cx="363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DB499B-0DD6-416D-92F6-90885D24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3638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0F4FA-096F-4D11-B563-EABFB8BA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14900"/>
            <a:ext cx="3638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同一种 AI 功能，在不同安全约束下会导向不同部署架构。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EBD85-BCA1-466B-BBBC-20D62C0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95900"/>
            <a:ext cx="363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3B233-90C1-485B-B566-3E26CAB1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72100"/>
            <a:ext cx="3638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Decision it supports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6FF18F-FD7C-41E0-AC71-374E6034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00700"/>
            <a:ext cx="3638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先识别企业风险-效率位置，再推荐 SaaS、API、本地或混合部署。</a:t>
            </a:r>
          </a:p>
        </p:txBody>
      </p:sp>
    </p:spTree>
    <p:extLst>
      <p:ext uri="{BB962C8B-B14F-4D97-AF65-F5344CB8AC3E}">
        <p14:creationId xmlns:p14="http://schemas.microsoft.com/office/powerpoint/2010/main" val="11355245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3C68D5-8D3A-4510-8391-28C98973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E29EF-5D34-406E-A733-BFD274AD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68103-C20A-4D9D-8892-8DE4CF01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9A7E0-DA68-49F1-9A6E-4AF46C36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本研究回答：什么条件下，中小企业会采纳 AI 流程自动化？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EE179-7A87-44A6-B7E6-7AE3CE44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E8E67-C9FF-4EFC-8145-2F64F2EC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Eurostat official SDMX-CSV; reproducible Python pipeline; A10 GPU baseline.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879A0-F8CC-46BC-B8A2-74949CEB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BE39E-B377-4F33-824C-2E253A25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BFE38-D904-42ED-8AD5-810286A8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效率需求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1BBF3-C43E-4FD0-B020-54F35A35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人工成本 · 重复流程 · 自动化压力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38739-2E77-4F7B-9F7C-99FB5B89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66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8483F-C801-4AFB-9E38-C338D68E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CAEC9-6201-43E8-8BF9-9284C7B9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7170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安全顾虑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9870D-BAFF-4A42-83B2-F3BC62D2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90800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数据边界 · 权限控制 · 治理责任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323CE-75E2-445A-979C-1178CA9B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66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9C0666-E1B6-4DCA-8714-66D08AD6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BDF36-A0BF-4F38-A3E4-1A434336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部署准备度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36555-45F6-48A7-9D82-3BF34CA1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90800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云能力 · API 集成 · 本地化能力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9AB4E-57B3-442C-933A-BC819BAC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71900"/>
            <a:ext cx="754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69EDC-35E6-45B2-B0F0-F2C59A9C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38600"/>
            <a:ext cx="502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AI workflow automation adoption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10E5B7-9D0C-44BD-909D-1009AB81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19650"/>
            <a:ext cx="643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目标变量来自 Eurostat：企业使用 AI 自动化流程或辅助决策的比例。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0BAC74-AC42-444A-B085-112783A9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34000"/>
            <a:ext cx="279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the chart shows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9907F5-0CEE-4677-A4C3-0BF0B399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00700"/>
            <a:ext cx="279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因变量直接对应“流程自动化/辅助决策”，不是泛泛的 AI 热度。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1CF9F4-1A40-44DA-BB63-29E88A53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53721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0B718-ED00-429C-AFFE-032B9FBD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5334000"/>
            <a:ext cx="279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E66EDD-1068-477C-B784-F728C64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5600700"/>
            <a:ext cx="279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机制框架把效率、安全和部署准备度拆开，保证模型结果可解释。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7DB705-7098-4D87-9FF9-6429A3D5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925" y="53721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EF3052-47B3-4DF3-BE1B-BA6B62FC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5334000"/>
            <a:ext cx="279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Decision it supports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63B507-77AA-4851-8340-D3F76CBA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5600700"/>
            <a:ext cx="279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后续客户画像和部署建议都从这个机制框架推出。</a:t>
            </a:r>
          </a:p>
        </p:txBody>
      </p:sp>
    </p:spTree>
    <p:extLst>
      <p:ext uri="{BB962C8B-B14F-4D97-AF65-F5344CB8AC3E}">
        <p14:creationId xmlns:p14="http://schemas.microsoft.com/office/powerpoint/2010/main" val="878620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059EC4-C5E2-4BEA-9D36-45A1D57E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1220E-D135-48BF-882E-07E29ED3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DATA CREDIBILITY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5B650-7E0F-4A24-9600-34300DB7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5CF94-0721-4BE9-878E-5827BA8C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数据可信度来自官方来源、哈希校验和可复现实验流程。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85AB6-F5E5-4C5B-9D79-AF49C033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D831D-0C19-483D-BBB5-3F9DB175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Sources: Eurostat SDMX API, manifest.jsonl, manifest_stage2.jsonl; BTOS 403 excluded.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5499E-E0D1-44C9-953A-2C9434D7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8DC9D-BCED-4874-A05C-A6BA403D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A6D88-2507-4F69-ADA0-4D4BFCAD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907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Research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F8143-8CFF-4086-A303-CCBC7CD1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90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Files /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E3C25-0CAC-46CE-981D-87417016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90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Integrity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CA697-CEF5-4D77-AFA5-8AE3075E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5B70F-E1C3-43D1-9490-E252F147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Stage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17199-F60C-4D4F-A5D6-4B861934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SME 规模层机制样本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AADE91-A672-4EB4-A102-A11B5A10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2990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 个 Eurostat 文件；544 个建模观测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8EDC2-A300-4372-A8F8-16FF92F1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12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SHA256 全部通过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E5EB7-2CE8-4BE7-B41A-02FAB8E2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463CC-ACDE-4248-8EB6-122AD832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Stage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8186E-63F1-4617-B9DC-51F67CAF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575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GE10 行业/区域外部验证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9B24B-5591-4415-97C9-DC2D7CCE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2990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17 个压缩 SDMX-CSV；12.77M 行画像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72A9C-58FF-4073-9928-6F56B310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SHA256 全部通过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7EE9C9-A46B-4825-AF3F-6E6577BC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4BCE8-A4F0-47D6-BF19-3207153D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Excluded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9ACC30-86D9-4387-83AD-711CC342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338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Census BTOS 获取尝试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212AD9-901F-4917-9203-35D48F98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33850"/>
            <a:ext cx="2990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HTTP 403；仅保留日志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A3A3ED-E8F9-4F8F-8774-035C58AD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338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不进入训练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7F36C7-8EBD-4C71-892B-3DC0395C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288A12-3339-4E32-BCE4-3160445F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298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the chart shows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4B2C28-8FA6-4792-93D5-8E2C8A67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86400"/>
            <a:ext cx="298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所有成功进入模型的原始文件均可从 Eurostat 官方接口追溯。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A31222-42FC-4431-A166-717A7A47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525" y="52578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65767E-539B-4EE5-9158-03D364AA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5219700"/>
            <a:ext cx="298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1A5375-E062-4896-9EAD-83427A01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5486400"/>
            <a:ext cx="298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失败或不可访问的数据被记录但排除，避免把网页错误当作训练数据。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CA3A4D-DD55-4B84-92E2-01A8C953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775" y="52578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19479F-32DE-4B39-8B53-66D10794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5219700"/>
            <a:ext cx="298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Decision it supports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D2603D-C7A1-4C5A-B6DF-A218B320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5486400"/>
            <a:ext cx="298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这支撑课程案例的科研严谨性：数据、代码、结果三者可复核。</a:t>
            </a:r>
          </a:p>
        </p:txBody>
      </p:sp>
    </p:spTree>
    <p:extLst>
      <p:ext uri="{BB962C8B-B14F-4D97-AF65-F5344CB8AC3E}">
        <p14:creationId xmlns:p14="http://schemas.microsoft.com/office/powerpoint/2010/main" val="19088356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E3D16C-48EF-42E0-BA6F-00CF4D45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4D393-2C00-4BAB-BFCF-2B858493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DATA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7EC54-E591-439C-BE0D-A337AC08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78E5E-C69B-4A41-BE0F-34951DFA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数字生命周期把海量官方数据收敛为可审计的建模面板。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C3C61-480B-489E-80BB-DBE90093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7BFC0-2F99-40CE-A7DB-1132B10D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outputs/tables/cleaning_retention_summary.csv; outputs/reports/stage2_source_profile.md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F6F23-AD30-484B-BB50-CA02B403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d0e205bc54b1c"/>
          <a:stretch xmlns:a="http://schemas.openxmlformats.org/drawingml/2006/main"/>
        </p:blipFill>
        <p:spPr>
          <a:xfrm xmlns:a="http://schemas.openxmlformats.org/drawingml/2006/main">
            <a:off x="666750" y="1982954"/>
            <a:ext cx="6191250" cy="3101642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49271a2c347d4"/>
          <a:stretch xmlns:a="http://schemas.openxmlformats.org/drawingml/2006/main"/>
        </p:blipFill>
        <p:spPr>
          <a:xfrm xmlns:a="http://schemas.openxmlformats.org/drawingml/2006/main">
            <a:off x="7620000" y="1752600"/>
            <a:ext cx="3048000" cy="1714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B2824-7967-4435-83C4-2B4FFCF6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290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the chart shows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DB87C-C985-4266-8095-61AEA9E1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361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12.77M 行官方数据先经过画像，再进入机制指标筛选。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61708-A207-4054-9BF6-376265F6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386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36B5C-8E2A-422C-A256-40560D61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148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FB532-7A23-403D-AACE-635182C3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43450"/>
            <a:ext cx="361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保留率低不是缺陷，而是排除无关指标后的质量控制。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87AD3-2B41-4DDC-BA54-100DDAB8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244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0885E-A215-4316-A498-405C7386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006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Decision it supports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3B48AB-CA5B-420C-8168-879D0937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29250"/>
            <a:ext cx="361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最终面板可审计、可复跑，并能支撑机器学习建模。</a:t>
            </a:r>
          </a:p>
        </p:txBody>
      </p:sp>
    </p:spTree>
    <p:extLst>
      <p:ext uri="{BB962C8B-B14F-4D97-AF65-F5344CB8AC3E}">
        <p14:creationId xmlns:p14="http://schemas.microsoft.com/office/powerpoint/2010/main" val="19252083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E9A0A3-8FE0-4037-ABBA-310B4126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C4A8B-6F99-4DAF-9C90-9EDB1E1A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MECHANISM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C37D8-80A4-4A7A-99B5-13CFB0A1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7D26F-7C7A-4ABD-8570-2C4A2B7F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采纳机制不是“AI 热情”，而是效率需求被安全与部署能力约束。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6FA79-16BB-41D1-A5C8-6AAF4457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7126D-640B-473E-B066-3CAF95F0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Eurostat official SDMX-CSV; reproducible Python pipeline; A10 GPU baseline.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A0EC5-F98D-4927-B6CD-FF31EA94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2bda09eaf4e3f"/>
          <a:stretch xmlns:a="http://schemas.openxmlformats.org/drawingml/2006/main"/>
        </p:blipFill>
        <p:spPr>
          <a:xfrm xmlns:a="http://schemas.openxmlformats.org/drawingml/2006/main">
            <a:off x="742950" y="1879997"/>
            <a:ext cx="6286500" cy="353615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C6CCC-15FE-47BA-AD65-F16B53EF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the chart shows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815F7-BF3F-4F88-B2FA-C2C5481B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效率需求、安全顾虑和部署准备度共同指向采纳结果。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3779B-CE2B-4781-B0B7-E080D69F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051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6ADDE-69F0-43B0-8AA7-996DDC05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B9124-DD27-43C9-BC8E-9361067F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所以模型需要同时纳入 AI 能力、数字基础、治理和云/数据能力。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DD527-4C94-48B2-A3DD-1FE8EE73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90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0774B-00D4-4960-9404-D429FF98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67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Decision it supports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81109-F460-4953-9BC4-70800608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部署建议必须判断企业受哪一类机制力量主导。</a:t>
            </a:r>
          </a:p>
        </p:txBody>
      </p:sp>
    </p:spTree>
    <p:extLst>
      <p:ext uri="{BB962C8B-B14F-4D97-AF65-F5344CB8AC3E}">
        <p14:creationId xmlns:p14="http://schemas.microsoft.com/office/powerpoint/2010/main" val="202309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C566A7-D164-47CC-A8C1-95BB6529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9A57F-314F-40B9-BB27-C5BA9E83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MODEL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2A35F-0B5E-42B1-9689-1CDDBF19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1453F-6953-429D-A569-3D5F9E97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模型设计把解释、预测、泛化和深度学习基线分开处理。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DD016-4F0F-4658-BBBE-94B0E523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9F694-D57F-400E-8A9E-B80A5540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src/course_ml_diagnostics.py; src/enhanced_training_gpu.py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F4A7A-1F07-47C2-822A-3464BF93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DF917-B1B8-4393-B150-E1C6A601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49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7949E-D957-44D2-851F-4456D70C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954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OLS / 多元线性回归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EED2E-E4C0-4C20-9DFC-67BC2368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14500"/>
            <a:ext cx="533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用于识别机制方向、显著性和 VIF 共线性风险。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A18D8-74E5-499F-9183-FC220E69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E9407-9610-443B-B5C7-035DFB63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49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D724F-EA91-48E7-93E9-03A180E0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146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Random Forest / ExtraTrees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20AA1-AF90-4280-BD2C-80C0BD3A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33650"/>
            <a:ext cx="533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用于捕捉非线性关系，并通过特征重要性解释机制。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02BAB-D0A5-4B60-8F5D-CC70C73F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07A26-8141-441E-A091-3CCDFEA5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49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BD59B-B72B-4969-AC8C-69CA2665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337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GroupKFold by country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A27FC-3CB5-41CB-8D3D-502D2CE9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52800"/>
            <a:ext cx="533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按国家分组验证，降低同一国家观测泄漏带来的虚高分数。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CDAED-A6E3-43E6-9B02-82D825B8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A72B3B-4898-4997-B51C-25560CB7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49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C735D-897F-4070-9510-CE34E01D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529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A10 GPU MLP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E58F08-E0E1-4D4A-A975-FAAE193A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171950"/>
            <a:ext cx="533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作为深度学习对照，不把 GPU 算力强行包装成最优模型。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15BCD4-CE7A-4F6A-B980-A30B65F2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43905E-0C64-4C6E-A319-81E9DF7E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the chart shows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7E17AF-A97E-4136-99CE-5A04F0EA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054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不是只追求最高 R²，而是把模型功能和研究问题对应起来。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B4E579-E51E-445E-B149-6735C40E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768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35696B-F1CD-4DE8-80F9-4A5C0785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38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71E4B5-9A3A-454D-911B-E49502DD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054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GroupKFold 让结果更接近跨国家、跨组织环境的泛化能力。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B3541E-E370-4022-8DE7-DEF5B8D8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2768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509948-4F72-4532-AA59-57BC5D45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38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Decision it supports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F7DDEA-87AA-439A-A410-E5EDB285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054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课程目标中的监督学习、回归、模型评估和深度学习基线都得到体现。</a:t>
            </a:r>
          </a:p>
        </p:txBody>
      </p:sp>
    </p:spTree>
    <p:extLst>
      <p:ext uri="{BB962C8B-B14F-4D97-AF65-F5344CB8AC3E}">
        <p14:creationId xmlns:p14="http://schemas.microsoft.com/office/powerpoint/2010/main" val="742509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512E80-C451-44DE-8CED-B536922E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36F35-E781-4AC7-A3B0-BF68B306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MECHANISM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CB790-B17C-439A-8573-AA4B3E9B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61BC9-E888-469C-9ED5-BF2FE38D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OLS 先确认机制方向，再由非线性模型提升预测解释力。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2DEC3-802E-4E7B-ACB3-84B260AF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FEED0-D03C-4D3D-8AF2-907D1804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outputs/tables/course_ols_coefficients.csv; course_vif_diagnostics.csv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5E029-03DE-4A0E-B522-7A937736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023a3e3ee4e84"/>
          <a:stretch xmlns:a="http://schemas.openxmlformats.org/drawingml/2006/main"/>
        </p:blipFill>
        <p:spPr>
          <a:xfrm xmlns:a="http://schemas.openxmlformats.org/drawingml/2006/main">
            <a:off x="609600" y="1839660"/>
            <a:ext cx="6477000" cy="354062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9BC7C-1779-4778-857D-43B10E68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526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defRPr>
            </a:pPr>
            <a:r>
              <a:rPr sz="21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rPr>
              <a:t>7.59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93CCF-C9DD-4615-9A31-BD5DEBD4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09800"/>
            <a:ext cx="2781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SME 机器学习能力标准化系数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15323-9D76-4140-A8F0-D93594EB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194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defRPr>
            </a:pPr>
            <a:r>
              <a:rPr sz="21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rPr>
              <a:t>4.19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B66FE-DE4B-41D9-8A4F-38570151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76600"/>
            <a:ext cx="2781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GE10 行业机器学习能力系数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E5D36-5437-4316-8E44-40DC6C49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7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the chart shows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85A91-29B6-4B7D-A5F6-5027ED99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055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机器学习能力是最强正向机制变量。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30E1B-7A5F-41BA-B2C7-32201BD0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815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944B1-36A2-4A3F-87D7-DDBCF64C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577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D414A-C97E-495F-9DE9-383BEE6F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8635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云和数据能力方向有意义；最大 VIF=14.4，不能过度因果化。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6EE970-23FF-48ED-A747-33054001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67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66EB42-A9CC-43E2-A626-2DEC62F0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435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Decision it supports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07E828-564D-484E-AEA0-5F98B663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7215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因此 OLS 用于机制解释，树模型用于最终预测。</a:t>
            </a:r>
          </a:p>
        </p:txBody>
      </p:sp>
    </p:spTree>
    <p:extLst>
      <p:ext uri="{BB962C8B-B14F-4D97-AF65-F5344CB8AC3E}">
        <p14:creationId xmlns:p14="http://schemas.microsoft.com/office/powerpoint/2010/main" val="9383122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DDA64F-E8FC-486C-9854-970A804B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D9D3C-E56A-45ED-A846-97B40A2B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GENERALIZATION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CB53B-234E-44B8-9BD4-478C78CE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E53A3-258B-4504-B0EA-974E72C2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按国家分组的 GroupKFold 说明模型学到的是跨地区采纳机制。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A4884-5EA0-44D0-A8CB-030CD6E4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AE2FD-2E6E-4E53-BBB9-E7F7B285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outputs/tables/enhanced_cv_results.csv; validation = GroupKFold(geo).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36DCC-7E71-4B67-90BA-92DDEBC9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21dd04f95488f"/>
          <a:stretch xmlns:a="http://schemas.openxmlformats.org/drawingml/2006/main"/>
        </p:blipFill>
        <p:spPr>
          <a:xfrm xmlns:a="http://schemas.openxmlformats.org/drawingml/2006/main">
            <a:off x="785927" y="1752600"/>
            <a:ext cx="6086246" cy="3657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8C5DA-2739-44E7-A1B7-D23B43F6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526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defRPr>
            </a:pPr>
            <a:r>
              <a:rPr sz="21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rPr>
              <a:t>0.850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DBA32-50AD-482E-A3BB-CC3004CB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09800"/>
            <a:ext cx="2495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RandomForest · Stage 1 SME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43965-4C02-499F-8155-DA3A2D15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defRPr>
            </a:pPr>
            <a:r>
              <a:rPr sz="21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rPr>
              <a:t>0.724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5A1F7-6F32-4210-9CDD-5505DCE2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2495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ExtraTrees · Stage 2 GE10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3A05E-A315-4707-B65A-109E08CE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67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the chart shows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FD5C9-1188-4737-8808-6CB010E0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每个国家只会在某一折中作为测试组出现。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1FE8A-4CDF-4BDE-8F86-9B6CAEBF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767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77E7AA-A597-4817-9814-2FC21044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52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9FC1A-063B-40AE-843F-83DE0DA6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8155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在更严格验证下仍保持较高 R²，比随机切分更有说服力。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97F12-D3FE-422E-ADDE-49CD188A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625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90492-AC5A-4F15-9E94-27DDD8F9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387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Decision it supports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E3169-F1BD-4B79-952D-6C06EBFF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6735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1 支撑 SME 结论，Stage 2 支撑行业/区域外部验证。</a:t>
            </a:r>
          </a:p>
        </p:txBody>
      </p:sp>
    </p:spTree>
    <p:extLst>
      <p:ext uri="{BB962C8B-B14F-4D97-AF65-F5344CB8AC3E}">
        <p14:creationId xmlns:p14="http://schemas.microsoft.com/office/powerpoint/2010/main" val="12643862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437A2A-2850-4FCA-BCD3-A7270E40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6536A-7F84-4846-AAB8-42575E69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MODEL FINDING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7E516-D84D-40DF-8436-2A6C21E0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C39A0-C699-490B-B265-C514968F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A10 GPU MLP 没有超过树模型，说明结构化官方统计更适合表格学习器。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F58A3-B81A-41A1-A197-1C314C63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0F418-9CCA-4700-97C7-18F338F7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outputs/tables/enhanced_gpu_baseline.csv; enhanced_cv_results.csv.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57F3D-5C02-4B83-90E7-481620FA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e54e617b44f1e"/>
          <a:stretch xmlns:a="http://schemas.openxmlformats.org/drawingml/2006/main"/>
        </p:blipFill>
        <p:spPr>
          <a:xfrm xmlns:a="http://schemas.openxmlformats.org/drawingml/2006/main">
            <a:off x="742950" y="1717667"/>
            <a:ext cx="5715000" cy="347981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985CD-9689-406C-883F-B40F7703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the chart shows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49FB3-3AE0-458A-91DD-CFDCC279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3733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MLP 在 NVIDIA A10 上成功训练，但 R² 低于随机森林和 ExtraTrees。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EC67E-C76C-49DE-BF17-A47B74C1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373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BB795-CE19-41F1-BA4E-7186EDCC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2CE9F5-77AC-4995-BC23-AE2E63B0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3733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这不是失败，而是模型选择结论：更多算力不自动带来更好泛化。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1DD56-65AE-4DAC-9612-DF312A9C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73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973398-4153-4977-A625-38C8ABFD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Decision it supports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75B9A-2D74-437B-952F-8C7E6371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2350"/>
            <a:ext cx="3733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本研究最终选择树模型作为主预测器，同时保留 GPU 基线作为课程证据。</a:t>
            </a:r>
          </a:p>
        </p:txBody>
      </p:sp>
    </p:spTree>
    <p:extLst>
      <p:ext uri="{BB962C8B-B14F-4D97-AF65-F5344CB8AC3E}">
        <p14:creationId xmlns:p14="http://schemas.microsoft.com/office/powerpoint/2010/main" val="48846534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97D043-FAE1-4B8A-9421-696562A2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A37A4-DD06-4760-8176-D2FF757C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INTERPRETABILITY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1FB07-D600-4D83-9E5E-67CC5A11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B8792-0235-4931-AAF3-8C49893E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特征重要性支持效率-安全-部署机制，而不是泛泛的 AI 热度。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652AF-5D70-47AD-9772-C2CAA810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C1FEE-9D96-446C-835C-92FF0D39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outputs/tables/enhanced_permutation_importance.csv.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ABC46-4FDE-4321-8EA6-0A6F4C07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7edd0af824002"/>
          <a:stretch xmlns:a="http://schemas.openxmlformats.org/drawingml/2006/main"/>
        </p:blipFill>
        <p:spPr>
          <a:xfrm xmlns:a="http://schemas.openxmlformats.org/drawingml/2006/main">
            <a:off x="514350" y="2080050"/>
            <a:ext cx="6762750" cy="319319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38C33-A777-4770-AD4E-E395DBA8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19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the chart shows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3C746-A28D-451D-97C3-0CD402A7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479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SME 层最强变量是 ML capability，Stage 2 也由 ML 能力和 NLG 支撑。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4B965-E56B-4234-9071-936FABD2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28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E2CB5-E8F7-4988-BFA5-9D858D80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0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A1560-7714-436F-BEB8-023933E0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337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数字基础、部署准备度和国家/行业异质性共同解释采纳差异。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AFFF7-F8D9-4827-8194-414E5CE7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147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B9555D-596F-4FE9-BC5A-BFC664FE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90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Decision it supports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9B830-3D39-4536-BEF2-FB0FBF6C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195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特征重要性把预测结果转化为可执行的企业分层依据。</a:t>
            </a:r>
          </a:p>
        </p:txBody>
      </p:sp>
    </p:spTree>
    <p:extLst>
      <p:ext uri="{BB962C8B-B14F-4D97-AF65-F5344CB8AC3E}">
        <p14:creationId xmlns:p14="http://schemas.microsoft.com/office/powerpoint/2010/main" val="904805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91D1FE-C73E-4D64-B693-F84D94C9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AD395-2851-48EB-BF9A-9EDB429B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DEPLOYMENT IMPLICATION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73DE0-DB09-49C1-83DC-68A95F1F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58323-DB81-43AC-934F-CC6AA072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SaaS、API、本地和混合部署，本质上是风险-效率权衡的结果。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43852-EF69-43B6-A45A-2BF13193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19D12-49B1-4C5A-BE8A-0710C7AB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Framework: model/persona outputs + NIST AI RMF governance logic.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5F923-11B5-4FDB-A930-548F66E3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8ce0dfbc944a7"/>
          <a:stretch xmlns:a="http://schemas.openxmlformats.org/drawingml/2006/main"/>
        </p:blipFill>
        <p:spPr>
          <a:xfrm xmlns:a="http://schemas.openxmlformats.org/drawingml/2006/main">
            <a:off x="685800" y="1916311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8F7EE-4C81-4A6E-812C-39C48C65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352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the chart shows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FF4DE-028C-4F06-AFB7-72EA7328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28850"/>
            <a:ext cx="352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效率需求越强，企业越倾向快速上线自动化能力。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B6CE0-B3B7-49A9-A557-76D1EE5C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4A3A8-84D2-47D2-AB6C-7E048B55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52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6C17F-D794-4456-8514-887724F5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352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安全顾虑越强，企业越需要 API、私有化或混合部署边界。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79716-1F6C-43C6-8512-D462221B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9565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351AF-E66D-4455-9FB0-1ECCCF39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71850"/>
            <a:ext cx="352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Decision it supports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F2538-F4AF-4E1D-908B-06633D68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00450"/>
            <a:ext cx="352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部署矩阵把模型结论转化为产品方案选择。</a:t>
            </a:r>
          </a:p>
        </p:txBody>
      </p:sp>
    </p:spTree>
    <p:extLst>
      <p:ext uri="{BB962C8B-B14F-4D97-AF65-F5344CB8AC3E}">
        <p14:creationId xmlns:p14="http://schemas.microsoft.com/office/powerpoint/2010/main" val="25608939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B6DCBE-02E4-46C8-AEF0-F93E338D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C872B-B6BF-440C-95F4-637E7091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SEGMENTATION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7413B-2801-494A-9BDA-4F414561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72F60-0673-4847-808F-87FC6D06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客户画像把模型结果转化为可落地的企业部署策略。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E590D-F8F6-42ED-8391-16EB0D5E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860BD-1CAF-4936-A5CA-333ACCC8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outputs/tables/sme_persona_clusters_multisource.csv.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1C50E-ACDC-44D0-9AA9-3624BF44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13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95f0c77924b10"/>
          <a:stretch xmlns:a="http://schemas.openxmlformats.org/drawingml/2006/main"/>
        </p:blipFill>
        <p:spPr>
          <a:xfrm xmlns:a="http://schemas.openxmlformats.org/drawingml/2006/main">
            <a:off x="925388" y="1619250"/>
            <a:ext cx="5216773" cy="36766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A244B-2DF1-4720-AB32-64548ECB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764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defRPr>
            </a:pPr>
            <a:r>
              <a:rPr sz="21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rPr>
              <a:t>C3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909EF-3D96-4030-8CF2-116FF433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33600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最高流程自动化采纳画像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04F02-6696-4D92-8413-D9868664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764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defRPr>
            </a:pPr>
            <a:r>
              <a:rPr sz="21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rPr>
              <a:t>13.36%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B5EF8-B588-4E82-BEEC-3FBD5C19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3360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workflow automation mean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E747F-1937-43A0-91B8-C0FC76FE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the chart shows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40039-454D-46AB-8BB5-C3131C68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361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不同画像在部署准备度和安全顾虑上存在结构性差异。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D3207-E2D8-4D3D-AFA5-E3AC8123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04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0B948-4B79-4901-8A6A-0CC11A8D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6B08F-57D3-4536-91FD-C54E687D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61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同一套 AI 功能不能用单一部署方案覆盖所有中小企业。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045940-8AE6-4655-A3CD-BB758DE9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9BB718-51E8-4869-AB45-E6E74C77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624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Decision it supports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FFB185-F2F9-4478-9C65-E4F02628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91050"/>
            <a:ext cx="361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画像结果可直接服务于销售、交付和部署方案推荐。</a:t>
            </a:r>
          </a:p>
        </p:txBody>
      </p:sp>
    </p:spTree>
    <p:extLst>
      <p:ext uri="{BB962C8B-B14F-4D97-AF65-F5344CB8AC3E}">
        <p14:creationId xmlns:p14="http://schemas.microsoft.com/office/powerpoint/2010/main" val="207588784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A33F54-B1AD-42B4-9380-E5BC92B6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899D7-5650-431F-B787-47976415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PRODUCT LANDING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4191C-BB48-4353-82C9-88323043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164CC-E15E-4542-ABA2-FFE4B0EF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ai.zhjjq.tech 是把研究机制落到真实 AI 办公流程的操作层。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96B8F-D087-404F-968C-DEFB0681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FF670-929F-4740-A8C9-BE27208F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Product visual: ai.zhjjq.tech workstation screenshot and research operating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FD1D1-E1B9-42A1-B6BD-A948C7E5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14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636a701084612"/>
          <a:stretch xmlns:a="http://schemas.openxmlformats.org/drawingml/2006/main"/>
        </p:blipFill>
        <p:spPr>
          <a:xfrm xmlns:a="http://schemas.openxmlformats.org/drawingml/2006/main">
            <a:off x="628650" y="1855589"/>
            <a:ext cx="4476750" cy="2518172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fa131043647ae"/>
          <a:stretch xmlns:a="http://schemas.openxmlformats.org/drawingml/2006/main"/>
        </p:blipFill>
        <p:spPr>
          <a:xfrm xmlns:a="http://schemas.openxmlformats.org/drawingml/2006/main">
            <a:off x="5926799" y="1790700"/>
            <a:ext cx="4872302" cy="2762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157A9-9835-4722-908D-DAFC517E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53000"/>
            <a:ext cx="279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the chart shows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394D0-A13D-4B6D-8B4D-76888F6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19700"/>
            <a:ext cx="279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研究模型判断企业效率需求、安全顾虑和部署准备度。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B38AE-99C1-463D-9C3E-A7C994B5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525" y="49911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4AE60-15A0-41D6-A80C-63411B49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953000"/>
            <a:ext cx="279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E8A42-4D1D-41C0-9019-2D096BA0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5219700"/>
            <a:ext cx="279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工作站承接智能体、组织知识、流程任务和治理反馈。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EADF1-B7E3-4DB7-BA4D-F3E81785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275" y="49911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B405A-C6BB-494D-A112-458412B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4953000"/>
            <a:ext cx="279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Decision it supports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EC995E-44F3-42AD-931B-8F65EEE6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5219700"/>
            <a:ext cx="279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产品落地让课程模型从预测结果走向可执行的 AI 办公部署方案。</a:t>
            </a:r>
          </a:p>
        </p:txBody>
      </p:sp>
    </p:spTree>
    <p:extLst>
      <p:ext uri="{BB962C8B-B14F-4D97-AF65-F5344CB8AC3E}">
        <p14:creationId xmlns:p14="http://schemas.microsoft.com/office/powerpoint/2010/main" val="156498107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A80A45-0620-4199-B084-9968211D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3CF2D-6618-4074-BDF1-138AA01D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FINAL 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89488-A67A-48DD-B6BD-98248C06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00A69-2ADE-4B1F-A733-6171DFB3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本项目贡献了一条从官方数据到可部署 AI 流程策略的复现路径。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20535-0D10-43C6-AFBE-615FAEA9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9193D-6545-412C-A06E-3E806844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Eurostat official SDMX-CSV; reproducible Python pipeline; A10 GPU baseline.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8E10E-B1C5-42C7-845B-A835F534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327CB-6646-4631-AD41-72D15375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53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938BF-72E2-45D9-B7FB-0C9E5773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050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074CA-E5B9-414B-B899-2929EFF6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145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数据可信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E655D-B53E-425C-B04A-3DC19BF6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7335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Eurostat 官方数据、manifest、SHA256 和清洗日志共同支撑真实性。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278DF-73F2-48CD-9AA3-7952C37C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53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E1893-71EE-4733-8E36-C035554A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8605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548D6-8FF3-43C9-BE82-E880FD8C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955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机器学习严谨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8F4E7-C423-46C8-9E64-848F0722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1460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OLS、RandomForest、ExtraTrees、GroupKFold 和 A10 MLP 基线形成完整算法链。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2A15F-2613-4791-81E1-59286CED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53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F46D52-BAC2-406F-B607-88149BFC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F5AD4-DEE6-446D-9325-6DBE11B6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766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机制解释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1BD54-E0DD-411E-9C63-8DD7B728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956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效率需求 × 安全顾虑 × 部署准备度解释 AI 流程自动化采纳。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3949D-8D40-4736-A708-4B23AE60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53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>
                <a:solidFill>
                  <a:srgbClr val="0B1F3A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B3622F-05C7-4E2E-B80F-04339001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4815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32EBF-E1A5-482C-BB4E-D8A4BB16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576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产品价值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EDFA98-79E7-4DB9-9A84-867B6156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7670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SaaS / API / 本地 / 混合部署策略服务真实 AI 办公场景。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AEE6F-13B3-4C5F-BE72-C0A71F1A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292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the chart shows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9B5067-137F-4696-8EC6-2E1B1804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10200"/>
            <a:ext cx="292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结论不止是一个模型分数，而是一套可解释采纳机制。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AF7934-2867-49E2-882C-AC8E2304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51816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6E76AE-5254-4AC6-9102-EE913425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550" y="5143500"/>
            <a:ext cx="292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1B2769-36C6-449A-A2CB-505D3994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550" y="5410200"/>
            <a:ext cx="292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课程中的数据生命周期、监督学习、回归、集成学习、聚类和深度学习基线均已体现。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C14EB9-AF86-4DBE-80CD-6348824B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425" y="51816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0D7DF4-20CC-43D3-800C-2551EEAA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5143500"/>
            <a:ext cx="292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Decision it supports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378938-F211-4BB6-B732-7F757A03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5410200"/>
            <a:ext cx="292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下一步可以接入国内问卷与真实工作流日志，形成更强的中小企业本土化研究。</a:t>
            </a:r>
          </a:p>
        </p:txBody>
      </p:sp>
    </p:spTree>
    <p:extLst>
      <p:ext uri="{BB962C8B-B14F-4D97-AF65-F5344CB8AC3E}">
        <p14:creationId xmlns:p14="http://schemas.microsoft.com/office/powerpoint/2010/main" val="1555078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2026-05-18T15:02:11.2500000Z</dcterms:created>
  <dcterms:modified xsi:type="dcterms:W3CDTF">2026-05-18T15:02:11.2510000Z</dcterms:modified>
</coreProperties>
</file>