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封面背景_gpt_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485632" cy="8229600"/>
          </a:xfrm>
          <a:prstGeom prst="rect">
            <a:avLst/>
          </a:prstGeom>
          <a:solidFill>
            <a:srgbClr val="03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713232"/>
            <a:ext cx="73152" cy="82296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713232"/>
            <a:ext cx="53035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D7E8F2"/>
                </a:solidFill>
                <a:latin typeface="Microsoft YaHei"/>
              </a:rPr>
              <a:t>机器学习与数据挖掘课程结题案例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754380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 UI"/>
              </a:rPr>
              <a:t>基于中小企业 AI 流程自动化采纳机制研究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649224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BFE3E8"/>
                </a:solidFill>
                <a:latin typeface="Microsoft YaHei"/>
              </a:rPr>
              <a:t>效率需求 · 安全顾虑 · 部署偏好的实证分析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90672"/>
            <a:ext cx="6492240" cy="7132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20" b="0">
                <a:solidFill>
                  <a:srgbClr val="E1ECF3"/>
                </a:solidFill>
                <a:latin typeface="Microsoft YaHei"/>
              </a:rPr>
              <a:t>我把真实官方数据、机器学习模型和 ai.zhjjq.tech 智能办公网站连接起来，形成一个从数据生命周期到企业部署策略的完整研究案例。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429768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41655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16B3CB"/>
                </a:solidFill>
                <a:latin typeface="Consolas"/>
              </a:rPr>
              <a:t>12.77M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73168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122033"/>
                </a:solidFill>
                <a:latin typeface="Microsoft YaHei"/>
              </a:rPr>
              <a:t>Stage 2 原始行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65192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5A687A"/>
                </a:solidFill>
                <a:latin typeface="Microsoft YaHei"/>
              </a:rPr>
              <a:t>17 个 Eurostat 官方文件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429768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9584" y="441655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1EA791"/>
                </a:solidFill>
                <a:latin typeface="Consolas"/>
              </a:rPr>
              <a:t>0.850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4773168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122033"/>
                </a:solidFill>
                <a:latin typeface="Microsoft YaHei"/>
              </a:rPr>
              <a:t>Stage 1 GroupKFold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965192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5A687A"/>
                </a:solidFill>
                <a:latin typeface="Microsoft YaHei"/>
              </a:rPr>
              <a:t>随机森林，按国家分组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8736" y="4297680"/>
            <a:ext cx="22402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53328" y="4416552"/>
            <a:ext cx="1874519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>
                <a:solidFill>
                  <a:srgbClr val="D3911E"/>
                </a:solidFill>
                <a:latin typeface="Consolas"/>
              </a:rPr>
              <a:t>0.724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4773168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122033"/>
                </a:solidFill>
                <a:latin typeface="Microsoft YaHei"/>
              </a:rPr>
              <a:t>Stage 2 GroupKFold 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965192"/>
            <a:ext cx="187451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80" b="0">
                <a:solidFill>
                  <a:srgbClr val="5A687A"/>
                </a:solidFill>
                <a:latin typeface="Microsoft YaHei"/>
              </a:rPr>
              <a:t>ExtraTrees 外部验证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754380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20" b="0">
                <a:solidFill>
                  <a:srgbClr val="B1C5D3"/>
                </a:solidFill>
                <a:latin typeface="Microsoft YaHei"/>
              </a:rPr>
              <a:t>数据源：Eurostat 官方 SDMX-CSV；A10 GPU 用于 PyTorch MLP 基线训练与验证；图表由可复现实验脚本生成。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研究意义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研究意义：我为什么把“AI 流程自动化采纳”作为机器学习案例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问题不只是企业是否使用 AI，而是企业在什么条件下愿意把 AI 接入真实流程。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我把 AI 采纳看作一个可预测、可解释、可落地的企业决策问题，而不是泛泛讨论数字化转型。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31546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1783080"/>
            <a:ext cx="54864" cy="132588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1929384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效率压力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2240280"/>
            <a:ext cx="2834640" cy="7589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中小企业人工成本上升、重复性流程多，流程自动化能直接影响运营效率和边际成本。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1783080"/>
            <a:ext cx="31546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41648" y="1783080"/>
            <a:ext cx="54864" cy="132588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42816" y="1929384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安全顾虑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2816" y="2240280"/>
            <a:ext cx="2834640" cy="7589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数据、权限、模型输出和合规风险会改变企业是否愿意上云、是否需要本地或混合部署。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4927" y="1783080"/>
            <a:ext cx="31546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24927" y="1783080"/>
            <a:ext cx="54864" cy="132588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26096" y="1929384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部署偏好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240280"/>
            <a:ext cx="2834640" cy="7589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同样的 AI 功能需求，在不同数字基础和治理成熟度下，会导向 SaaS、API、本地化或混合架构。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03320"/>
            <a:ext cx="13350240" cy="182880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913632"/>
            <a:ext cx="1078992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122033"/>
                </a:solidFill>
                <a:latin typeface="Microsoft YaHei"/>
              </a:rPr>
              <a:t>课程连接：机器学习不是只追求高分数，而是用数据生命周期把研究问题变成可验证模型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70832"/>
            <a:ext cx="1225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50" b="0">
                <a:solidFill>
                  <a:srgbClr val="122033"/>
                </a:solidFill>
                <a:latin typeface="Microsoft YaHei"/>
              </a:rPr>
              <a:t>• 采集：官方数据与哈希记录，排除不可用/403来源。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22033"/>
                </a:solidFill>
                <a:latin typeface="Microsoft YaHei"/>
              </a:rPr>
              <a:t>• 清洗：从长表、面板、指标筛选到缺失率审计。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22033"/>
                </a:solidFill>
                <a:latin typeface="Microsoft YaHei"/>
              </a:rPr>
              <a:t>• 建模：多元回归解释机制，随机森林/ExtraTrees 检验预测能力，A10 GPU MLP 做复杂模型对照。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122033"/>
                </a:solidFill>
                <a:latin typeface="Microsoft YaHei"/>
              </a:rPr>
              <a:t>• 落地：把预测结果转成客户画像、部署策略和 ai.zhjjq.tech 产品模块设计。</a:t>
            </a:r>
          </a:p>
        </p:txBody>
      </p:sp>
      <p:pic>
        <p:nvPicPr>
          <p:cNvPr id="28" name="Picture 27" descr="ai_zhjjq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628" y="1691640"/>
            <a:ext cx="2763520" cy="1554480"/>
          </a:xfrm>
          <a:prstGeom prst="rect">
            <a:avLst/>
          </a:prstGeom>
          <a:ln w="9525">
            <a:solidFill>
              <a:srgbClr val="DAE4EE"/>
            </a:solidFill>
          </a:ln>
        </p:spPr>
      </p:pic>
      <p:pic>
        <p:nvPicPr>
          <p:cNvPr id="29" name="Picture 28" descr="ai_zhjjq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3470508"/>
            <a:ext cx="3063240" cy="1736640"/>
          </a:xfrm>
          <a:prstGeom prst="rect">
            <a:avLst/>
          </a:prstGeom>
          <a:ln w="9525">
            <a:solidFill>
              <a:srgbClr val="DAE4EE"/>
            </a:solidFill>
          </a:ln>
        </p:spPr>
      </p:pic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Course project framing; product screenshots captured from ai.zhjjq.tech login/workstation pages.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数据来源：我只把可下载、可哈希、可复现的数据放进训练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官方数据是研究可信度的起点；BTOS 因 403 只作为获取日志，不进入模型。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我把“数据真实”放在模型之前：先证明数据能被追溯，再讨论算法有没有意义。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60120" y="1828800"/>
          <a:ext cx="836675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3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0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Microsoft YaHei"/>
                        </a:rPr>
                        <a:t>文件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Microsoft YaHei"/>
                        </a:rPr>
                        <a:t>已验证字节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Microsoft YaHei"/>
                        </a:rPr>
                        <a:t>核验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Microsoft YaHei"/>
                        </a:rPr>
                        <a:t>研究角色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Stage 1 Eurostat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39.6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SHA256 全通过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SME 机制层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Stage 2 Eurostat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17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71.6 MB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SHA256 全通过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行业/区域验证层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Census BTOS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HTTP 403，未采用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>
                          <a:solidFill>
                            <a:srgbClr val="122033"/>
                          </a:solidFill>
                          <a:latin typeface="Microsoft YaHei"/>
                        </a:rPr>
                        <a:t>透明记录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Picture 13" descr="图08_源数据真实性核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248" y="3657600"/>
            <a:ext cx="5271383" cy="2743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058400" y="1828800"/>
            <a:ext cx="35661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0" y="1828800"/>
            <a:ext cx="54864" cy="100584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59568" y="1975104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来源原则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59568" y="2286000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Eurostat SDMX API 文件、URL、时间戳、bytes 与 SHA256 写入 manifest。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3090672"/>
            <a:ext cx="35661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0" y="3090672"/>
            <a:ext cx="54864" cy="100584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59568" y="3236976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排除原则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3547872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BTOS 请求返回 403，不把失败网页当数据，避免假数据污染结论。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352544"/>
            <a:ext cx="35661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0" y="4352544"/>
            <a:ext cx="54864" cy="100584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59568" y="4498848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课程价值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4809744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数据采集、元数据记录和可复现性是数据挖掘生命周期的第一步。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Eurostat SDMX-CSV manifests; data_sources.md; manifest.jsonl and manifest_stage2.jsonl.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数据生命周期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数字生命周期：从官方海量数据到可解释模型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本案例按“采集—清洗—特征—训练—解释—部署—反馈”形成闭环。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我把数字生命周期做成课程主线：每一步都有文件、代码和输出，而不是只展示最终分数。</a:t>
            </a:r>
          </a:p>
        </p:txBody>
      </p:sp>
      <p:pic>
        <p:nvPicPr>
          <p:cNvPr id="13" name="Picture 12" descr="图01_数据生命周期漏斗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6391"/>
            <a:ext cx="8686800" cy="42910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966960" y="138988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966960" y="1389888"/>
            <a:ext cx="54864" cy="713232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68128" y="153619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01 数据采集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184708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Eurostat API / manifest / SHA256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35000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966960" y="2350008"/>
            <a:ext cx="54864" cy="713232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68128" y="249631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02 清洗透视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280720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长表到面板，缺失率审计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331012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966960" y="3310128"/>
            <a:ext cx="54864" cy="713232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68128" y="345643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03 特征工程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376732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效率、安全、部署、治理指标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427024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66960" y="4270248"/>
            <a:ext cx="54864" cy="713232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68128" y="441655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04 模型训练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472744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OLS / RF / ExtraTrees / MLP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5230368"/>
            <a:ext cx="35661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66960" y="5230368"/>
            <a:ext cx="54864" cy="713232"/>
          </a:xfrm>
          <a:prstGeom prst="rect">
            <a:avLst/>
          </a:prstGeom>
          <a:solidFill>
            <a:srgbClr val="258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68128" y="5376672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258D6E"/>
                </a:solidFill>
                <a:latin typeface="Microsoft YaHei"/>
              </a:rPr>
              <a:t>05 解释部署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5687568"/>
            <a:ext cx="32461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画像、部署矩阵、产品策略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Eurostat official SDMX-CSV; model outputs generated by reproducible Python pipelines.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数据清洗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数据质量审计：样本边界必须透明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Stage 1 用于 SME 规模层机制判断；Stage 2 用于 GE10 行业/区域外部验证。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我不把 Stage 2 误说成 SME 分规模数据；它的价值是大样本外部验证。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737360"/>
          <a:ext cx="9143996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建模样本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变量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国家/地区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均值缺失率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重复键</a:t>
                      </a:r>
                    </a:p>
                  </a:txBody>
                  <a:tcPr>
                    <a:solidFill>
                      <a:srgbClr val="0518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SME规模层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2021-2025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38.9%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行业验证层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5,814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80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2021-2025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46.8%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22033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>
                    <a:solidFill>
                      <a:srgbClr val="F8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" name="Picture 13" descr="图06_数据质量审计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548" y="3337560"/>
            <a:ext cx="5271383" cy="2743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332720" y="1737360"/>
            <a:ext cx="34747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32720" y="1737360"/>
            <a:ext cx="54864" cy="100584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33888" y="1883664"/>
            <a:ext cx="31546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清洗结果一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33888" y="2194560"/>
            <a:ext cx="3154679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Stage 1 最终 544 条 SME 机制层建模样本，面板键无重复。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2971800"/>
            <a:ext cx="34747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332720" y="2971800"/>
            <a:ext cx="54864" cy="100584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33888" y="3118104"/>
            <a:ext cx="31546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清洗结果二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33888" y="3429000"/>
            <a:ext cx="3154679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Stage 2 最终 5,814 条行业/区域验证样本，覆盖 50 个 NACE 行业。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206240"/>
            <a:ext cx="347472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32720" y="4206240"/>
            <a:ext cx="54864" cy="100584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33888" y="4352544"/>
            <a:ext cx="31546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解释边界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4663440"/>
            <a:ext cx="3154679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SME 特定结论只看 Stage 1；行业泛化趋势看 Stage 2。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outputs/tables/enhanced_data_quality_audit.csv; research_quality_validation.md.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数据清洗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清洗结果：从 1277 万行官方数据筛出机制相关样本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保留率低不是坏事，它说明我按研究问题筛选，而不是把无关字段堆进模型。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我的目标不是样本越多越好，而是让进入模型的变量真正能解释 AI 流程自动化采纳。</a:t>
            </a:r>
          </a:p>
        </p:txBody>
      </p:sp>
      <p:pic>
        <p:nvPicPr>
          <p:cNvPr id="13" name="Picture 12" descr="图09_缺失率覆盖审计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2955"/>
            <a:ext cx="8778240" cy="410652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012680" y="1508760"/>
            <a:ext cx="37033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12680" y="1508760"/>
            <a:ext cx="54864" cy="96012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13848" y="1655063"/>
            <a:ext cx="33832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Stage 2 源数据规模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3848" y="1965960"/>
            <a:ext cx="3383279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17 个文件，12,770,332 行官方记录，非空观测超过 1045 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2697480"/>
            <a:ext cx="37033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12680" y="2697480"/>
            <a:ext cx="54864" cy="96012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13848" y="2843784"/>
            <a:ext cx="33832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指标筛选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3848" y="3154680"/>
            <a:ext cx="3383279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保留 AI、云、数据分析、电商、ICT、治理等机制相关指标，剔除主题无关字段。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886200"/>
            <a:ext cx="37033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12680" y="3886200"/>
            <a:ext cx="54864" cy="96012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13848" y="4032504"/>
            <a:ext cx="33832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缺失处理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3848" y="4343400"/>
            <a:ext cx="3383279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进入 sklearn Pipeline 后进行覆盖阈值控制、缺失率审计和中位数/众数插补。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5074920"/>
            <a:ext cx="370332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012680" y="5074920"/>
            <a:ext cx="54864" cy="96012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13848" y="5221224"/>
            <a:ext cx="33832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质量判断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13848" y="5532120"/>
            <a:ext cx="3383279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缺失率反映官方统计口径差异，透明披露比盲目填补更重要。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outputs/tables/cleaning_retention_summary.csv; outputs/tables/stage2_feature_missingness.csv.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特征工程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特征工程：我把研究选题转成可训练变量体系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效率需求、安全顾虑与部署偏好通过多源指标映射到机器学习特征。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变量体系比单个模型更关键：它决定模型回答的是不是我的研究问题。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691640"/>
            <a:ext cx="5897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1691640"/>
            <a:ext cx="54864" cy="96012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1837944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效率需求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2148840"/>
            <a:ext cx="55778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AI 机器学习能力、自然语言生成、流程自动化目标变量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91640"/>
            <a:ext cx="5897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0" y="1691640"/>
            <a:ext cx="54864" cy="96012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1837944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安全顾虑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148840"/>
            <a:ext cx="55778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治理成熟度、ICT 人才约束、数据/云能力边界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08960"/>
            <a:ext cx="5897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7240" y="3108960"/>
            <a:ext cx="54864" cy="96012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3255264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部署偏好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3566160"/>
            <a:ext cx="55778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云开发、云数据分析、数字基础、数据成熟度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3108960"/>
            <a:ext cx="589788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0" y="3108960"/>
            <a:ext cx="54864" cy="96012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3255264"/>
            <a:ext cx="5577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企业异质性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55778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国家、年份、规模组、NACE 行业和区域结构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12573000" cy="132588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48920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00909F"/>
                </a:solidFill>
                <a:latin typeface="Microsoft YaHei"/>
              </a:rPr>
              <a:t>建模公式思想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340096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500" b="1">
                <a:solidFill>
                  <a:srgbClr val="122033"/>
                </a:solidFill>
                <a:latin typeface="Consolas"/>
              </a:rPr>
              <a:t>Y = β0 + β1·效率需求 + β2·安全顾虑 + β3·部署准备度 + β4·数据基础 + β5·规模/国家/年份 + 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925312"/>
            <a:ext cx="11704320" cy="86868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950" b="0">
                <a:solidFill>
                  <a:srgbClr val="122033"/>
                </a:solidFill>
                <a:latin typeface="Microsoft YaHei"/>
              </a:rPr>
              <a:t>• OLS：用于解释机制方向和显著性。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22033"/>
                </a:solidFill>
                <a:latin typeface="Microsoft YaHei"/>
              </a:rPr>
              <a:t>• 随机森林 / ExtraTrees：用于捕捉非线性关系和变量重要性。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22033"/>
                </a:solidFill>
                <a:latin typeface="Microsoft YaHei"/>
              </a:rPr>
              <a:t>• GroupKFold：按国家分组，避免同一国家信息泄露。</a:t>
            </a:r>
          </a:p>
          <a:p>
            <a:pPr>
              <a:spcAft>
                <a:spcPts val="500"/>
              </a:spcAft>
            </a:pPr>
            <a:r>
              <a:rPr sz="950" b="0">
                <a:solidFill>
                  <a:srgbClr val="122033"/>
                </a:solidFill>
                <a:latin typeface="Microsoft YaHei"/>
              </a:rPr>
              <a:t>• A10 GPU MLP：作为复杂模型基线，验证表格数据不一定需要更复杂深度模型。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src/course_ml_diagnostics.py; src/enhanced_training_gpu.py; feature engineering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多元回归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多元回归：机制方向与统计显著性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OLS 用来回答“哪些因素方向明确、统计上有解释力”。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回归不是为了刷分，而是为了把机器学习模型前的机制假设讲清楚。</a:t>
            </a:r>
          </a:p>
        </p:txBody>
      </p:sp>
      <p:pic>
        <p:nvPicPr>
          <p:cNvPr id="13" name="Picture 12" descr="图03_多元回归标准化系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5454"/>
            <a:ext cx="9144000" cy="412437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104120" y="1508760"/>
            <a:ext cx="36118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104120" y="1508760"/>
            <a:ext cx="54864" cy="713232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305288" y="1655063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显著证据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5288" y="196596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行业机器学习能力: β=4.19, p=0.0e+00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04120" y="2468880"/>
            <a:ext cx="36118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104120" y="2468880"/>
            <a:ext cx="54864" cy="713232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05288" y="261518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显著证据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5288" y="292608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机器学习能力: β=7.59, p=3.1e-102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3429000"/>
            <a:ext cx="36118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104120" y="3429000"/>
            <a:ext cx="54864" cy="713232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05288" y="357530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显著证据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388620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行业自然语言生成: β=1.23, p=6.5e-55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4389120"/>
            <a:ext cx="36118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04120" y="4389120"/>
            <a:ext cx="54864" cy="713232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05288" y="453542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显著证据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05288" y="4846320"/>
            <a:ext cx="32918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数字基础: β=0.52, p=2.3e-12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outputs/tables/course_ols_coefficients.csv; standardized predictors after median imputation.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模型诊断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VIF 诊断：解释模型要诚实面对共线性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企业数字化变量天然相关，因此必须报告多重共线性而不是回避它。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我保留 VIF 诊断，是为了说明哪些变量适合解释、哪些更适合交给树模型预测。</a:t>
            </a:r>
          </a:p>
        </p:txBody>
      </p:sp>
      <p:pic>
        <p:nvPicPr>
          <p:cNvPr id="13" name="Picture 12" descr="图10_VIF多重共线性诊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33" y="1508760"/>
            <a:ext cx="8866813" cy="49834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287000" y="1645920"/>
            <a:ext cx="3429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87000" y="1645920"/>
            <a:ext cx="54864" cy="96012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88168" y="17922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为什么做 VIF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210312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数字基础、云能力和数据成熟度可能共享同一底层能力，系数解释需要谨慎。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880360"/>
            <a:ext cx="3429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287000" y="2880360"/>
            <a:ext cx="54864" cy="96012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88168" y="302666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解释策略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8168" y="333756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线性回归看方向，随机森林和 ExtraTrees 负责处理非线性和变量相关结构。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114800"/>
            <a:ext cx="3429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87000" y="4114800"/>
            <a:ext cx="54864" cy="96012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88168" y="426110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课程体现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8168" y="457200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模型诊断、偏差控制和解释边界，是比单一准确率更重要的研究质量。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outputs/tables/course_vif_diagnostics.csv.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监督学习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模型比较：GroupKFold 检验泛化能力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按国家分组交叉验证，避免同一国家的信息同时出现在训练和测试中。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我采用更保守的国家分组验证，所以结果比随机切分更可信。</a:t>
            </a:r>
          </a:p>
        </p:txBody>
      </p:sp>
      <p:pic>
        <p:nvPicPr>
          <p:cNvPr id="13" name="Picture 12" descr="图02_模型交叉验证比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50" y="1508760"/>
            <a:ext cx="9107019" cy="48920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378440" y="1600200"/>
            <a:ext cx="32461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78440" y="1600200"/>
            <a:ext cx="54864" cy="86868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79608" y="1746504"/>
            <a:ext cx="29260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Stage 1 最优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9608" y="2057400"/>
            <a:ext cx="2926079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随机森林 R²=0.850，MAE=1.790。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2697480"/>
            <a:ext cx="32461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378440" y="2697480"/>
            <a:ext cx="54864" cy="86868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79608" y="2843784"/>
            <a:ext cx="29260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Stage 2 最优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79608" y="3154680"/>
            <a:ext cx="2926079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ExtraTrees R²=0.724，MAE=1.967。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78440" y="3794760"/>
            <a:ext cx="324612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78440" y="3794760"/>
            <a:ext cx="54864" cy="86868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79608" y="3941064"/>
            <a:ext cx="292607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验证口径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9608" y="4251960"/>
            <a:ext cx="2926079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GroupKFold by country，用跨国家泛化替代普通随机验证。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outputs/tables/enhanced_cv_results.csv; scikit-learn GroupKFold.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模型验证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国家组留出验证：检验跨国家泛化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外部泛化比训练集拟合更重要，尤其是跨国家企业统计数据。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我关心模型在没见过的国家上是否还能工作，这比单次随机分割更接近真实研究场景。</a:t>
            </a:r>
          </a:p>
        </p:txBody>
      </p:sp>
      <p:pic>
        <p:nvPicPr>
          <p:cNvPr id="13" name="Picture 12" descr="图11_国家组留出验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28141"/>
            <a:ext cx="9326880" cy="49447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332720" y="1691640"/>
            <a:ext cx="33375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332720" y="1691640"/>
            <a:ext cx="54864" cy="96012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33888" y="183794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交叉验证之外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3888" y="2148840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保留独立国家组验证，避免只报告交叉验证均值。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971800"/>
            <a:ext cx="33375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332720" y="2971800"/>
            <a:ext cx="54864" cy="96012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33888" y="311810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结论稳定性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3429000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模型结论在不同验证口径下保持一致：效率能力和数字基础仍是关键。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20" y="4251960"/>
            <a:ext cx="333756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332720" y="4251960"/>
            <a:ext cx="54864" cy="96012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33888" y="439826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限制透明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3888" y="4709160"/>
            <a:ext cx="301752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跨国家差异仍大，因此部署建议必须按企业画像分层。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outputs/tables/enhanced_holdout_results.csv.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模型解释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特征重要性：模型解释采纳机制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模型解释不是只报一个分数，而是回答哪些变量在驱动 AI 流程自动化采纳。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特征重要性把机器学习结果翻译回研究语言：效率能力、数据基础和部署准备度共同作用。</a:t>
            </a:r>
          </a:p>
        </p:txBody>
      </p:sp>
      <p:pic>
        <p:nvPicPr>
          <p:cNvPr id="13" name="Picture 12" descr="图04_特征重要性双面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4369"/>
            <a:ext cx="9326880" cy="42631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287000" y="1600200"/>
            <a:ext cx="345643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87000" y="1600200"/>
            <a:ext cx="54864" cy="91440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88168" y="1746504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2057400"/>
            <a:ext cx="3136391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SME 规模层中，机器学习能力、云开发和数据成熟度解释力更突出。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788920"/>
            <a:ext cx="345643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287000" y="2788920"/>
            <a:ext cx="54864" cy="91440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88168" y="2935224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Stage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8168" y="3246120"/>
            <a:ext cx="3136391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行业验证层中，行业 AI 能力、数字基础和治理成熟度仍保持重要。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3977639"/>
            <a:ext cx="345643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87000" y="3977639"/>
            <a:ext cx="54864" cy="91440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88168" y="4123944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研究含义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8168" y="4434840"/>
            <a:ext cx="3136391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“效率需求”不是孤立变量，必须与部署能力和治理能力一起看。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outputs/tables/enhanced_permutation_importance.csv.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GPU训练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A10 GPU 基线：复杂模型不一定更适合表格数据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A10 GPU 的 MLP 验证了深度模型可行，但树模型在本研究表格数据上更稳。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我使用 A10 GPU 是为了做更完整的对照实验，而不是为了强行把深度模型说成最优。</a:t>
            </a:r>
          </a:p>
        </p:txBody>
      </p:sp>
      <p:pic>
        <p:nvPicPr>
          <p:cNvPr id="13" name="Picture 12" descr="图05_A10_GPU_MLP基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05" y="1600200"/>
            <a:ext cx="7523629" cy="4800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18320" y="1600200"/>
            <a:ext cx="4251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418320" y="1600200"/>
            <a:ext cx="54864" cy="86868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9488" y="174650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GPU 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2057400"/>
            <a:ext cx="3931920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NVIDIA A10，PyTorch CUDA 可用，训练日志记录 best_epoch、耗时和显存。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697480"/>
            <a:ext cx="4251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418320" y="2697480"/>
            <a:ext cx="54864" cy="86868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19488" y="284378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Stage 1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3154680"/>
            <a:ext cx="3931920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R²=0.806，MAE=2.523，best_epoch=20。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3794760"/>
            <a:ext cx="4251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18320" y="3794760"/>
            <a:ext cx="54864" cy="86868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19488" y="394106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Stage 2 MLP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4251960"/>
            <a:ext cx="3931920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R²=0.662，MAE=2.529，best_epoch=60。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4892040"/>
            <a:ext cx="42519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418320" y="4892040"/>
            <a:ext cx="54864" cy="86868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19488" y="5038344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方法判断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5349240"/>
            <a:ext cx="3931920" cy="301751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对当前结构化官方统计数据，树模型比 MLP 更稳，说明模型选择应服从数据结构。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outputs/tables/enhanced_gpu_baseline.csv; src/enhanced_training_gpu.py.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无监督学习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客户画像聚类：从模型结果到企业分层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聚类把模型输出转成企业可理解的分层策略。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客户画像不是营销包装，而是把效率需求、安全顾虑和部署准备度组合成可行动分层。</a:t>
            </a:r>
          </a:p>
        </p:txBody>
      </p:sp>
      <p:pic>
        <p:nvPicPr>
          <p:cNvPr id="13" name="Picture 12" descr="图12_客户画像聚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72606"/>
            <a:ext cx="9372600" cy="465578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0287000" y="1645920"/>
            <a:ext cx="34290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287000" y="1645920"/>
            <a:ext cx="54864" cy="82296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88168" y="179222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低准备型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8168" y="210312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AI 意愿弱、数字基础弱，适合低门槛 SaaS 试点。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2697480"/>
            <a:ext cx="34290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287000" y="2697480"/>
            <a:ext cx="54864" cy="82296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88168" y="284378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效率牵引型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8168" y="315468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流程痛点强，适合 API 接入与轻量自动化。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3749039"/>
            <a:ext cx="34290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287000" y="3749039"/>
            <a:ext cx="54864" cy="82296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88168" y="38953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安全敏感型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8168" y="420624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安全顾虑高，适合本地化或混合部署。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4800600"/>
            <a:ext cx="34290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87000" y="4800600"/>
            <a:ext cx="54864" cy="82296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88168" y="494690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成熟扩展型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88168" y="5257800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数字基础强，可扩展多 Agent 工作流与治理闭环。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outputs/tables/sme_persona_clusters_multisource.csv; clustering/persona outputs.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部署策略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部署偏好：安全顾虑改变落地路径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SaaS、API、本地化与混合部署不是技术偏好，而是由风险和效率共同决定。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我把模型结果转成部署矩阵，用来指导中小企业选择更稳的 AI 自动化路线。</a:t>
            </a:r>
          </a:p>
        </p:txBody>
      </p:sp>
      <p:pic>
        <p:nvPicPr>
          <p:cNvPr id="13" name="Picture 12" descr="图07_部署偏好策略矩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62" y="1508760"/>
            <a:ext cx="8107274" cy="48920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646920" y="1600200"/>
            <a:ext cx="3977639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46920" y="1600200"/>
            <a:ext cx="54864" cy="82296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48088" y="1746504"/>
            <a:ext cx="365759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云端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8088" y="2057400"/>
            <a:ext cx="365759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低安全顾虑、低定制需求：快速验证，成本最低。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651760"/>
            <a:ext cx="3977639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46920" y="2651760"/>
            <a:ext cx="54864" cy="82296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48088" y="2798064"/>
            <a:ext cx="365759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API 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3108960"/>
            <a:ext cx="365759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效率需求高、已有系统接口：适合嵌入办公流。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3703320"/>
            <a:ext cx="3977639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46920" y="3703320"/>
            <a:ext cx="54864" cy="82296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48088" y="3849624"/>
            <a:ext cx="365759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本地化部署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8088" y="4160520"/>
            <a:ext cx="365759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安全顾虑高、数据敏感：牺牲部分灵活性换控制权。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4754880"/>
            <a:ext cx="3977639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46920" y="4754880"/>
            <a:ext cx="54864" cy="82296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48088" y="4901184"/>
            <a:ext cx="365759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混合部署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5212080"/>
            <a:ext cx="3657599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效率与安全都高：核心数据本地，通用能力上云。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Deployment preference matrix derived from model/persona interpretation and NIST AI RMF governance frame.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产品实践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产品落地：我如何把模型结论放进 ai.zhjjq.tech AI 工作站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网站不是展示页，而是承接研究结论的应用场景：仪表盘、AI 工作站、组织知识和待办流程。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模型负责判断企业适合哪条路径，AI 工作站负责把路径变成可执行流程。</a:t>
            </a:r>
          </a:p>
        </p:txBody>
      </p:sp>
      <p:pic>
        <p:nvPicPr>
          <p:cNvPr id="13" name="Picture 12" descr="ai_zhjjq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572768"/>
            <a:ext cx="5039360" cy="2834640"/>
          </a:xfrm>
          <a:prstGeom prst="rect">
            <a:avLst/>
          </a:prstGeom>
          <a:ln w="9525">
            <a:solidFill>
              <a:srgbClr val="DAE4EE"/>
            </a:solidFill>
          </a:ln>
        </p:spPr>
      </p:pic>
      <p:pic>
        <p:nvPicPr>
          <p:cNvPr id="14" name="Picture 13" descr="ai_zhjjq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964" y="1572768"/>
            <a:ext cx="4999990" cy="2834640"/>
          </a:xfrm>
          <a:prstGeom prst="rect">
            <a:avLst/>
          </a:prstGeom>
          <a:ln w="9525">
            <a:solidFill>
              <a:srgbClr val="DAE4EE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868680" y="4892040"/>
            <a:ext cx="306324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4892040"/>
            <a:ext cx="54864" cy="822960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503834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仪表盘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5349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承接企业 AI 流程自动化的总体态势。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892040"/>
            <a:ext cx="306324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06240" y="4892040"/>
            <a:ext cx="54864" cy="822960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07407" y="503834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AI 工作站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5349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对接模型建议，组织任务、知识和流程。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4892040"/>
            <a:ext cx="306324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800" y="4892040"/>
            <a:ext cx="54864" cy="822960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44968" y="503834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组织知识管控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968" y="53492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对应安全顾虑和治理成熟度。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81360" y="4892040"/>
            <a:ext cx="274320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881360" y="4892040"/>
            <a:ext cx="54864" cy="822960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82528" y="5038344"/>
            <a:ext cx="24231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待办事项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53492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把部署策略落实到实施清单。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ai.zhjjq.tech product screenshots captured locally; product interpretation built from model results.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384048"/>
          </a:xfrm>
          <a:prstGeom prst="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4630400" cy="32004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00584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Consola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复现与提交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73152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700" b="0">
                <a:solidFill>
                  <a:srgbClr val="BED3E2"/>
                </a:solidFill>
                <a:latin typeface="Microsoft YaHei"/>
              </a:rPr>
              <a:t>机器学习课程结题汇报 · SME AI Workflow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8869680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1">
                <a:solidFill>
                  <a:srgbClr val="122033"/>
                </a:solidFill>
                <a:latin typeface="Microsoft YaHei UI"/>
              </a:rPr>
              <a:t>复现材料：源数据、清洗数据、代码、图表和报告分层提交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25296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5A687A"/>
                </a:solidFill>
                <a:latin typeface="Microsoft YaHei"/>
              </a:rPr>
              <a:t>老师可以从 GitHub 看到完整链路，而不是只能看到 PPT。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960120"/>
            <a:ext cx="4069080" cy="1005840"/>
          </a:xfrm>
          <a:prstGeom prst="roundRect">
            <a:avLst/>
          </a:prstGeom>
          <a:solidFill>
            <a:srgbClr val="F6F9FC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966960" y="960120"/>
            <a:ext cx="64008" cy="1005840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68128" y="10789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1">
                <a:solidFill>
                  <a:srgbClr val="00909F"/>
                </a:solidFill>
                <a:latin typeface="Microsoft YaHei"/>
              </a:rPr>
              <a:t>我的判断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8128" y="1344168"/>
            <a:ext cx="3685032" cy="5303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80" b="1">
                <a:solidFill>
                  <a:srgbClr val="122033"/>
                </a:solidFill>
                <a:latin typeface="Microsoft YaHei"/>
              </a:rPr>
              <a:t>我把项目按中文目录拆开，是为了让评阅者能快速检查数据和代码来源。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508760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1508760"/>
            <a:ext cx="54864" cy="749808"/>
          </a:xfrm>
          <a:prstGeom prst="rect">
            <a:avLst/>
          </a:prstGeom>
          <a:solidFill>
            <a:srgbClr val="16B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1655063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6B3CB"/>
                </a:solidFill>
                <a:latin typeface="Microsoft YaHei"/>
              </a:rPr>
              <a:t>01_源数据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1965960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Eurostat 原始 SDMX-CSV、manifest 哈希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508760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1508760"/>
            <a:ext cx="54864" cy="749808"/>
          </a:xfrm>
          <a:prstGeom prst="rect">
            <a:avLst/>
          </a:prstGeom>
          <a:solidFill>
            <a:srgbClr val="1EA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9248" y="1655063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1EA791"/>
                </a:solidFill>
                <a:latin typeface="Microsoft YaHei"/>
              </a:rPr>
              <a:t>02_清洗后数据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1965960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建模面板、样本数据、画像分配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624328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2624328"/>
            <a:ext cx="54864" cy="749808"/>
          </a:xfrm>
          <a:prstGeom prst="rect">
            <a:avLst/>
          </a:prstGeom>
          <a:solidFill>
            <a:srgbClr val="D3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277063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D3911E"/>
                </a:solidFill>
                <a:latin typeface="Microsoft YaHei"/>
              </a:rPr>
              <a:t>03_清洗与训练代码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3081528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下载、清洗、特征工程、A10 训练、图表脚本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624328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98079" y="2624328"/>
            <a:ext cx="54864" cy="749808"/>
          </a:xfrm>
          <a:prstGeom prst="rect">
            <a:avLst/>
          </a:prstGeom>
          <a:solidFill>
            <a:srgbClr val="CB4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9248" y="277063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CB4649"/>
                </a:solidFill>
                <a:latin typeface="Microsoft YaHei"/>
              </a:rPr>
              <a:t>04_分析结果表格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081528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模型指标、CV、OLS、VIF、重要性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739896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8680" y="3739896"/>
            <a:ext cx="54864" cy="749808"/>
          </a:xfrm>
          <a:prstGeom prst="rect">
            <a:avLst/>
          </a:prstGeom>
          <a:solidFill>
            <a:srgbClr val="258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38862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258D6E"/>
                </a:solidFill>
                <a:latin typeface="Microsoft YaHei"/>
              </a:rPr>
              <a:t>05_学术图表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197096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PNG/SVG 学术图与 PPT 图片稿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3739896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98079" y="3739896"/>
            <a:ext cx="54864" cy="749808"/>
          </a:xfrm>
          <a:prstGeom prst="rect">
            <a:avLst/>
          </a:prstGeom>
          <a:solidFill>
            <a:srgbClr val="09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99248" y="38862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92846"/>
                </a:solidFill>
                <a:latin typeface="Microsoft YaHei"/>
              </a:rPr>
              <a:t>06_结课报告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4197096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Word/PDF 课程报告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4855464"/>
            <a:ext cx="5989320" cy="7498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8680" y="4855464"/>
            <a:ext cx="54864" cy="749808"/>
          </a:xfrm>
          <a:prstGeom prst="rect">
            <a:avLst/>
          </a:prstGeom>
          <a:solidFill>
            <a:srgbClr val="0090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69848" y="500176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0909F"/>
                </a:solidFill>
                <a:latin typeface="Microsoft YaHei"/>
              </a:rPr>
              <a:t>07_PPT正式版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5312664"/>
            <a:ext cx="5669280" cy="182879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80" b="0">
                <a:solidFill>
                  <a:srgbClr val="122033"/>
                </a:solidFill>
                <a:latin typeface="Microsoft YaHei"/>
              </a:rPr>
              <a:t>本次可编辑 PPT、背景、预览和讲稿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" y="6236208"/>
            <a:ext cx="12435840" cy="594360"/>
          </a:xfrm>
          <a:prstGeom prst="roundRect">
            <a:avLst/>
          </a:prstGeom>
          <a:solidFill>
            <a:srgbClr val="05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88720" y="6419088"/>
            <a:ext cx="1188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提交逻辑：真实数据 → 清洗验证 → 训练结果 → 学术图表 → Word报告 → PPT答辩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7699248"/>
            <a:ext cx="13487400" cy="8778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7790688"/>
            <a:ext cx="9875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640" b="0">
                <a:solidFill>
                  <a:srgbClr val="5A687A"/>
                </a:solidFill>
                <a:latin typeface="Microsoft YaHei"/>
              </a:rPr>
              <a:t>Source: GitHub repository folder structure and generated deliverables.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0" y="7763256"/>
            <a:ext cx="43891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1">
                <a:solidFill>
                  <a:srgbClr val="5A687A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BA17F2-3F53-C90A-B7E7-28A2D10E3EF0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gradFill flip="none" rotWithShape="1">
            <a:gsLst>
              <a:gs pos="0">
                <a:srgbClr val="04122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E91424-8316-2EF6-1506-58B35A1C0671}"/>
              </a:ext>
            </a:extLst>
          </p:cNvPr>
          <p:cNvSpPr/>
          <p:nvPr/>
        </p:nvSpPr>
        <p:spPr>
          <a:xfrm>
            <a:off x="0" y="0"/>
            <a:ext cx="14630400" cy="431800"/>
          </a:xfrm>
          <a:prstGeom prst="rect">
            <a:avLst/>
          </a:prstGeom>
          <a:gradFill flip="none" rotWithShape="1">
            <a:gsLst>
              <a:gs pos="0">
                <a:srgbClr val="05182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0DAB3F-B4DF-3390-2510-54F2950BC3FE}"/>
              </a:ext>
            </a:extLst>
          </p:cNvPr>
          <p:cNvSpPr/>
          <p:nvPr/>
        </p:nvSpPr>
        <p:spPr>
          <a:xfrm>
            <a:off x="0" y="431800"/>
            <a:ext cx="14630400" cy="38100"/>
          </a:xfrm>
          <a:prstGeom prst="rect">
            <a:avLst/>
          </a:prstGeom>
          <a:gradFill flip="none" rotWithShape="1">
            <a:gsLst>
              <a:gs pos="0">
                <a:srgbClr val="16B3C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2B3F03-2285-5C64-E23C-990F6F35D689}"/>
              </a:ext>
            </a:extLst>
          </p:cNvPr>
          <p:cNvSpPr/>
          <p:nvPr/>
        </p:nvSpPr>
        <p:spPr>
          <a:xfrm>
            <a:off x="8953500" y="1143000"/>
            <a:ext cx="76200" cy="55880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BF2744-D349-1FDA-D75E-D223D42E5849}"/>
              </a:ext>
            </a:extLst>
          </p:cNvPr>
          <p:cNvSpPr/>
          <p:nvPr/>
        </p:nvSpPr>
        <p:spPr>
          <a:xfrm>
            <a:off x="9486900" y="1841500"/>
            <a:ext cx="76200" cy="54102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A82694-574D-78A1-C2DC-9E80ECBD8B5F}"/>
              </a:ext>
            </a:extLst>
          </p:cNvPr>
          <p:cNvSpPr/>
          <p:nvPr/>
        </p:nvSpPr>
        <p:spPr>
          <a:xfrm>
            <a:off x="10020300" y="2540000"/>
            <a:ext cx="76200" cy="52324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8ED594-9B12-1BBD-1A96-D6C9F85D0DAF}"/>
              </a:ext>
            </a:extLst>
          </p:cNvPr>
          <p:cNvSpPr/>
          <p:nvPr/>
        </p:nvSpPr>
        <p:spPr>
          <a:xfrm>
            <a:off x="10553700" y="1143000"/>
            <a:ext cx="76200" cy="50546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DA4EA-0662-C445-21E2-2EDEDBE828C7}"/>
              </a:ext>
            </a:extLst>
          </p:cNvPr>
          <p:cNvSpPr/>
          <p:nvPr/>
        </p:nvSpPr>
        <p:spPr>
          <a:xfrm>
            <a:off x="11087100" y="1841500"/>
            <a:ext cx="76200" cy="48768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5482A8-203C-AB4E-4253-9AE8C67EAED2}"/>
              </a:ext>
            </a:extLst>
          </p:cNvPr>
          <p:cNvSpPr/>
          <p:nvPr/>
        </p:nvSpPr>
        <p:spPr>
          <a:xfrm>
            <a:off x="11620500" y="2540000"/>
            <a:ext cx="76200" cy="46990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F82B72-18A8-6268-7906-2D6E92B1D2B5}"/>
              </a:ext>
            </a:extLst>
          </p:cNvPr>
          <p:cNvSpPr/>
          <p:nvPr/>
        </p:nvSpPr>
        <p:spPr>
          <a:xfrm>
            <a:off x="12153900" y="1143000"/>
            <a:ext cx="76200" cy="45212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C7F369-152C-40B8-16AA-14006B8159B9}"/>
              </a:ext>
            </a:extLst>
          </p:cNvPr>
          <p:cNvSpPr/>
          <p:nvPr/>
        </p:nvSpPr>
        <p:spPr>
          <a:xfrm>
            <a:off x="12687300" y="1841500"/>
            <a:ext cx="76200" cy="43434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F6F3FF-C691-7340-9F89-16696F740D82}"/>
              </a:ext>
            </a:extLst>
          </p:cNvPr>
          <p:cNvSpPr/>
          <p:nvPr/>
        </p:nvSpPr>
        <p:spPr>
          <a:xfrm>
            <a:off x="13220700" y="2540000"/>
            <a:ext cx="76200" cy="4165600"/>
          </a:xfrm>
          <a:prstGeom prst="rect">
            <a:avLst/>
          </a:prstGeom>
          <a:gradFill flip="none" rotWithShape="1">
            <a:gsLst>
              <a:gs pos="0">
                <a:srgbClr val="12485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CE5139-3A3F-54BB-C817-396CC79151F4}"/>
              </a:ext>
            </a:extLst>
          </p:cNvPr>
          <p:cNvSpPr/>
          <p:nvPr/>
        </p:nvSpPr>
        <p:spPr>
          <a:xfrm>
            <a:off x="9017000" y="14986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5C5D03B-C0D9-839C-F92D-2DF6B91B15C3}"/>
              </a:ext>
            </a:extLst>
          </p:cNvPr>
          <p:cNvSpPr/>
          <p:nvPr/>
        </p:nvSpPr>
        <p:spPr>
          <a:xfrm>
            <a:off x="9017000" y="22352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64F108-C727-2F0A-1A82-3130A14BB6A2}"/>
              </a:ext>
            </a:extLst>
          </p:cNvPr>
          <p:cNvSpPr/>
          <p:nvPr/>
        </p:nvSpPr>
        <p:spPr>
          <a:xfrm>
            <a:off x="9017000" y="29718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4CDBBC-B87A-54D3-78E6-4A5F32E53198}"/>
              </a:ext>
            </a:extLst>
          </p:cNvPr>
          <p:cNvSpPr/>
          <p:nvPr/>
        </p:nvSpPr>
        <p:spPr>
          <a:xfrm>
            <a:off x="9017000" y="37084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979728-A4A0-BD10-ACB1-CF5DFDF81B1B}"/>
              </a:ext>
            </a:extLst>
          </p:cNvPr>
          <p:cNvSpPr/>
          <p:nvPr/>
        </p:nvSpPr>
        <p:spPr>
          <a:xfrm>
            <a:off x="9017000" y="44450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45080FC-AA83-0863-25F6-C7A46819CC68}"/>
              </a:ext>
            </a:extLst>
          </p:cNvPr>
          <p:cNvSpPr/>
          <p:nvPr/>
        </p:nvSpPr>
        <p:spPr>
          <a:xfrm>
            <a:off x="9017000" y="5181600"/>
            <a:ext cx="4381500" cy="12700"/>
          </a:xfrm>
          <a:prstGeom prst="rect">
            <a:avLst/>
          </a:prstGeom>
          <a:gradFill flip="none" rotWithShape="1">
            <a:gsLst>
              <a:gs pos="0">
                <a:srgbClr val="1F748A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989674-07C2-D969-FE52-D68CA9E6A95A}"/>
              </a:ext>
            </a:extLst>
          </p:cNvPr>
          <p:cNvSpPr txBox="1"/>
          <p:nvPr/>
        </p:nvSpPr>
        <p:spPr>
          <a:xfrm>
            <a:off x="571500" y="101600"/>
            <a:ext cx="68580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18  </a:t>
            </a:r>
            <a:r>
              <a:rPr lang="zh-CN" altLang="en-US" sz="8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研究结论：从统计显著走向企业价值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3858A3-2624-7FDA-1937-5D17B2506119}"/>
              </a:ext>
            </a:extLst>
          </p:cNvPr>
          <p:cNvSpPr txBox="1"/>
          <p:nvPr/>
        </p:nvSpPr>
        <p:spPr>
          <a:xfrm>
            <a:off x="11176000" y="101600"/>
            <a:ext cx="3048000" cy="200055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pPr algn="r"/>
            <a:r>
              <a:rPr lang="zh-CN" altLang="en-US" sz="700">
                <a:solidFill>
                  <a:srgbClr val="BED3E2"/>
                </a:solidFill>
                <a:latin typeface="Microsoft YaHei" panose="020B0503020204020204" pitchFamily="34" charset="-122"/>
              </a:rPr>
              <a:t>机器学习课程结题汇报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C0E8E45-ED3A-17A5-11DB-B9B294265EA1}"/>
              </a:ext>
            </a:extLst>
          </p:cNvPr>
          <p:cNvSpPr txBox="1"/>
          <p:nvPr/>
        </p:nvSpPr>
        <p:spPr>
          <a:xfrm>
            <a:off x="787400" y="952500"/>
            <a:ext cx="3175000" cy="33855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1600" b="1">
                <a:solidFill>
                  <a:srgbClr val="16B3CB"/>
                </a:solidFill>
                <a:latin typeface="Microsoft YaHei" panose="020B0503020204020204" pitchFamily="34" charset="-122"/>
              </a:rPr>
              <a:t>我的最终结论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E4BA2E-53B8-0204-A116-65F4FA16F18D}"/>
              </a:ext>
            </a:extLst>
          </p:cNvPr>
          <p:cNvSpPr txBox="1"/>
          <p:nvPr/>
        </p:nvSpPr>
        <p:spPr>
          <a:xfrm>
            <a:off x="787400" y="1587500"/>
            <a:ext cx="7747000" cy="73866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2100" b="1">
                <a:solidFill>
                  <a:srgbClr val="FFFFFF"/>
                </a:solidFill>
                <a:latin typeface="Microsoft YaHei" panose="020B0503020204020204" pitchFamily="34" charset="-122"/>
              </a:rPr>
              <a:t>流程自动化采纳不是单一技术扩散，而是效率需求、数字基础、安全治理和部署路径共同作用的企业决策。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22758A-2B07-C8FB-6DB4-07E9486ED0FA}"/>
              </a:ext>
            </a:extLst>
          </p:cNvPr>
          <p:cNvSpPr/>
          <p:nvPr/>
        </p:nvSpPr>
        <p:spPr>
          <a:xfrm>
            <a:off x="863600" y="2921000"/>
            <a:ext cx="7747000" cy="50800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44BE2F-1210-3E92-2584-093C246BE88A}"/>
              </a:ext>
            </a:extLst>
          </p:cNvPr>
          <p:cNvSpPr/>
          <p:nvPr/>
        </p:nvSpPr>
        <p:spPr>
          <a:xfrm>
            <a:off x="863600" y="2921000"/>
            <a:ext cx="76200" cy="508000"/>
          </a:xfrm>
          <a:prstGeom prst="rect">
            <a:avLst/>
          </a:prstGeom>
          <a:gradFill flip="none" rotWithShape="1">
            <a:gsLst>
              <a:gs pos="0">
                <a:srgbClr val="16B3CB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E12DF1-4D14-9E30-5656-31CB5CA4999B}"/>
              </a:ext>
            </a:extLst>
          </p:cNvPr>
          <p:cNvSpPr txBox="1"/>
          <p:nvPr/>
        </p:nvSpPr>
        <p:spPr>
          <a:xfrm>
            <a:off x="1066800" y="3035300"/>
            <a:ext cx="7874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800" b="1">
                <a:solidFill>
                  <a:srgbClr val="16B3CB"/>
                </a:solidFill>
                <a:latin typeface="Microsoft YaHei" panose="020B0503020204020204" pitchFamily="34" charset="-122"/>
              </a:rPr>
              <a:t>结论一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A76BF4-E96C-14D5-5AD1-DECBD01EBDF7}"/>
              </a:ext>
            </a:extLst>
          </p:cNvPr>
          <p:cNvSpPr txBox="1"/>
          <p:nvPr/>
        </p:nvSpPr>
        <p:spPr>
          <a:xfrm>
            <a:off x="2006600" y="3022600"/>
            <a:ext cx="6159500" cy="2308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Stage 1 SME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层：随机森林 </a:t>
            </a:r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GroupKFold R²=0.850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，说明机制变量有稳定预测力。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DD6253C-DA2F-5ADA-C90A-CA0BFC391C79}"/>
              </a:ext>
            </a:extLst>
          </p:cNvPr>
          <p:cNvSpPr/>
          <p:nvPr/>
        </p:nvSpPr>
        <p:spPr>
          <a:xfrm>
            <a:off x="863600" y="3606800"/>
            <a:ext cx="7747000" cy="50800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A2C02B8-304A-DCA7-D2F4-76E37C0C5FAD}"/>
              </a:ext>
            </a:extLst>
          </p:cNvPr>
          <p:cNvSpPr/>
          <p:nvPr/>
        </p:nvSpPr>
        <p:spPr>
          <a:xfrm>
            <a:off x="863600" y="3606800"/>
            <a:ext cx="76200" cy="508000"/>
          </a:xfrm>
          <a:prstGeom prst="rect">
            <a:avLst/>
          </a:prstGeom>
          <a:gradFill flip="none" rotWithShape="1">
            <a:gsLst>
              <a:gs pos="0">
                <a:srgbClr val="1EA791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4629DEE-B439-628D-0569-0C3C668D8A54}"/>
              </a:ext>
            </a:extLst>
          </p:cNvPr>
          <p:cNvSpPr txBox="1"/>
          <p:nvPr/>
        </p:nvSpPr>
        <p:spPr>
          <a:xfrm>
            <a:off x="1066800" y="3721100"/>
            <a:ext cx="7874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800" b="1">
                <a:solidFill>
                  <a:srgbClr val="1EA791"/>
                </a:solidFill>
                <a:latin typeface="Microsoft YaHei" panose="020B0503020204020204" pitchFamily="34" charset="-122"/>
              </a:rPr>
              <a:t>结论二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94F19EE-CF68-5AF5-A95A-7CE7DD8CE596}"/>
              </a:ext>
            </a:extLst>
          </p:cNvPr>
          <p:cNvSpPr txBox="1"/>
          <p:nvPr/>
        </p:nvSpPr>
        <p:spPr>
          <a:xfrm>
            <a:off x="2006600" y="3708400"/>
            <a:ext cx="6159500" cy="2308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Stage 2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行业层：</a:t>
            </a:r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ExtraTrees GroupKFold R²=0.724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，增强外部有效性。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BBB6D2-EB4A-4B13-55F0-CBBFEB31DBFF}"/>
              </a:ext>
            </a:extLst>
          </p:cNvPr>
          <p:cNvSpPr/>
          <p:nvPr/>
        </p:nvSpPr>
        <p:spPr>
          <a:xfrm>
            <a:off x="863600" y="4292600"/>
            <a:ext cx="7747000" cy="50800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7561E2A-BB85-FE21-73B2-7C74CF452C34}"/>
              </a:ext>
            </a:extLst>
          </p:cNvPr>
          <p:cNvSpPr/>
          <p:nvPr/>
        </p:nvSpPr>
        <p:spPr>
          <a:xfrm>
            <a:off x="863600" y="4292600"/>
            <a:ext cx="76200" cy="508000"/>
          </a:xfrm>
          <a:prstGeom prst="rect">
            <a:avLst/>
          </a:prstGeom>
          <a:gradFill flip="none" rotWithShape="1">
            <a:gsLst>
              <a:gs pos="0">
                <a:srgbClr val="D3911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DB4186A-5A99-59BD-72D5-0AC422EEF43C}"/>
              </a:ext>
            </a:extLst>
          </p:cNvPr>
          <p:cNvSpPr txBox="1"/>
          <p:nvPr/>
        </p:nvSpPr>
        <p:spPr>
          <a:xfrm>
            <a:off x="1066800" y="4406900"/>
            <a:ext cx="7874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800" b="1">
                <a:solidFill>
                  <a:srgbClr val="D3911E"/>
                </a:solidFill>
                <a:latin typeface="Microsoft YaHei" panose="020B0503020204020204" pitchFamily="34" charset="-122"/>
              </a:rPr>
              <a:t>结论三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B73EB0A-DD08-D1C8-F1A3-909C269C2C6B}"/>
              </a:ext>
            </a:extLst>
          </p:cNvPr>
          <p:cNvSpPr txBox="1"/>
          <p:nvPr/>
        </p:nvSpPr>
        <p:spPr>
          <a:xfrm>
            <a:off x="2006600" y="4394200"/>
            <a:ext cx="6159500" cy="2308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A10 GPU MLP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不是最优，提示表格数据应优先选择稳健树模型和可解释诊断。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2E15999-A196-0944-A686-06C2A657971E}"/>
              </a:ext>
            </a:extLst>
          </p:cNvPr>
          <p:cNvSpPr/>
          <p:nvPr/>
        </p:nvSpPr>
        <p:spPr>
          <a:xfrm>
            <a:off x="863600" y="4978400"/>
            <a:ext cx="7747000" cy="50800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2DF9F9-B0AC-AC1D-7CDA-3E6C6938BD97}"/>
              </a:ext>
            </a:extLst>
          </p:cNvPr>
          <p:cNvSpPr/>
          <p:nvPr/>
        </p:nvSpPr>
        <p:spPr>
          <a:xfrm>
            <a:off x="863600" y="4978400"/>
            <a:ext cx="76200" cy="508000"/>
          </a:xfrm>
          <a:prstGeom prst="rect">
            <a:avLst/>
          </a:prstGeom>
          <a:gradFill flip="none" rotWithShape="1">
            <a:gsLst>
              <a:gs pos="0">
                <a:srgbClr val="CB464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FE4264-6828-BFB0-D9B7-3E30071DB107}"/>
              </a:ext>
            </a:extLst>
          </p:cNvPr>
          <p:cNvSpPr txBox="1"/>
          <p:nvPr/>
        </p:nvSpPr>
        <p:spPr>
          <a:xfrm>
            <a:off x="1066800" y="5092700"/>
            <a:ext cx="7874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800" b="1">
                <a:solidFill>
                  <a:srgbClr val="CB4649"/>
                </a:solidFill>
                <a:latin typeface="Microsoft YaHei" panose="020B0503020204020204" pitchFamily="34" charset="-122"/>
              </a:rPr>
              <a:t>结论四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F6A2573-3F35-1FB3-12A5-F971E488F645}"/>
              </a:ext>
            </a:extLst>
          </p:cNvPr>
          <p:cNvSpPr txBox="1"/>
          <p:nvPr/>
        </p:nvSpPr>
        <p:spPr>
          <a:xfrm>
            <a:off x="2006600" y="5080000"/>
            <a:ext cx="6159500" cy="2308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安全顾虑会把企业从通用 </a:t>
            </a:r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SaaS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推向 </a:t>
            </a:r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API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、本地化或混合部署。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2D6398F-9E20-0273-1FD1-357E839C195F}"/>
              </a:ext>
            </a:extLst>
          </p:cNvPr>
          <p:cNvSpPr/>
          <p:nvPr/>
        </p:nvSpPr>
        <p:spPr>
          <a:xfrm>
            <a:off x="863600" y="5664200"/>
            <a:ext cx="7747000" cy="508000"/>
          </a:xfrm>
          <a:prstGeom prst="rect">
            <a:avLst/>
          </a:prstGeom>
          <a:gradFill flip="none" rotWithShape="1">
            <a:gsLst>
              <a:gs pos="0">
                <a:srgbClr val="F6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6044D20-D2E6-B775-FE4A-01D343506004}"/>
              </a:ext>
            </a:extLst>
          </p:cNvPr>
          <p:cNvSpPr/>
          <p:nvPr/>
        </p:nvSpPr>
        <p:spPr>
          <a:xfrm>
            <a:off x="863600" y="5664200"/>
            <a:ext cx="76200" cy="508000"/>
          </a:xfrm>
          <a:prstGeom prst="rect">
            <a:avLst/>
          </a:prstGeom>
          <a:gradFill flip="none" rotWithShape="1">
            <a:gsLst>
              <a:gs pos="0">
                <a:srgbClr val="258D6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C5B46AD-F406-88EF-E4AF-9D4E4343E9DA}"/>
              </a:ext>
            </a:extLst>
          </p:cNvPr>
          <p:cNvSpPr txBox="1"/>
          <p:nvPr/>
        </p:nvSpPr>
        <p:spPr>
          <a:xfrm>
            <a:off x="1066800" y="5778500"/>
            <a:ext cx="787400" cy="215444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800" b="1">
                <a:solidFill>
                  <a:srgbClr val="258D6E"/>
                </a:solidFill>
                <a:latin typeface="Microsoft YaHei" panose="020B0503020204020204" pitchFamily="34" charset="-122"/>
              </a:rPr>
              <a:t>结论五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8EA0CFC-B64E-389E-8DC9-E7DA2F28B6B8}"/>
              </a:ext>
            </a:extLst>
          </p:cNvPr>
          <p:cNvSpPr txBox="1"/>
          <p:nvPr/>
        </p:nvSpPr>
        <p:spPr>
          <a:xfrm>
            <a:off x="2006600" y="5765800"/>
            <a:ext cx="6159500" cy="2308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ai.zhjjq.tech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可作为研究落地载体，把画像分层转为可执行 </a:t>
            </a:r>
            <a:r>
              <a:rPr lang="en-US" altLang="zh-CN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00" b="1">
                <a:solidFill>
                  <a:srgbClr val="122033"/>
                </a:solidFill>
                <a:latin typeface="Microsoft YaHei" panose="020B0503020204020204" pitchFamily="34" charset="-122"/>
              </a:rPr>
              <a:t>办公流程。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1CDA6AD-B398-B816-D3F3-67C627D9A11A}"/>
              </a:ext>
            </a:extLst>
          </p:cNvPr>
          <p:cNvSpPr/>
          <p:nvPr/>
        </p:nvSpPr>
        <p:spPr>
          <a:xfrm>
            <a:off x="9334500" y="5816600"/>
            <a:ext cx="4318000" cy="1168400"/>
          </a:xfrm>
          <a:prstGeom prst="rect">
            <a:avLst/>
          </a:prstGeom>
          <a:gradFill flip="none" rotWithShape="1">
            <a:gsLst>
              <a:gs pos="0">
                <a:srgbClr val="02122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solidFill>
              <a:srgbClr val="3E6E8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8AF0314-297C-0D58-16D5-178DC420F45C}"/>
              </a:ext>
            </a:extLst>
          </p:cNvPr>
          <p:cNvSpPr txBox="1"/>
          <p:nvPr/>
        </p:nvSpPr>
        <p:spPr>
          <a:xfrm>
            <a:off x="9588500" y="5994400"/>
            <a:ext cx="1143000" cy="261610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1100" b="1">
                <a:solidFill>
                  <a:srgbClr val="16B3CB"/>
                </a:solidFill>
                <a:latin typeface="Microsoft YaHei" panose="020B0503020204020204" pitchFamily="34" charset="-122"/>
              </a:rPr>
              <a:t>下一步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E4466B0-D34A-9A29-84C4-12714D1A571A}"/>
              </a:ext>
            </a:extLst>
          </p:cNvPr>
          <p:cNvSpPr txBox="1"/>
          <p:nvPr/>
        </p:nvSpPr>
        <p:spPr>
          <a:xfrm>
            <a:off x="9588500" y="6388100"/>
            <a:ext cx="3619500" cy="369332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引入国内企业问卷与更细粒度流程日志，把当前官方统计模型扩展为可持续更新的企业 </a:t>
            </a:r>
            <a:r>
              <a:rPr lang="en-US" altLang="zh-CN" sz="900">
                <a:solidFill>
                  <a:srgbClr val="FFFFFF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900">
                <a:solidFill>
                  <a:srgbClr val="FFFFFF"/>
                </a:solidFill>
                <a:latin typeface="Microsoft YaHei" panose="020B0503020204020204" pitchFamily="34" charset="-122"/>
              </a:rPr>
              <a:t>采纳评分系统。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EAD7575-EE5B-5B25-3FC2-4B2EFFDAA4AB}"/>
              </a:ext>
            </a:extLst>
          </p:cNvPr>
          <p:cNvSpPr txBox="1"/>
          <p:nvPr/>
        </p:nvSpPr>
        <p:spPr>
          <a:xfrm>
            <a:off x="787400" y="7937500"/>
            <a:ext cx="9017000" cy="200055"/>
          </a:xfrm>
          <a:prstGeom prst="rect">
            <a:avLst/>
          </a:prstGeom>
          <a:noFill/>
        </p:spPr>
        <p:txBody>
          <a:bodyPr vert="horz" rtlCol="0" anchor="t">
            <a:spAutoFit/>
          </a:bodyPr>
          <a:lstStyle/>
          <a:p>
            <a:r>
              <a:rPr lang="en-US" altLang="zh-CN" sz="700">
                <a:solidFill>
                  <a:srgbClr val="B2C6D5"/>
                </a:solidFill>
                <a:latin typeface="Microsoft YaHei" panose="020B0503020204020204" pitchFamily="34" charset="-122"/>
              </a:rPr>
              <a:t>Source: Eurostat official data, reproducible Python pipelines, A10 GPU baseline, ai.zhjjq.tech product scenario.</a:t>
            </a:r>
            <a:endParaRPr lang="zh-CN" altLang="en-US" sz="700">
              <a:solidFill>
                <a:srgbClr val="B2C6D5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075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1750</Words>
  <Application>Microsoft Office PowerPoint</Application>
  <PresentationFormat>自定义</PresentationFormat>
  <Paragraphs>350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Microsoft YaHei UI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浩伟 景</cp:lastModifiedBy>
  <cp:revision>2</cp:revision>
  <dcterms:created xsi:type="dcterms:W3CDTF">2013-01-27T09:14:16Z</dcterms:created>
  <dcterms:modified xsi:type="dcterms:W3CDTF">2026-05-18T13:08:43Z</dcterms:modified>
  <cp:category/>
</cp:coreProperties>
</file>