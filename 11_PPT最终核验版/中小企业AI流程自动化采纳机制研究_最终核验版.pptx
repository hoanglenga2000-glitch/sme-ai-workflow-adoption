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60" b="1">
                <a:solidFill>
                  <a:srgbClr val="0B1F3A"/>
                </a:solidFill>
                <a:latin typeface="Aptos"/>
              </a:rPr>
              <a:t>FINAL VALIDATION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685800" cy="28163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152144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2200" b="1">
                <a:solidFill>
                  <a:srgbClr val="111827"/>
                </a:solidFill>
                <a:latin typeface="Microsoft YaHei UI"/>
              </a:rPr>
              <a:t>AI 流程自动化采纳机制：最终核验结果已经闭环。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7635240"/>
            <a:ext cx="13395960" cy="1152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7754112"/>
            <a:ext cx="102412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680" b="0">
                <a:solidFill>
                  <a:srgbClr val="5C6675"/>
                </a:solidFill>
                <a:latin typeface="Aptos"/>
              </a:rPr>
              <a:t>Final validation sources: 10_Agent系统/reports/final_research_registry_summary.json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0" y="7744968"/>
            <a:ext cx="502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00" b="0">
                <a:solidFill>
                  <a:srgbClr val="5C6675"/>
                </a:solidFill>
                <a:latin typeface="Cascadia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27632"/>
            <a:ext cx="65836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>
                <a:solidFill>
                  <a:srgbClr val="5C6675"/>
                </a:solidFill>
                <a:latin typeface="Microsoft YaHei"/>
              </a:rPr>
              <a:t>基于中小企业 AI 流程自动化采纳机制研究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6492240" cy="49377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Microsoft YaHei"/>
              </a:rPr>
              <a:t>从“待核验训练路线”升级为“数据、模型、Agent 已验证”的课堂答辩版本。</a:t>
            </a:r>
          </a:p>
        </p:txBody>
      </p:sp>
      <p:pic>
        <p:nvPicPr>
          <p:cNvPr id="11" name="Picture 10" descr="001-out-01-ai-workflow-adoption-mechanism-png-prompt-academic-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642776"/>
            <a:ext cx="4709160" cy="26489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3232" y="4343400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scadia Mono"/>
              </a:rPr>
              <a:t>544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76402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Stage 1 可建模样本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7168" y="4343400"/>
            <a:ext cx="16459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scadia Mono"/>
              </a:rPr>
              <a:t>5,814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87168" y="4764024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Stage 2 可建模样本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4343400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scadia Mono"/>
              </a:rPr>
              <a:t>0.7137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4764024"/>
            <a:ext cx="21031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Stage 2 GroupKFold R²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2048" y="4343400"/>
            <a:ext cx="173736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scadia Mono"/>
              </a:rPr>
              <a:t>0.0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42048" y="4764024"/>
            <a:ext cx="19202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Agent hallucination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669280"/>
            <a:ext cx="83210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Microsoft YaHei"/>
              </a:rPr>
              <a:t>口径锁定：Stage 1 = SME 机制解释；Stage 2 = GE10 行业/区域外部验证。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60" b="1">
                <a:solidFill>
                  <a:srgbClr val="0B1F3A"/>
                </a:solidFill>
                <a:latin typeface="Aptos"/>
              </a:rPr>
              <a:t>STAGE 1 / STAGE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685800" cy="28163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152144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2200" b="1">
                <a:solidFill>
                  <a:srgbClr val="111827"/>
                </a:solidFill>
                <a:latin typeface="Microsoft YaHei UI"/>
              </a:rPr>
              <a:t>两阶段设计把中小企业机制解释和外部泛化验证分开。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7635240"/>
            <a:ext cx="13395960" cy="1152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7754112"/>
            <a:ext cx="102412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680" b="0">
                <a:solidFill>
                  <a:srgbClr val="5C6675"/>
                </a:solidFill>
                <a:latin typeface="Aptos"/>
              </a:rPr>
              <a:t>Source: final research validation pack, e789173.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0" y="7744968"/>
            <a:ext cx="502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00" b="0">
                <a:solidFill>
                  <a:srgbClr val="5C6675"/>
                </a:solidFill>
                <a:latin typeface="Cascadia Mono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691640"/>
            <a:ext cx="5989320" cy="3840480"/>
          </a:xfrm>
          <a:prstGeom prst="rect">
            <a:avLst/>
          </a:prstGeom>
          <a:solidFill>
            <a:srgbClr val="F6F8FB"/>
          </a:solidFill>
          <a:ln w="9525">
            <a:solidFill>
              <a:srgbClr val="E2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1938528"/>
            <a:ext cx="155448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Stage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95728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1050" b="0">
                <a:solidFill>
                  <a:srgbClr val="5C6675"/>
                </a:solidFill>
                <a:latin typeface="Aptos"/>
              </a:rPr>
              <a:t>SME mechanism interpretation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71800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scadia Mono"/>
              </a:rPr>
              <a:t>553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392424"/>
            <a:ext cx="15544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面板行数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971800"/>
            <a:ext cx="155448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scadia Mono"/>
              </a:rPr>
              <a:t>544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392424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可建模样本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971800"/>
            <a:ext cx="1188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scadia Mono"/>
              </a:rPr>
              <a:t>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392424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geo 分组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60520"/>
            <a:ext cx="26517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19" b="0">
                <a:solidFill>
                  <a:srgbClr val="111827"/>
                </a:solidFill>
                <a:latin typeface="Microsoft YaHei"/>
              </a:rPr>
              <a:t>年份范围：2021 - 2025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4160520"/>
            <a:ext cx="24231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19" b="0">
                <a:solidFill>
                  <a:srgbClr val="111827"/>
                </a:solidFill>
                <a:latin typeface="Microsoft YaHei"/>
              </a:rPr>
              <a:t>研究用途：中小企业规模层机制分析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736592"/>
            <a:ext cx="53035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8E97A4"/>
                </a:solidFill>
                <a:latin typeface="Cascadia Mono"/>
              </a:rPr>
              <a:t>`data/processed/eurostat_ai_panel.csv`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79" y="1691640"/>
            <a:ext cx="5989320" cy="3840480"/>
          </a:xfrm>
          <a:prstGeom prst="rect">
            <a:avLst/>
          </a:prstGeom>
          <a:solidFill>
            <a:srgbClr val="F6F8FB"/>
          </a:solidFill>
          <a:ln w="9525">
            <a:solidFill>
              <a:srgbClr val="E2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938528"/>
            <a:ext cx="155448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5C4FA0"/>
                </a:solidFill>
                <a:latin typeface="Aptos"/>
              </a:rPr>
              <a:t>Stage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9" y="2395728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1050" b="0">
                <a:solidFill>
                  <a:srgbClr val="5C6675"/>
                </a:solidFill>
                <a:latin typeface="Aptos"/>
              </a:rPr>
              <a:t>GE10 industry and region external validation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9" y="2971800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5C4FA0"/>
                </a:solidFill>
                <a:latin typeface="Cascadia Mono"/>
              </a:rPr>
              <a:t>5,814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19" y="3392424"/>
            <a:ext cx="15544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面板行数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971800"/>
            <a:ext cx="155448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5C4FA0"/>
                </a:solidFill>
                <a:latin typeface="Cascadia Mono"/>
              </a:rPr>
              <a:t>5,814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3392424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可建模样本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78640" y="2971800"/>
            <a:ext cx="1188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5C4FA0"/>
                </a:solidFill>
                <a:latin typeface="Cascadia Mono"/>
              </a:rPr>
              <a:t>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78640" y="3392424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geo 分组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19" y="4160520"/>
            <a:ext cx="26517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19" b="0">
                <a:solidFill>
                  <a:srgbClr val="111827"/>
                </a:solidFill>
                <a:latin typeface="Microsoft YaHei"/>
              </a:rPr>
              <a:t>年份范围：2021 - 2025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4160520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19" b="0">
                <a:solidFill>
                  <a:srgbClr val="111827"/>
                </a:solidFill>
                <a:latin typeface="Microsoft YaHei"/>
              </a:rPr>
              <a:t>行业分组：50 个 NACE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19" y="4736592"/>
            <a:ext cx="53035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8E97A4"/>
                </a:solidFill>
                <a:latin typeface="Cascadia Mono"/>
              </a:rPr>
              <a:t>`data/processed/stage2_industry_panel.csv`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6080760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What the chart shows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6300216"/>
            <a:ext cx="1179576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Stage 1 answers the original SME mechanism question; Stage 2 checks whether the pattern remains stable in broader official statistics.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17320" y="6702552"/>
            <a:ext cx="1179576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17320" y="6793992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Why it matters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7013448"/>
            <a:ext cx="1179576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This prevents overstating Stage 2 as SME-only while still using its scale for external validation.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17320" y="7415784"/>
            <a:ext cx="1179576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17320" y="7507224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Decision it supports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7726680"/>
            <a:ext cx="1179576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PPT narration should always say: Stage 1 for mechanism, Stage 2 for validation.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60" b="1">
                <a:solidFill>
                  <a:srgbClr val="0B1F3A"/>
                </a:solidFill>
                <a:latin typeface="Aptos"/>
              </a:rPr>
              <a:t>MODEL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685800" cy="28163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152144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2200" b="1">
                <a:solidFill>
                  <a:srgbClr val="111827"/>
                </a:solidFill>
                <a:latin typeface="Microsoft YaHei UI"/>
              </a:rPr>
              <a:t>最终模型页只展示已核验指标，不再混用历史调参分数。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7635240"/>
            <a:ext cx="13395960" cy="1152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7754112"/>
            <a:ext cx="102412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680" b="0">
                <a:solidFill>
                  <a:srgbClr val="5C6675"/>
                </a:solidFill>
                <a:latin typeface="Aptos"/>
              </a:rPr>
              <a:t>Source: final research validation pack, e789173.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0" y="7744968"/>
            <a:ext cx="502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00" b="0">
                <a:solidFill>
                  <a:srgbClr val="5C6675"/>
                </a:solidFill>
                <a:latin typeface="Cascadia Mon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9659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50" b="1">
                <a:solidFill>
                  <a:srgbClr val="5C6675"/>
                </a:solidFill>
                <a:latin typeface="Aptos"/>
              </a:rPr>
              <a:t>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783080"/>
            <a:ext cx="19659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50" b="1">
                <a:solidFill>
                  <a:srgbClr val="5C6675"/>
                </a:solidFill>
                <a:latin typeface="Aptos"/>
              </a:rPr>
              <a:t>Champion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1783080"/>
            <a:ext cx="19659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50" b="1">
                <a:solidFill>
                  <a:srgbClr val="5C6675"/>
                </a:solidFill>
                <a:latin typeface="Aptos"/>
              </a:rPr>
              <a:t>GroupKFold 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1783080"/>
            <a:ext cx="19659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50" b="1">
                <a:solidFill>
                  <a:srgbClr val="5C6675"/>
                </a:solidFill>
                <a:latin typeface="Aptos"/>
              </a:rPr>
              <a:t>Time holdout R²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1783080"/>
            <a:ext cx="19659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50" b="1">
                <a:solidFill>
                  <a:srgbClr val="5C6675"/>
                </a:solidFill>
                <a:latin typeface="Aptos"/>
              </a:rPr>
              <a:t>Industry holdout R²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2121408"/>
            <a:ext cx="12710160" cy="1280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14600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Aptos"/>
              </a:rPr>
              <a:t>Stage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514600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  <a:latin typeface="Aptos"/>
              </a:rPr>
              <a:t>ridge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514600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ptos"/>
              </a:rPr>
              <a:t>0.8680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514600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ptos"/>
              </a:rPr>
              <a:t>0.9312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2514600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ptos"/>
              </a:rPr>
              <a:t>N/A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3081528"/>
            <a:ext cx="1271016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520440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Aptos"/>
              </a:rPr>
              <a:t>Stage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520440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  <a:latin typeface="Aptos"/>
              </a:rPr>
              <a:t>extra_trees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3520440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ptos"/>
              </a:rPr>
              <a:t>0.7137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3520440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ptos"/>
              </a:rPr>
              <a:t>0.7019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3520440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ptos"/>
              </a:rPr>
              <a:t>0.9521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4087368"/>
            <a:ext cx="1271016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800600"/>
            <a:ext cx="23774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scadia Mono"/>
              </a:rPr>
              <a:t>0.8680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21224"/>
            <a:ext cx="25603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Stage 1 Ridge GroupKFold R²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69080" y="4800600"/>
            <a:ext cx="265176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scadia Mono"/>
              </a:rPr>
              <a:t>0.7137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9080" y="5221224"/>
            <a:ext cx="28346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Stage 2 ExtraTrees GroupKFold R²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60" y="480060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scadia Mono"/>
              </a:rPr>
              <a:t>0.9521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5221224"/>
            <a:ext cx="27432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Stage 2 industry holdout R²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6080760"/>
            <a:ext cx="118872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What the chart shows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6300216"/>
            <a:ext cx="118872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Ridge is retained for Stage 1 mechanism explanation; ExtraTrees is the Stage 2 champion.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6702552"/>
            <a:ext cx="1188720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6793992"/>
            <a:ext cx="118872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Why it matters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7013448"/>
            <a:ext cx="118872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GroupKFold by geo is more convincing than random splits because it tests cross-region transfer.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7415784"/>
            <a:ext cx="1188720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7507224"/>
            <a:ext cx="118872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Decision it supports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7726680"/>
            <a:ext cx="118872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Use these values as final PPT facts; keep 0.916679 as training-process history only.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60" b="1">
                <a:solidFill>
                  <a:srgbClr val="0B1F3A"/>
                </a:solidFill>
                <a:latin typeface="Aptos"/>
              </a:rPr>
              <a:t>FEATURE EXPLANATION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685800" cy="28163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152144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2200" b="1">
                <a:solidFill>
                  <a:srgbClr val="111827"/>
                </a:solidFill>
                <a:latin typeface="Microsoft YaHei UI"/>
              </a:rPr>
              <a:t>双阶段特征重要性把模型结果重新解释回研究机制。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7635240"/>
            <a:ext cx="13395960" cy="1152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7754112"/>
            <a:ext cx="102412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680" b="0">
                <a:solidFill>
                  <a:srgbClr val="5C6675"/>
                </a:solidFill>
                <a:latin typeface="Aptos"/>
              </a:rPr>
              <a:t>Source: final research validation pack, e789173.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0" y="7744968"/>
            <a:ext cx="502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00" b="0">
                <a:solidFill>
                  <a:srgbClr val="5C6675"/>
                </a:solidFill>
                <a:latin typeface="Cascadia Mono"/>
              </a:rPr>
              <a:t>04</a:t>
            </a:r>
          </a:p>
        </p:txBody>
      </p:sp>
      <p:pic>
        <p:nvPicPr>
          <p:cNvPr id="9" name="Picture 8" descr="机制特征重要性双阶段解释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336958"/>
            <a:ext cx="8961120" cy="3601402"/>
          </a:xfrm>
          <a:prstGeom prst="rect">
            <a:avLst/>
          </a:prstGeom>
          <a:ln w="9525">
            <a:solidFill>
              <a:srgbClr val="E2E7E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10058400" y="1874519"/>
            <a:ext cx="352044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What the chart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093976"/>
            <a:ext cx="35204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Stage 1 is driven by AI use, ML capability and deployment readiness.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0" y="2496312"/>
            <a:ext cx="352044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0" y="2587752"/>
            <a:ext cx="352044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Why it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807208"/>
            <a:ext cx="35204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Stage 2 repeats the ML capability signal while adding industry and region controls.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0" y="3209544"/>
            <a:ext cx="352044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0" y="3300984"/>
            <a:ext cx="352044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Decision it supports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3520439"/>
            <a:ext cx="35204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This supports the claim that adoption depends on capability and readiness, not generic AI enthusiasm.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60" b="1">
                <a:solidFill>
                  <a:srgbClr val="0B1F3A"/>
                </a:solidFill>
                <a:latin typeface="Aptos"/>
              </a:rPr>
              <a:t>AGENT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685800" cy="28163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152144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2200" b="1">
                <a:solidFill>
                  <a:srgbClr val="111827"/>
                </a:solidFill>
                <a:latin typeface="Microsoft YaHei UI"/>
              </a:rPr>
              <a:t>研究 Agent 的价值是证据优先，而不是凭空生成答案。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7635240"/>
            <a:ext cx="13395960" cy="1152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7754112"/>
            <a:ext cx="102412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680" b="0">
                <a:solidFill>
                  <a:srgbClr val="5C6675"/>
                </a:solidFill>
                <a:latin typeface="Aptos"/>
              </a:rPr>
              <a:t>Source: final research validation pack, e789173.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0" y="7744968"/>
            <a:ext cx="502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00" b="0">
                <a:solidFill>
                  <a:srgbClr val="5C6675"/>
                </a:solidFill>
                <a:latin typeface="Cascadia Mono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scadia Mono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4942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evaluation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828800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scadia Mono"/>
              </a:rPr>
              <a:t>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249424"/>
            <a:ext cx="21031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tool success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828800"/>
            <a:ext cx="219456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scadia Mono"/>
              </a:rPr>
              <a:t>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249424"/>
            <a:ext cx="2377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citation accuracy proxy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828800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scadia Mono"/>
              </a:rPr>
              <a:t>0.0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249424"/>
            <a:ext cx="21031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hallucination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1828800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scadia Mono"/>
              </a:rPr>
              <a:t>0.0436s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2249424"/>
            <a:ext cx="219456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780" b="0">
                <a:solidFill>
                  <a:srgbClr val="5C6675"/>
                </a:solidFill>
                <a:latin typeface="Microsoft YaHei"/>
              </a:rPr>
              <a:t>average latency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337560"/>
            <a:ext cx="6035040" cy="2011680"/>
          </a:xfrm>
          <a:prstGeom prst="rect">
            <a:avLst/>
          </a:prstGeom>
          <a:solidFill>
            <a:srgbClr val="F6F8FB"/>
          </a:solidFill>
          <a:ln w="9525">
            <a:solidFill>
              <a:srgbClr val="E2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3639312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Aptos"/>
              </a:rPr>
              <a:t>Guardrail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34440" y="4114800"/>
            <a:ext cx="54864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9032" y="4069080"/>
            <a:ext cx="5047488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969" b="0">
                <a:solidFill>
                  <a:srgbClr val="111827"/>
                </a:solidFill>
                <a:latin typeface="Microsoft YaHei"/>
              </a:rPr>
              <a:t>数值型回答必须来自工具、模型 API 或 evidence files。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34440" y="4572000"/>
            <a:ext cx="54864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99032" y="4526280"/>
            <a:ext cx="5047488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969" b="0">
                <a:solidFill>
                  <a:srgbClr val="111827"/>
                </a:solidFill>
                <a:latin typeface="Microsoft YaHei"/>
              </a:rPr>
              <a:t>超范围问题返回“无法确认”，不向中国所有中小企业做无证据外推。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3337560"/>
            <a:ext cx="6035040" cy="2011680"/>
          </a:xfrm>
          <a:prstGeom prst="rect">
            <a:avLst/>
          </a:prstGeom>
          <a:solidFill>
            <a:srgbClr val="F6F8FB"/>
          </a:solidFill>
          <a:ln w="9525">
            <a:solidFill>
              <a:srgbClr val="E2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3639312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Aptos"/>
              </a:rPr>
              <a:t>Tool stack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26679" y="4114800"/>
            <a:ext cx="54864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91271" y="4069080"/>
            <a:ext cx="5138928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969" b="0">
                <a:solidFill>
                  <a:srgbClr val="111827"/>
                </a:solidFill>
                <a:latin typeface="Microsoft YaHei"/>
              </a:rPr>
              <a:t>query_indicator / predict_adoption / cite_source / recommend_deployment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26679" y="4572000"/>
            <a:ext cx="54864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91271" y="4526280"/>
            <a:ext cx="5138928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969" b="0">
                <a:solidFill>
                  <a:srgbClr val="111827"/>
                </a:solidFill>
                <a:latin typeface="Microsoft YaHei"/>
              </a:rPr>
              <a:t>RAG 只索引经过验证的报告、模型结果和来源说明。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6053328"/>
            <a:ext cx="118872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What the chart shows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6272784"/>
            <a:ext cx="118872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The Agent is tested with metric lookup, prediction, citation, deployment and unknown-claim cases.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7280" y="6675120"/>
            <a:ext cx="1188720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6766560"/>
            <a:ext cx="118872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Why it matters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6986016"/>
            <a:ext cx="118872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The zero hallucination proxy comes from the explicit refusal behavior on unsupported claims.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7280" y="7388352"/>
            <a:ext cx="1188720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7280" y="7479792"/>
            <a:ext cx="118872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Decision it supports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7699248"/>
            <a:ext cx="118872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This makes ai.zhjjq.tech a research-backed operating layer, not only a demo website.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60" b="1">
                <a:solidFill>
                  <a:srgbClr val="0B1F3A"/>
                </a:solidFill>
                <a:latin typeface="Aptos"/>
              </a:rPr>
              <a:t>DIGITAL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685800" cy="28163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152144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2200" b="1">
                <a:solidFill>
                  <a:srgbClr val="111827"/>
                </a:solidFill>
                <a:latin typeface="Microsoft YaHei UI"/>
              </a:rPr>
              <a:t>最终版本把数据生命周期、安全边界和复现证据放在同一条链路里。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7635240"/>
            <a:ext cx="13395960" cy="1152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7754112"/>
            <a:ext cx="102412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680" b="0">
                <a:solidFill>
                  <a:srgbClr val="5C6675"/>
                </a:solidFill>
                <a:latin typeface="Aptos"/>
              </a:rPr>
              <a:t>Source: final research validation pack, e789173.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0" y="7744968"/>
            <a:ext cx="502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00" b="0">
                <a:solidFill>
                  <a:srgbClr val="5C6675"/>
                </a:solidFill>
                <a:latin typeface="Cascadia Mono"/>
              </a:rPr>
              <a:t>06</a:t>
            </a:r>
          </a:p>
        </p:txBody>
      </p:sp>
      <p:pic>
        <p:nvPicPr>
          <p:cNvPr id="9" name="Picture 8" descr="02_data_lifecycl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11630"/>
            <a:ext cx="6217920" cy="3497580"/>
          </a:xfrm>
          <a:prstGeom prst="rect">
            <a:avLst/>
          </a:prstGeom>
        </p:spPr>
      </p:pic>
      <p:pic>
        <p:nvPicPr>
          <p:cNvPr id="10" name="Picture 9" descr="05_governance_risk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611630"/>
            <a:ext cx="6217920" cy="34975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4400" y="5742432"/>
            <a:ext cx="1600200" cy="310896"/>
          </a:xfrm>
          <a:prstGeom prst="rect">
            <a:avLst/>
          </a:prstGeom>
          <a:solidFill>
            <a:srgbClr val="EDF3FA"/>
          </a:solidFill>
          <a:ln w="9525">
            <a:solidFill>
              <a:srgbClr val="E2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5806440"/>
            <a:ext cx="1490472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ctr"/>
            <a:r>
              <a:rPr sz="680" b="1">
                <a:solidFill>
                  <a:srgbClr val="0B1F3A"/>
                </a:solidFill>
                <a:latin typeface="Aptos"/>
              </a:rPr>
              <a:t>Collection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5742432"/>
            <a:ext cx="1600200" cy="310896"/>
          </a:xfrm>
          <a:prstGeom prst="rect">
            <a:avLst/>
          </a:prstGeom>
          <a:solidFill>
            <a:srgbClr val="EDF3FA"/>
          </a:solidFill>
          <a:ln w="9525">
            <a:solidFill>
              <a:srgbClr val="E2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18104" y="5806440"/>
            <a:ext cx="1490472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ctr"/>
            <a:r>
              <a:rPr sz="680" b="1">
                <a:solidFill>
                  <a:srgbClr val="0B1F3A"/>
                </a:solidFill>
                <a:latin typeface="Aptos"/>
              </a:rPr>
              <a:t>Cleaning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2080" y="5742432"/>
            <a:ext cx="1600200" cy="310896"/>
          </a:xfrm>
          <a:prstGeom prst="rect">
            <a:avLst/>
          </a:prstGeom>
          <a:solidFill>
            <a:srgbClr val="EDF3FA"/>
          </a:solidFill>
          <a:ln w="9525">
            <a:solidFill>
              <a:srgbClr val="E2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66944" y="5806440"/>
            <a:ext cx="1490472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ctr"/>
            <a:r>
              <a:rPr sz="680" b="1">
                <a:solidFill>
                  <a:srgbClr val="0B1F3A"/>
                </a:solidFill>
                <a:latin typeface="Aptos"/>
              </a:rPr>
              <a:t>Feature engineering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5742432"/>
            <a:ext cx="1600200" cy="310896"/>
          </a:xfrm>
          <a:prstGeom prst="rect">
            <a:avLst/>
          </a:prstGeom>
          <a:solidFill>
            <a:srgbClr val="EDF3FA"/>
          </a:solidFill>
          <a:ln w="9525">
            <a:solidFill>
              <a:srgbClr val="E2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5784" y="5806440"/>
            <a:ext cx="1490472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ctr"/>
            <a:r>
              <a:rPr sz="680" b="1">
                <a:solidFill>
                  <a:srgbClr val="5C4FA0"/>
                </a:solidFill>
                <a:latin typeface="Aptos"/>
              </a:rPr>
              <a:t>Modeling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09760" y="5742432"/>
            <a:ext cx="1600200" cy="310896"/>
          </a:xfrm>
          <a:prstGeom prst="rect">
            <a:avLst/>
          </a:prstGeom>
          <a:solidFill>
            <a:srgbClr val="EDF3FA"/>
          </a:solidFill>
          <a:ln w="9525">
            <a:solidFill>
              <a:srgbClr val="E2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64624" y="5806440"/>
            <a:ext cx="1490472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ctr"/>
            <a:r>
              <a:rPr sz="680" b="1">
                <a:solidFill>
                  <a:srgbClr val="5C4FA0"/>
                </a:solidFill>
                <a:latin typeface="Aptos"/>
              </a:rPr>
              <a:t>Interpretation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58600" y="5742432"/>
            <a:ext cx="1600200" cy="310896"/>
          </a:xfrm>
          <a:prstGeom prst="rect">
            <a:avLst/>
          </a:prstGeom>
          <a:solidFill>
            <a:srgbClr val="EDF3FA"/>
          </a:solidFill>
          <a:ln w="9525">
            <a:solidFill>
              <a:srgbClr val="E2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13464" y="5806440"/>
            <a:ext cx="1490472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ctr"/>
            <a:r>
              <a:rPr sz="680" b="1">
                <a:solidFill>
                  <a:srgbClr val="5C4FA0"/>
                </a:solidFill>
                <a:latin typeface="Aptos"/>
              </a:rPr>
              <a:t>Deployment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6144768"/>
            <a:ext cx="112471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What the chart shows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364224"/>
            <a:ext cx="112471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The digital lifecycle is visible from official acquisition to deployment recommendation.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6766559"/>
            <a:ext cx="1124712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6858000"/>
            <a:ext cx="112471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Why it matters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7077456"/>
            <a:ext cx="112471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Security is not a side issue; it changes which deployment mode is appropriate.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7479792"/>
            <a:ext cx="1124712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7571231"/>
            <a:ext cx="112471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Decision it supports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7790688"/>
            <a:ext cx="112471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The final deck should present lifecycle and governance as part of machine-learning rigor.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60" b="1">
                <a:solidFill>
                  <a:srgbClr val="0B1F3A"/>
                </a:solidFill>
                <a:latin typeface="Aptos"/>
              </a:rPr>
              <a:t>PRODUCT LANDING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685800" cy="28163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152144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2200" b="1">
                <a:solidFill>
                  <a:srgbClr val="111827"/>
                </a:solidFill>
                <a:latin typeface="Microsoft YaHei UI"/>
              </a:rPr>
              <a:t>ai.zhjjq.tech 把模型结论落到真实 AI 办公流程中。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7635240"/>
            <a:ext cx="13395960" cy="1152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7754112"/>
            <a:ext cx="102412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680" b="0">
                <a:solidFill>
                  <a:srgbClr val="5C6675"/>
                </a:solidFill>
                <a:latin typeface="Aptos"/>
              </a:rPr>
              <a:t>Source: final research validation pack, e789173.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0" y="7744968"/>
            <a:ext cx="502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00" b="0">
                <a:solidFill>
                  <a:srgbClr val="5C6675"/>
                </a:solidFill>
                <a:latin typeface="Cascadia Mono"/>
              </a:rPr>
              <a:t>07</a:t>
            </a:r>
          </a:p>
        </p:txBody>
      </p:sp>
      <p:pic>
        <p:nvPicPr>
          <p:cNvPr id="9" name="Picture 8" descr="06_ai_workstation_operating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17357"/>
            <a:ext cx="5760720" cy="3240405"/>
          </a:xfrm>
          <a:prstGeom prst="rect">
            <a:avLst/>
          </a:prstGeom>
        </p:spPr>
      </p:pic>
      <p:pic>
        <p:nvPicPr>
          <p:cNvPr id="10" name="Picture 9" descr="ai_zhjjq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287" y="1645920"/>
            <a:ext cx="6209665" cy="3520440"/>
          </a:xfrm>
          <a:prstGeom prst="rect">
            <a:avLst/>
          </a:prstGeom>
          <a:ln w="9525">
            <a:solidFill>
              <a:srgbClr val="E2E7ED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868680" y="5623560"/>
            <a:ext cx="12527280" cy="713232"/>
          </a:xfrm>
          <a:prstGeom prst="rect">
            <a:avLst/>
          </a:prstGeom>
          <a:solidFill>
            <a:srgbClr val="F6F8FB"/>
          </a:solidFill>
          <a:ln w="9525">
            <a:solidFill>
              <a:srgbClr val="E2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833872"/>
            <a:ext cx="1188720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Aptos"/>
              </a:rPr>
              <a:t>Research model → enterprise profile → deployment recommendation → AI workstation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144768"/>
            <a:ext cx="118872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What the chart shows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6364224"/>
            <a:ext cx="118872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The website is not just a screen; it is the operating surface for workflow agents and governance feedback.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6766559"/>
            <a:ext cx="1188720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6858000"/>
            <a:ext cx="118872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Why it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7077456"/>
            <a:ext cx="118872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The model helps decide whether an enterprise should use SaaS, API, local or hybrid deployment.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7479792"/>
            <a:ext cx="1188720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7571231"/>
            <a:ext cx="118872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50" b="1">
                <a:solidFill>
                  <a:srgbClr val="0B1F3A"/>
                </a:solidFill>
                <a:latin typeface="Aptos"/>
              </a:rPr>
              <a:t>Decision it supports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7790688"/>
            <a:ext cx="118872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880" b="0">
                <a:solidFill>
                  <a:srgbClr val="111827"/>
                </a:solidFill>
                <a:latin typeface="Microsoft YaHei"/>
              </a:rPr>
              <a:t>This links the machine-learning case to a practical SME AI automation product scenario.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760" b="1">
                <a:solidFill>
                  <a:srgbClr val="0B1F3A"/>
                </a:solidFill>
                <a:latin typeface="Aptos"/>
              </a:rPr>
              <a:t>FINAL CONTRIBUTION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685800" cy="28163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152144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2200" b="1">
                <a:solidFill>
                  <a:srgbClr val="111827"/>
                </a:solidFill>
                <a:latin typeface="Microsoft YaHei UI"/>
              </a:rPr>
              <a:t>这份结题案例已经形成“数据真实、模型严谨、Agent 可落地”的闭环。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7635240"/>
            <a:ext cx="13395960" cy="1152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7754112"/>
            <a:ext cx="102412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680" b="0">
                <a:solidFill>
                  <a:srgbClr val="5C6675"/>
                </a:solidFill>
                <a:latin typeface="Aptos"/>
              </a:rPr>
              <a:t>Source: final research validation pack, e789173.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0" y="7744968"/>
            <a:ext cx="502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00" b="0">
                <a:solidFill>
                  <a:srgbClr val="5C6675"/>
                </a:solidFill>
                <a:latin typeface="Cascadia Mono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91640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scadia Mono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72768" y="1837944"/>
            <a:ext cx="841248" cy="1792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691640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>
                <a:solidFill>
                  <a:srgbClr val="111827"/>
                </a:solidFill>
                <a:latin typeface="Aptos"/>
              </a:rPr>
              <a:t>Official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1691640"/>
            <a:ext cx="70408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1050" b="0">
                <a:solidFill>
                  <a:srgbClr val="5C6675"/>
                </a:solidFill>
                <a:latin typeface="Microsoft YaHei"/>
              </a:rPr>
              <a:t>Eurostat source files, manifest hash audit and reproducible panels.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258568"/>
            <a:ext cx="1261872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97480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scadia Mono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72768" y="2843784"/>
            <a:ext cx="841248" cy="1792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0" y="2697480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>
                <a:solidFill>
                  <a:srgbClr val="111827"/>
                </a:solidFill>
                <a:latin typeface="Aptos"/>
              </a:rPr>
              <a:t>Machine 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2697480"/>
            <a:ext cx="70408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1050" b="0">
                <a:solidFill>
                  <a:srgbClr val="5C6675"/>
                </a:solidFill>
                <a:latin typeface="Microsoft YaHei"/>
              </a:rPr>
              <a:t>Ridge, ExtraTrees, GroupKFold, time holdout and industry holdout.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264408"/>
            <a:ext cx="1261872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scadia Mono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72768" y="3849624"/>
            <a:ext cx="841248" cy="1792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3703320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>
                <a:solidFill>
                  <a:srgbClr val="111827"/>
                </a:solidFill>
                <a:latin typeface="Aptos"/>
              </a:rPr>
              <a:t>Explainable mechanism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703320"/>
            <a:ext cx="70408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1050" b="0">
                <a:solidFill>
                  <a:srgbClr val="5C6675"/>
                </a:solidFill>
                <a:latin typeface="Microsoft YaHei"/>
              </a:rPr>
              <a:t>Efficiency demand × security concern × deployment readiness.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4270248"/>
            <a:ext cx="1261872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09160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scadia Mono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72768" y="4855464"/>
            <a:ext cx="841248" cy="1792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4709160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>
                <a:solidFill>
                  <a:srgbClr val="111827"/>
                </a:solidFill>
                <a:latin typeface="Aptos"/>
              </a:rPr>
              <a:t>Agent deployment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4709160"/>
            <a:ext cx="70408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l"/>
            <a:r>
              <a:rPr sz="1050" b="0">
                <a:solidFill>
                  <a:srgbClr val="5C6675"/>
                </a:solidFill>
                <a:latin typeface="Microsoft YaHei"/>
              </a:rPr>
              <a:t>Tool-based answers, evidence files and unable-to-confirm guardrail.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276088"/>
            <a:ext cx="12618720" cy="8961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989320"/>
            <a:ext cx="1225296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rIns="18288" tIns="18288" bIns="18288">
            <a:norm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Microsoft YaHei"/>
              </a:rPr>
              <a:t>下一步只需要把国内问卷和真实工作流日志接入，就能继续增强中国中小企业场景解释力。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Student Project</dc:creator>
  <cp:keywords/>
  <dc:description/>
  <cp:lastModifiedBy>Student Project</cp:lastModifiedBy>
  <cp:revision>1</cp:revision>
  <dcterms:created xsi:type="dcterms:W3CDTF">2013-01-27T09:14:16Z</dcterms:created>
  <dcterms:modified xsi:type="dcterms:W3CDTF">2013-01-27T09:15:58Z</dcterms:modified>
  <cp:category/>
</cp:coreProperties>
</file>