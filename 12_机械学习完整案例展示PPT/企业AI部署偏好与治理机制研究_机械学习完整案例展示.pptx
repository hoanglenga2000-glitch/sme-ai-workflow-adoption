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7c1d31728141ce" /><Relationship Type="http://schemas.openxmlformats.org/officeDocument/2006/relationships/extended-properties" Target="/docProps/app.xml" Id="R47c7fab6e34148eb" /><Relationship Type="http://schemas.openxmlformats.org/officeDocument/2006/relationships/officeDocument" Target="/ppt/presentation.xml" Id="R72377bf899e844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121869bc34402d"/>
  </p:sldMasterIdLst>
  <p:notesMasterIdLst>
    <p:notesMasterId xmlns:r="http://schemas.openxmlformats.org/officeDocument/2006/relationships" r:id="Rc424626916024d7a"/>
  </p:notesMasterIdLst>
  <p:sldIdLst>
    <p:sldId xmlns:r="http://schemas.openxmlformats.org/officeDocument/2006/relationships" id="256" r:id="R15ad17e1ab784ecb"/>
    <p:sldId xmlns:r="http://schemas.openxmlformats.org/officeDocument/2006/relationships" id="257" r:id="R288294b4b3124828"/>
    <p:sldId xmlns:r="http://schemas.openxmlformats.org/officeDocument/2006/relationships" id="258" r:id="Rd55e3b8b05984bc9"/>
    <p:sldId xmlns:r="http://schemas.openxmlformats.org/officeDocument/2006/relationships" id="259" r:id="R542cece37eab4e0e"/>
    <p:sldId xmlns:r="http://schemas.openxmlformats.org/officeDocument/2006/relationships" id="260" r:id="R672b5fd97de94f8f"/>
    <p:sldId xmlns:r="http://schemas.openxmlformats.org/officeDocument/2006/relationships" id="261" r:id="R93bbc18ce2494de0"/>
    <p:sldId xmlns:r="http://schemas.openxmlformats.org/officeDocument/2006/relationships" id="262" r:id="Rc4e0603ecbdc432b"/>
    <p:sldId xmlns:r="http://schemas.openxmlformats.org/officeDocument/2006/relationships" id="263" r:id="R66e32db1caad475c"/>
    <p:sldId xmlns:r="http://schemas.openxmlformats.org/officeDocument/2006/relationships" id="264" r:id="Ra6a75a97f00e46c9"/>
    <p:sldId xmlns:r="http://schemas.openxmlformats.org/officeDocument/2006/relationships" id="265" r:id="Rb79225cfe2fa4e73"/>
    <p:sldId xmlns:r="http://schemas.openxmlformats.org/officeDocument/2006/relationships" id="266" r:id="R9e92e74ef6944ddb"/>
    <p:sldId xmlns:r="http://schemas.openxmlformats.org/officeDocument/2006/relationships" id="267" r:id="Rc8b8068cfa12467d"/>
    <p:sldId xmlns:r="http://schemas.openxmlformats.org/officeDocument/2006/relationships" id="268" r:id="R8503c96449e048ee"/>
    <p:sldId xmlns:r="http://schemas.openxmlformats.org/officeDocument/2006/relationships" id="269" r:id="Rd5c5e535040a45e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21869bc34402d" /><Relationship Type="http://schemas.openxmlformats.org/officeDocument/2006/relationships/theme" Target="/ppt/theme/theme1.xml" Id="R3105d8af22ba41c7" /><Relationship Type="http://schemas.openxmlformats.org/officeDocument/2006/relationships/notesMaster" Target="/ppt/notesMasters/notesMaster1.xml" Id="Rc424626916024d7a" /><Relationship Type="http://schemas.openxmlformats.org/officeDocument/2006/relationships/presProps" Target="/ppt/presProps.xml" Id="R946044fb980d459a" /><Relationship Type="http://schemas.openxmlformats.org/officeDocument/2006/relationships/viewProps" Target="/ppt/viewProps.xml" Id="R5b9b0b3d60e34349" /><Relationship Type="http://schemas.openxmlformats.org/officeDocument/2006/relationships/tableStyles" Target="/ppt/tableStyles.xml" Id="Rd0431dfd7680404d" /><Relationship Type="http://schemas.openxmlformats.org/officeDocument/2006/relationships/slide" Target="/ppt/slides/slide1.xml" Id="R15ad17e1ab784ecb" /><Relationship Type="http://schemas.openxmlformats.org/officeDocument/2006/relationships/slide" Target="/ppt/slides/slide2.xml" Id="R288294b4b3124828" /><Relationship Type="http://schemas.openxmlformats.org/officeDocument/2006/relationships/slide" Target="/ppt/slides/slide3.xml" Id="Rd55e3b8b05984bc9" /><Relationship Type="http://schemas.openxmlformats.org/officeDocument/2006/relationships/slide" Target="/ppt/slides/slide4.xml" Id="R542cece37eab4e0e" /><Relationship Type="http://schemas.openxmlformats.org/officeDocument/2006/relationships/slide" Target="/ppt/slides/slide5.xml" Id="R672b5fd97de94f8f" /><Relationship Type="http://schemas.openxmlformats.org/officeDocument/2006/relationships/slide" Target="/ppt/slides/slide6.xml" Id="R93bbc18ce2494de0" /><Relationship Type="http://schemas.openxmlformats.org/officeDocument/2006/relationships/slide" Target="/ppt/slides/slide7.xml" Id="Rc4e0603ecbdc432b" /><Relationship Type="http://schemas.openxmlformats.org/officeDocument/2006/relationships/slide" Target="/ppt/slides/slide8.xml" Id="R66e32db1caad475c" /><Relationship Type="http://schemas.openxmlformats.org/officeDocument/2006/relationships/slide" Target="/ppt/slides/slide9.xml" Id="Ra6a75a97f00e46c9" /><Relationship Type="http://schemas.openxmlformats.org/officeDocument/2006/relationships/slide" Target="/ppt/slides/slide10.xml" Id="Rb79225cfe2fa4e73" /><Relationship Type="http://schemas.openxmlformats.org/officeDocument/2006/relationships/slide" Target="/ppt/slides/slide11.xml" Id="R9e92e74ef6944ddb" /><Relationship Type="http://schemas.openxmlformats.org/officeDocument/2006/relationships/slide" Target="/ppt/slides/slide12.xml" Id="Rc8b8068cfa12467d" /><Relationship Type="http://schemas.openxmlformats.org/officeDocument/2006/relationships/slide" Target="/ppt/slides/slide13.xml" Id="R8503c96449e048ee" /><Relationship Type="http://schemas.openxmlformats.org/officeDocument/2006/relationships/slide" Target="/ppt/slides/slide14.xml" Id="Rd5c5e535040a45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b42676f1ad64e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a7eb28cc0a484e" /><Relationship Type="http://schemas.openxmlformats.org/officeDocument/2006/relationships/notesMaster" Target="/ppt/notesMasters/notesMaster1.xml" Id="R8534b47714b140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58ae4a44f4439f" /><Relationship Type="http://schemas.openxmlformats.org/officeDocument/2006/relationships/notesMaster" Target="/ppt/notesMasters/notesMaster1.xml" Id="Rf45c03bd998548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188c792e2b4237" /><Relationship Type="http://schemas.openxmlformats.org/officeDocument/2006/relationships/notesMaster" Target="/ppt/notesMasters/notesMaster1.xml" Id="R2d6801daad584e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d2cde4c01844da" /><Relationship Type="http://schemas.openxmlformats.org/officeDocument/2006/relationships/notesMaster" Target="/ppt/notesMasters/notesMaster1.xml" Id="Rca1f1baed988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e3952f6eb34d7a" /><Relationship Type="http://schemas.openxmlformats.org/officeDocument/2006/relationships/notesMaster" Target="/ppt/notesMasters/notesMaster1.xml" Id="R0aaa6b09d24f40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64def37ce644bc" /><Relationship Type="http://schemas.openxmlformats.org/officeDocument/2006/relationships/notesMaster" Target="/ppt/notesMasters/notesMaster1.xml" Id="Rba6b0de8d1ed4e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fc4c3860ce47a8" /><Relationship Type="http://schemas.openxmlformats.org/officeDocument/2006/relationships/notesMaster" Target="/ppt/notesMasters/notesMaster1.xml" Id="R3894b098e73345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f925b4332e4449" /><Relationship Type="http://schemas.openxmlformats.org/officeDocument/2006/relationships/notesMaster" Target="/ppt/notesMasters/notesMaster1.xml" Id="Rbefcba3e505e415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75fb1832d44f22" /><Relationship Type="http://schemas.openxmlformats.org/officeDocument/2006/relationships/notesMaster" Target="/ppt/notesMasters/notesMaster1.xml" Id="R7e6686e2e3174c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5cd4210f96a4141" /><Relationship Type="http://schemas.openxmlformats.org/officeDocument/2006/relationships/notesMaster" Target="/ppt/notesMasters/notesMaster1.xml" Id="Rbf4eb730dc894f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2d14662b0f14058" /><Relationship Type="http://schemas.openxmlformats.org/officeDocument/2006/relationships/notesMaster" Target="/ppt/notesMasters/notesMaster1.xml" Id="Rc97164fb58224d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7a874f757b4c97" /><Relationship Type="http://schemas.openxmlformats.org/officeDocument/2006/relationships/notesMaster" Target="/ppt/notesMasters/notesMaster1.xml" Id="R1ad18472ce934b2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2292264b9a4d97" /><Relationship Type="http://schemas.openxmlformats.org/officeDocument/2006/relationships/notesMaster" Target="/ppt/notesMasters/notesMaster1.xml" Id="Rf900a4007eb24e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4856463ca14e13" /><Relationship Type="http://schemas.openxmlformats.org/officeDocument/2006/relationships/notesMaster" Target="/ppt/notesMasters/notesMaster1.xml" Id="R644243d2c1ea4e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473c44bd1d44b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54056adc6ef47b8" /><Relationship Type="http://schemas.openxmlformats.org/officeDocument/2006/relationships/slideLayout" Target="/ppt/slideLayouts/slideLayout2.xml" Id="R8714b3c52d3b40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14b3c52d3b40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1a483c845343c2" /><Relationship Type="http://schemas.openxmlformats.org/officeDocument/2006/relationships/image" Target="/ppt/media/image.png" Id="R00cadf06909f4333" /><Relationship Type="http://schemas.openxmlformats.org/officeDocument/2006/relationships/notesSlide" Target="/ppt/notesSlides/notesSlide1.xml" Id="R5ffb9533b19742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feccd869e74fac" /><Relationship Type="http://schemas.openxmlformats.org/officeDocument/2006/relationships/image" Target="/ppt/media/image2.png" Id="Rae1df824d8334043" /><Relationship Type="http://schemas.openxmlformats.org/officeDocument/2006/relationships/notesSlide" Target="/ppt/notesSlides/notesSlide2.xml" Id="R7f4bbd18966f46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a5f7976b8c4be2" /><Relationship Type="http://schemas.openxmlformats.org/officeDocument/2006/relationships/image" Target="/ppt/media/image3.png" Id="Re719cc46e3c44648" /><Relationship Type="http://schemas.openxmlformats.org/officeDocument/2006/relationships/notesSlide" Target="/ppt/notesSlides/notesSlide3.xml" Id="R1eda14e19f8c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c5129b7334ef8" /><Relationship Type="http://schemas.openxmlformats.org/officeDocument/2006/relationships/notesSlide" Target="/ppt/notesSlides/notesSlide4.xml" Id="Rc9fda7c7c3574d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a8f47005ce498b" /><Relationship Type="http://schemas.openxmlformats.org/officeDocument/2006/relationships/image" Target="/ppt/media/image4.png" Id="Re0ae6e5d18b142a4" /><Relationship Type="http://schemas.openxmlformats.org/officeDocument/2006/relationships/notesSlide" Target="/ppt/notesSlides/notesSlide5.xml" Id="R8d2273ca647543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3221ded1514e28" /><Relationship Type="http://schemas.openxmlformats.org/officeDocument/2006/relationships/notesSlide" Target="/ppt/notesSlides/notesSlide6.xml" Id="R09aefbaf2d5c4ca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46971d04534d51" /><Relationship Type="http://schemas.openxmlformats.org/officeDocument/2006/relationships/image" Target="/ppt/media/image5.png" Id="R126a1c7f97f041f3" /><Relationship Type="http://schemas.openxmlformats.org/officeDocument/2006/relationships/notesSlide" Target="/ppt/notesSlides/notesSlide7.xml" Id="R9901c47b020347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b4a7eb801445d6" /><Relationship Type="http://schemas.openxmlformats.org/officeDocument/2006/relationships/image" Target="/ppt/media/image6.png" Id="R02deb9f6c39a404e" /><Relationship Type="http://schemas.openxmlformats.org/officeDocument/2006/relationships/notesSlide" Target="/ppt/notesSlides/notesSlide8.xml" Id="Rdd0b9e0e4b0644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e6beb5e6a743a0" /><Relationship Type="http://schemas.openxmlformats.org/officeDocument/2006/relationships/image" Target="/ppt/media/image7.png" Id="Raa4acc84397941fa" /><Relationship Type="http://schemas.openxmlformats.org/officeDocument/2006/relationships/notesSlide" Target="/ppt/notesSlides/notesSlide9.xml" Id="R2085fe151acf4d1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09c77d5a0a409d" /><Relationship Type="http://schemas.openxmlformats.org/officeDocument/2006/relationships/image" Target="/ppt/media/image8.png" Id="R5e0c476297804f4e" /><Relationship Type="http://schemas.openxmlformats.org/officeDocument/2006/relationships/notesSlide" Target="/ppt/notesSlides/notesSlide10.xml" Id="R3499fa336d3b47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9589f20c1a4245" /><Relationship Type="http://schemas.openxmlformats.org/officeDocument/2006/relationships/image" Target="/ppt/media/image9.png" Id="R0d6371750b0b4f8a" /><Relationship Type="http://schemas.openxmlformats.org/officeDocument/2006/relationships/notesSlide" Target="/ppt/notesSlides/notesSlide11.xml" Id="R86fbe9063e7a49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69f771a91e40bb" /><Relationship Type="http://schemas.openxmlformats.org/officeDocument/2006/relationships/notesSlide" Target="/ppt/notesSlides/notesSlide12.xml" Id="R2bf26c9ca30b48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4126193f0945c2" /><Relationship Type="http://schemas.openxmlformats.org/officeDocument/2006/relationships/notesSlide" Target="/ppt/notesSlides/notesSlide13.xml" Id="R439f3f6accc6464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0c957c55154bcd" /><Relationship Type="http://schemas.openxmlformats.org/officeDocument/2006/relationships/image" Target="/ppt/media/image10.png" Id="R67be66e616384bf9" /><Relationship Type="http://schemas.openxmlformats.org/officeDocument/2006/relationships/notesSlide" Target="/ppt/notesSlides/notesSlide14.xml" Id="Rdefe36af48b54c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64617D1-AF4F-42F1-886C-F405F3F9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4860A-C55F-4BDA-961B-5CEDD8B4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OPENING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B1D4D-7F82-4DFF-94CC-7334E2AE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979697-1753-41D9-9CF2-7C0DA43E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企业 AI 部署偏好与治理机制：一个完整机器学习课程案例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90BDD-632A-4C01-826B-4F317C9B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05EA97-781E-4603-A381-112BFF9F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E25C2-9B26-4FF5-BDDB-0730DCD6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77ADC-87C4-48B2-9F06-5FC0BD53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用官方数据、可复现模型和证据约束 Agent，把研究从问卷想法推进到机器学习全流程展示。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adf06909f4333"/>
          <a:stretch xmlns:a="http://schemas.openxmlformats.org/drawingml/2006/main"/>
        </p:blipFill>
        <p:spPr>
          <a:xfrm xmlns:a="http://schemas.openxmlformats.org/drawingml/2006/main">
            <a:off x="6274594" y="1952625"/>
            <a:ext cx="4786313" cy="31908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92D165-3731-4EA4-93E5-BDB557D9E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12.77M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25204-4035-4B1A-AE5F-07840761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00575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official source rows profiled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C47BD-03B7-4598-B236-F969CA96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171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5,814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EDB56F-16DF-4C79-AAF8-63B59191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00575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Stage 2 modeling rows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0E4F0-E550-4AEC-94B8-C96D0EB9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719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defRPr>
            </a:pPr>
            <a:r>
              <a:rPr sz="2175" b="1">
                <a:solidFill>
                  <a:srgbClr val="1F5F8B"/>
                </a:solidFill>
                <a:latin typeface="Cascadia Mono"/>
                <a:ea typeface="Cascadia Mono"/>
                <a:cs typeface="Cascadia Mono"/>
              </a:rPr>
              <a:t>0.7245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59F71-1F7C-43B4-B393-5597EA6E7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00575"/>
            <a:ext cx="1981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Stage 2 long-run R2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61D528-E184-450F-B9D8-49FAD450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647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Final display package: 12_机械学习完整案例展示PPT</a:t>
            </a:r>
          </a:p>
        </p:txBody>
      </p:sp>
    </p:spTree>
    <p:extLst>
      <p:ext uri="{BB962C8B-B14F-4D97-AF65-F5344CB8AC3E}">
        <p14:creationId xmlns:p14="http://schemas.microsoft.com/office/powerpoint/2010/main" val="9931061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428E2E-D616-4426-9782-DA4DCC98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A2F95-4175-4536-95FE-66FCF271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DATA UPGRADE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BF59A-26EA-40C1-98A2-58B41E1B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D1EF8F-56AD-457C-A3D1-915931B7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为什么从问卷/Kaggle 升级为官方数据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3D2F0-2924-4FE3-80F7-D25B46C1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1AC30-7F9A-4A52-8638-F651748E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98C48-6690-474E-BC32-42801745B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E40B6C-2E25-4D59-82E8-8D24393F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问卷和访谈适合解释机制，主模型必须依赖可追溯、可复核、可下载的官方数据。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df824d8334043"/>
          <a:stretch xmlns:a="http://schemas.openxmlformats.org/drawingml/2006/main"/>
        </p:blipFill>
        <p:spPr>
          <a:xfrm xmlns:a="http://schemas.openxmlformats.org/drawingml/2006/main">
            <a:off x="6191250" y="2420383"/>
            <a:ext cx="4953000" cy="22553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6EB98-C818-4CEA-B0AC-008FEC15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808775-D6E8-4983-8E60-2EFA823C9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Kaggle/问卷适合启发问题，但来源和维度不够稳。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584CF5-6C2F-4779-B139-5C96771F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A0688A-2131-48A2-907E-1659944E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Eurostat 官方数据有元数据、下载记录、hash 和复现路径。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47EDFC-11B1-4B5D-BA8A-D353DEC1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07E30-5D64-4FE0-9049-30B6DBEE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主模型用官方数据；问卷/访谈只作辅助机制解释。</a:t>
            </a:r>
          </a:p>
        </p:txBody>
      </p:sp>
    </p:spTree>
    <p:extLst>
      <p:ext uri="{BB962C8B-B14F-4D97-AF65-F5344CB8AC3E}">
        <p14:creationId xmlns:p14="http://schemas.microsoft.com/office/powerpoint/2010/main" val="1561464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F012E-9405-417A-852A-39B977DB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3D5F29-5246-42A6-BB60-BAB50B92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F8497-0C35-4252-A51A-C5D102CF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028E8D-07D6-49AB-AA7B-7436F77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数据生命周期不是口号，而是每一步都有文件和哈希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3BC1B-2CFC-453F-86E5-43646D4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9B346-A534-44B1-80CF-EF6D40E8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0EBFA-70E9-4D21-9A2F-AB6791EB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220DD-AA0B-4DA8-A142-A809199F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从 source manifest 到 processed panel，再到 outputs 和 PPT，每一步都能回到仓库路径。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9cc46e3c44648"/>
          <a:stretch xmlns:a="http://schemas.openxmlformats.org/drawingml/2006/main"/>
        </p:blipFill>
        <p:spPr>
          <a:xfrm xmlns:a="http://schemas.openxmlformats.org/drawingml/2006/main">
            <a:off x="6191250" y="2420383"/>
            <a:ext cx="4953000" cy="22553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2AB040-3A8B-4F82-A35D-023BB80C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7E46EA-3093-4EB5-B738-66C2B35F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data/raw/manifest*.jsonl 记录来源、时间、字节数和 SHA256。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C475E6-7814-42CF-BAE0-7F95E6A4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13E060-8C97-4142-9EAB-C9802DD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data/processed 保存 Stage 1/2 建模面板。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08E961-51B1-48CC-854F-2F270C31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0FA12B-8015-4DDF-A1BE-EB3573F3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outputs/tables 与 outputs/reports 保存结果和审计。</a:t>
            </a:r>
          </a:p>
        </p:txBody>
      </p:sp>
    </p:spTree>
    <p:extLst>
      <p:ext uri="{BB962C8B-B14F-4D97-AF65-F5344CB8AC3E}">
        <p14:creationId xmlns:p14="http://schemas.microsoft.com/office/powerpoint/2010/main" val="211916420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8B0707-00A7-40FF-AC85-6FC48232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C29F4-36F4-4CF1-8C2C-CD2F9F82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C6FC5-A2BE-4D07-A49C-2F435D8F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A5ECD-261E-4A01-8DB1-4ECFA2B2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解释 SME 机制，Stage 2 验证行业/区域泛化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77487-E393-428B-B833-157B81BE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B8B5C1-E0B5-4370-BE1F-F4937526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63BD-3024-41D3-8685-A5966AEF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D15C8E-3A8E-4799-8793-D58A02F4A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两层数据边界分开写，避免把行业层样本误说成 SME-only。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5B15E-C0C1-4724-94EA-FE8316E4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3905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B186C-B0BF-4AC6-9EB0-7982FA23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000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PUBLIC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COURSEWORK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6B683-F289-45E4-9819-4BC4E36F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data / code / outputs / Agent /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04015D-5795-4630-8923-03308FD7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139DE-E978-445D-8954-A605B9FF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1：553 面板行、544 可建模样本、36 个 geo。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9AB6E5-22F6-4276-B3E6-1EF9BD4C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F93765-6744-435A-91F2-C6FCB7AE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2：5,814 行、36 个 geo、50 个行业。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150E3A-E459-47A1-9414-A989D0B1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41DB6D-A71C-4107-B54B-53126C5C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展示时明确：Stage 2 是行业/区域外部验证层。</a:t>
            </a:r>
          </a:p>
        </p:txBody>
      </p:sp>
    </p:spTree>
    <p:extLst>
      <p:ext uri="{BB962C8B-B14F-4D97-AF65-F5344CB8AC3E}">
        <p14:creationId xmlns:p14="http://schemas.microsoft.com/office/powerpoint/2010/main" val="12946398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AD752-C4BD-4837-BC62-2A26D792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65633F-BC39-4846-AC8D-086AC0B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SCALE AUDIT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C83E13-9448-4AB7-A7E6-855AD4389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50FD66-3AAC-4C12-80EB-94F88475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1277 万官方源数据行经过筛选聚合后进入 5,814 行建模面板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F81B6-439C-481C-8432-6F0FF7A1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9FFD7-5E61-455E-8A33-82B58CDE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7F638-963D-40B4-9031-A3F32EC2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CC99C8-E6FE-4C7F-98FB-2D52BD51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这体现数据挖掘流程，不是把千万行直接当训练样本。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e6e5d18b142a4"/>
          <a:stretch xmlns:a="http://schemas.openxmlformats.org/drawingml/2006/main"/>
        </p:blipFill>
        <p:spPr>
          <a:xfrm xmlns:a="http://schemas.openxmlformats.org/drawingml/2006/main">
            <a:off x="6191250" y="2395073"/>
            <a:ext cx="4953000" cy="230597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755A7-A255-43A6-89A7-43883B28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43F00-FA87-498B-9483-786EDC3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B853ED-3CA7-4B36-89CE-BE2503AB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18806-56D1-4600-922F-E7AA946A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F7498-308E-488C-8F95-DD930D37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0D6CB-2281-4380-8595-32F9FCDE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2C5D97-80BF-4787-8D79-7FE11261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A0332-450F-4BE1-B906-92F6F533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18345261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8F292A-9889-4555-ACF7-72755682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13AF8-F37F-403C-B7D2-6EB173A4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ML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094F6-4934-41AC-8E2D-85E27037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77A0E-B2BB-4C0E-AD9B-7204E29A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监督学习任务围绕官方 AI 工作流自动化指标展开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CBF70-92C0-43FB-842D-A51D76C6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269F4-6B44-4735-97BC-90629C9E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6A3BDD-EC65-4BC5-818C-1E938FA1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41766-9E49-4D9A-AEA4-29892A5D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目标变量来自 Eurostat 企业使用 AI 自动化工作流或辅助决策的指标。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B5FAF5-0C8D-4BC0-B28A-81324CF2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3905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88113-1A42-4B89-B9AC-92FF2CD4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000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PUBLIC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COURSEWORK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64AFAB-6A19-4C60-966F-26C45053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data / code / outputs / Agent /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C2CD0-8C9C-4DFF-A03B-03EF2B7C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61CD46-9FB3-457D-9363-9466E501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目标变量：企业使用 AI 自动化工作流或辅助决策。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4E6EE0-83F1-4E5E-AD82-CFC31614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7A7EF-BF81-463A-9328-89065893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特征：AI 应用、云服务、数字强度、ICT 能力、治理/部署准备度代理变量。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B6481-CE49-4EC3-8FE4-57528D7B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6C482-C89E-4700-AFA6-F17692D2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学习器：Ridge、RandomForest、ExtraTrees 与历史 MLP 基线。</a:t>
            </a:r>
          </a:p>
        </p:txBody>
      </p:sp>
    </p:spTree>
    <p:extLst>
      <p:ext uri="{BB962C8B-B14F-4D97-AF65-F5344CB8AC3E}">
        <p14:creationId xmlns:p14="http://schemas.microsoft.com/office/powerpoint/2010/main" val="17116489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58590-CDE4-4DAD-B403-44EEF8A5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257CD-0733-4824-AA3D-792F6484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E609A-5AAB-4E8B-9269-D7D3FDB1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1C4A6-985B-42B8-B14F-A9827772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GroupKFold 按国家分组，降低同一国家信息泄漏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ED2F6-519A-40A3-895E-7A166D62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F6DD8C-C3A5-42E3-897F-E4C8BA24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B01AF-73A6-4CE3-A655-95854380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4C84F-275F-4225-9CB9-A2FE653B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泛化验证比随机切分更保守，更适合课堂展示和研究解释。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6a1c7f97f041f3"/>
          <a:stretch xmlns:a="http://schemas.openxmlformats.org/drawingml/2006/main"/>
        </p:blipFill>
        <p:spPr>
          <a:xfrm xmlns:a="http://schemas.openxmlformats.org/drawingml/2006/main">
            <a:off x="6191250" y="2319354"/>
            <a:ext cx="4953000" cy="245741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CB761-E941-4D92-BB62-27C2211B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85DAFB-2168-45E3-93D7-0D3A42A7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9629E-7D6B-4B03-9961-438BCE3E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B2335-0532-4F17-8B10-877E65FA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E9D50-880D-4894-8F54-227A13E0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0A8951-7DBD-4ED5-A585-FB8D99CB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935A65-2B2F-4845-84B1-07A306AB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9692E-D557-4CF3-9F1D-9FA3EABF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74083515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617A24-79AE-4696-8DCC-870909B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C4EC6-71BD-437F-A7DF-C565F8AE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STAGE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A347BD-D982-4468-A64D-E40C7307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5A246B-3C6B-43E1-866C-D6F4001C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1 Ridge 在 SME 机制层取得 R2=0.8680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DF797-9F95-475F-9337-0F768CCE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10D95-F89D-44F6-A733-53A87254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2E789-D3F3-4D90-8451-912D5DAA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27F96-C301-42E3-916F-BD9D7E8B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效率需求、部署准备度和治理变量进入解释链，主结果使用国家组 GroupKFold。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eb9f6c39a404e"/>
          <a:stretch xmlns:a="http://schemas.openxmlformats.org/drawingml/2006/main"/>
        </p:blipFill>
        <p:spPr>
          <a:xfrm xmlns:a="http://schemas.openxmlformats.org/drawingml/2006/main">
            <a:off x="6191250" y="2319354"/>
            <a:ext cx="4953000" cy="245741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00E16B-F15F-402F-8ABE-262820B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B0B4FB-5EA9-419D-86E7-A63787D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50B9A9-6A66-4F48-9D9E-83030726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724B12-D095-4510-A371-49DDDF64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8E14F0-D65D-45F7-A3E9-4E627CEB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B60952-D7D4-45B3-A735-B21545E7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7190E-BB55-41C4-9B0F-201A392B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DD7BA-1293-499A-82C1-A190C6D2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70097786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7C99F2-AD7C-4FC5-889E-1D712701B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7F915-EB5D-4EAE-A7F0-3B100EE72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STAGE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37D7CF-CEB4-43F1-A730-A1E4A508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D158A-7B27-4868-B741-495D4D7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Stage 2 ExtraTrees 长跑复算取得 R2=0.7245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664795-4151-48FC-A55F-F21FDBF0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03C7B9-478F-441A-8E6F-7D68169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63A42-51F8-469D-B997-24695A51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15DEB3-B6A5-4B81-A807-C52AE36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行业/区域层不是替代 SME，而是检验机制在更大官方数据范围中的稳定性。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4acc84397941fa"/>
          <a:stretch xmlns:a="http://schemas.openxmlformats.org/drawingml/2006/main"/>
        </p:blipFill>
        <p:spPr>
          <a:xfrm xmlns:a="http://schemas.openxmlformats.org/drawingml/2006/main">
            <a:off x="6191250" y="2319354"/>
            <a:ext cx="4953000" cy="2457416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C655C-A8F3-4838-BD40-D4D17AC5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5BE96-FB80-48E7-A67F-EB6B4946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3FDFA-6D13-463F-9685-878AEB10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F89677-5D25-4C4B-B3E2-5C4B7AC2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896BC2-A821-40B2-A95D-04A8041F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69160-7142-4C5E-8455-8759077F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57D45D-89F2-4C1F-AF7A-09298696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B9F490-016D-48AE-91C1-5AF134C2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2705259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6E05A-20B5-4C5E-9319-CCC061EF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D9F69-9F39-4E97-8E9E-9BECEF9D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MECHANISM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125A5-59E7-4296-9AA3-B16D8618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16DBC-98FD-4DBD-8547-F1156039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特征重要性支持部署准备度和数字基础机制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F6C314-9973-4ECD-A05F-4DF44164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EC18F-5543-44DA-BA2B-5DE9342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62909-FB49-464B-A45C-26E72178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F0B32-49DE-48CE-8203-FC8F2B23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模型解释聚焦机制变量组，不把预测模型写成因果证明。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c476297804f4e"/>
          <a:stretch xmlns:a="http://schemas.openxmlformats.org/drawingml/2006/main"/>
        </p:blipFill>
        <p:spPr>
          <a:xfrm xmlns:a="http://schemas.openxmlformats.org/drawingml/2006/main">
            <a:off x="6191250" y="2294959"/>
            <a:ext cx="4953000" cy="2506207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C4FF5-A32D-44EE-A9C9-EF361120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B75B4D-2C68-4F80-8DB0-525709C8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40913B-A35F-4E4C-80FF-FB928E9E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536D1-A70B-4F28-A4E7-FD9EB9AFB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90341D-50B8-4BB9-9FDB-459BF96A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D0C1AA-BFB3-4A8E-8650-5907099B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3A9679-FAB2-421E-A044-D2B8D06F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874134-AAC3-4D7C-A1AB-02AB64EE2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3760267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B89230-EACB-4F50-A377-20698D30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00870-4CF8-4F13-AF12-0F13A17B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C8045-E9BF-4E82-8944-DB69AAF1D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7720F1-AFC4-499C-9F08-61A87C3B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Agent 原型把模型证据转成可查询的课程演示工具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78E57-4E28-4535-B64A-9AE6D56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61EA1-C279-4998-A6A6-8619D393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E7E94-FD72-4696-AC24-891107B8C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5817AF-3FB3-4871-8077-449DE968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没有模型二进制时预测工具返回 unavailable 和复现路径，而不是崩溃。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371750b0b4f8a"/>
          <a:stretch xmlns:a="http://schemas.openxmlformats.org/drawingml/2006/main"/>
        </p:blipFill>
        <p:spPr>
          <a:xfrm xmlns:a="http://schemas.openxmlformats.org/drawingml/2006/main">
            <a:off x="6191250" y="2370308"/>
            <a:ext cx="4953000" cy="235550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F28F2-A5A8-4301-BDD1-FE03AF6E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F3027-35FF-42E7-87CB-6A556C4E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ECED2-416C-48F8-85FE-4D3D65F9E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2220FE-4F62-43F6-9F7D-69AD92F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7234C0-0215-4844-8994-701655D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669F89-3FB7-41F1-BDC9-F5B009EC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3EB8AB-DC31-470B-8F30-C58B25D2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1320B5-9C48-47BC-826B-D227D25B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3877955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DBA2FA-B018-4291-860D-9BD67CE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3717A6-D674-4C01-8395-89E928C4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B7D0F-6817-4A32-8EED-28936357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5E0A8-8380-401D-8507-5B7BEDDE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GitHub 仓库保留公开复现材料，私密论文线隔离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A9148-6744-42AB-88FC-42B87A67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A3B66-DA83-48D9-A6C5-B0951782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1C52A-D77F-4B4E-BC47-5F608F1D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345498-059F-44E8-AF55-4AB54694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公开仓库只保留课程案例、数据、代码、图表、报告和 Agent 原型。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03499-FEC6-48C4-B12F-EEF7B676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3905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F3742-6A23-4D0F-89A4-7A6FF2B7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000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PUBLIC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COURSEWORK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F9598-5EB3-4C54-A52A-809793E0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data / code / outputs / Agent /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8F8AD-455F-42DE-8DC9-4C00554B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6B1E4-F05F-4BF1-8151-AF1B8C0B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保留：01-12、data、src、outputs、docs、提交材料、10_Agent系统。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16649-C9A5-42C0-8059-525F74D5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3A8353-B6F4-455C-B186-6DD3E6D0C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隔离：14-18、19+ 私密包、问卷/访谈原文、投稿材料。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A11E3-882A-4892-ABAB-18F8A286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E5A4B-8F62-4E5A-B9D4-97871344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排除：.joblib、.pkl、.env、token、私钥、服务器认证信息。</a:t>
            </a:r>
          </a:p>
        </p:txBody>
      </p:sp>
    </p:spTree>
    <p:extLst>
      <p:ext uri="{BB962C8B-B14F-4D97-AF65-F5344CB8AC3E}">
        <p14:creationId xmlns:p14="http://schemas.microsoft.com/office/powerpoint/2010/main" val="24927554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FA368D-DF84-4FAE-8E3A-7B048167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FC5FA-DD55-4E64-8144-4458FE9E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E8C01C-EDE2-4437-BD60-0446BBA0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5795-8642-48E3-97BA-395EE93A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边界说清楚，比把结论写满更专业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10ADE-6485-4909-A7E8-BB9B8B57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D01DEA-7305-4772-976B-4F0429C3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EE3B2B-6DD5-4054-8F06-622662F4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1F33FA-B7C7-4D54-9E5C-39A8D47F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不写千万样本直接训练、不写机器学习证明因果、不写 Stage 2 SME-only。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DBD74-EDB2-49C5-9D24-D859CB0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39052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030ED-4AEC-4084-B8A4-6EEBD6DB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30003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PUBLIC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COURSEWORK</a:t>
            </a:r>
          </a:p>
          <a:p xmlns:a="http://schemas.openxmlformats.org/drawingml/2006/main">
            <a:pPr algn="ctr">
              <a:defRPr sz="2475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062E6-D285-45FF-B233-06F61575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43375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data / code / outputs / Agent / PPT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47C44-9AB9-46DB-B342-8A651C228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193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1022D8-D62B-4902-8791-F9E34E23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不能写：千万样本直接训练。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48A51-9CC7-4C32-B28B-814787EFE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670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B6F66-A3BF-4304-8941-14E11E210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不能写：机器学习证明因果。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55F60-9A59-4EF2-A84B-EDF62734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94265-8702-4DB2-ADF0-34B87F72B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459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不能写：问卷星逐样本数据库或 Stage 2 SME-only。</a:t>
            </a:r>
          </a:p>
        </p:txBody>
      </p:sp>
    </p:spTree>
    <p:extLst>
      <p:ext uri="{BB962C8B-B14F-4D97-AF65-F5344CB8AC3E}">
        <p14:creationId xmlns:p14="http://schemas.microsoft.com/office/powerpoint/2010/main" val="2784066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0065D1-EA0B-4988-868F-78DFB3D3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5A53D-801A-455D-98DB-21115864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F5F8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F5F8B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6E3D5-CBC8-4BE8-B67A-F6A7E8E9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F24BA-8354-4AAA-8A42-34AAEE71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172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完整案例的价值：真实数据、严格验证、可复现展示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5D89E-2252-49BA-82F0-49CF4DF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D3F2D-3A03-4F54-8BB2-B887D06E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885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README.md; DATA_CARD.md; data/processed; outputs/tables; 10_Agent系统/reports.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31D9E6-7363-4477-B744-38E44990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579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>
                <a:solidFill>
                  <a:srgbClr val="6B7280"/>
                </a:solidFill>
                <a:latin typeface="Cascadia Mono"/>
                <a:ea typeface="Cascadia Mono"/>
                <a:cs typeface="Cascadia Mon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5BF0A-E3B1-4DB9-ACB2-B15FEF54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647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明天展示时重点讲清数据链、模型链、证据链和公开边界。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e66e616384bf9"/>
          <a:stretch xmlns:a="http://schemas.openxmlformats.org/drawingml/2006/main"/>
        </p:blipFill>
        <p:spPr>
          <a:xfrm xmlns:a="http://schemas.openxmlformats.org/drawingml/2006/main">
            <a:off x="6191250" y="2420383"/>
            <a:ext cx="4953000" cy="2255359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740B07-E358-4275-8C8A-CC08C9B6A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D0DF5-3286-4C37-A6B6-99B210AB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F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E3C54A-E925-49A1-9134-0647EB1F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Proof object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4BCCE-9110-402A-9379-ED162E22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38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This slide is backed by public repository data, result tables, QA reports, or reproducible scripts.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8ED79-81A8-4787-87CB-493E45C4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5243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419FF-18C9-4E44-BB03-210D2122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36B2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6A90D0-4259-49A1-847C-E65FF922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Display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35FEA3-3564-4200-A052-7E8628C5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81475"/>
            <a:ext cx="42195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 conservative GroupKFold metrics and clear evidence boundaries in classroom explanation.</a:t>
            </a:r>
          </a:p>
        </p:txBody>
      </p:sp>
    </p:spTree>
    <p:extLst>
      <p:ext uri="{BB962C8B-B14F-4D97-AF65-F5344CB8AC3E}">
        <p14:creationId xmlns:p14="http://schemas.microsoft.com/office/powerpoint/2010/main" val="11054585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2026-05-24T13:52:32.5040000Z</dcterms:created>
  <dcterms:modified xsi:type="dcterms:W3CDTF">2026-05-24T13:52:32.5040000Z</dcterms:modified>
</coreProperties>
</file>