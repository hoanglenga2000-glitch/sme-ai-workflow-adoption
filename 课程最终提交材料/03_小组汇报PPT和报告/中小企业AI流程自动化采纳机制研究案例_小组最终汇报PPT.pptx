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6256000" cy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notesSlide" Target="notesSlides/notesSlide1.xml"/><Relationship Id="rId28" Type="http://schemas.openxmlformats.org/officeDocument/2006/relationships/notesSlide" Target="notesSlides/notesSlide2.xml"/><Relationship Id="rId29" Type="http://schemas.openxmlformats.org/officeDocument/2006/relationships/notesSlide" Target="notesSlides/notesSlide3.xml"/><Relationship Id="rId30" Type="http://schemas.openxmlformats.org/officeDocument/2006/relationships/notesSlide" Target="notesSlides/notesSlide4.xml"/><Relationship Id="rId31" Type="http://schemas.openxmlformats.org/officeDocument/2006/relationships/notesSlide" Target="notesSlides/notesSlide5.xml"/><Relationship Id="rId32" Type="http://schemas.openxmlformats.org/officeDocument/2006/relationships/notesSlide" Target="notesSlides/notesSlide6.xml"/><Relationship Id="rId33" Type="http://schemas.openxmlformats.org/officeDocument/2006/relationships/notesSlide" Target="notesSlides/notesSlide7.xml"/><Relationship Id="rId34" Type="http://schemas.openxmlformats.org/officeDocument/2006/relationships/notesSlide" Target="notesSlides/notesSlide8.xml"/><Relationship Id="rId35" Type="http://schemas.openxmlformats.org/officeDocument/2006/relationships/notesSlide" Target="notesSlides/notesSlide9.xml"/><Relationship Id="rId36" Type="http://schemas.openxmlformats.org/officeDocument/2006/relationships/notesSlide" Target="notesSlides/notesSlide10.xml"/><Relationship Id="rId37" Type="http://schemas.openxmlformats.org/officeDocument/2006/relationships/notesSlide" Target="notesSlides/notesSlide11.xml"/><Relationship Id="rId38" Type="http://schemas.openxmlformats.org/officeDocument/2006/relationships/notesSlide" Target="notesSlides/notesSlide12.xml"/><Relationship Id="rId39" Type="http://schemas.openxmlformats.org/officeDocument/2006/relationships/notesSlide" Target="notesSlides/notesSlide13.xml"/><Relationship Id="rId40" Type="http://schemas.openxmlformats.org/officeDocument/2006/relationships/notesSlide" Target="notesSlides/notesSlide14.xml"/><Relationship Id="rId41" Type="http://schemas.openxmlformats.org/officeDocument/2006/relationships/notesSlide" Target="notesSlides/notesSlide15.xml"/><Relationship Id="rId42" Type="http://schemas.openxmlformats.org/officeDocument/2006/relationships/notesSlide" Target="notesSlides/notesSlide16.xml"/><Relationship Id="rId43" Type="http://schemas.openxmlformats.org/officeDocument/2006/relationships/notesSlide" Target="notesSlides/notesSlide17.xml"/><Relationship Id="rId44" Type="http://schemas.openxmlformats.org/officeDocument/2006/relationships/notesSlide" Target="notesSlides/notes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256000" cy="254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304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524000" y="3556000"/>
            <a:ext cx="13208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中小企业AI流程自动化采纳机制研究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524000" y="5334000"/>
            <a:ext cx="13208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495057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基于官方ICT数据的数据生命周期、机器学习验证与治理启示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7366000"/>
            <a:ext cx="13208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C3A76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SME / AI Workflow Automation / Adoption Mechanism / Data Lifecycle / Machine Learning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4572000" cy="9144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3810000"/>
            <a:ext cx="3556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2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研究核心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4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1016000"/>
            <a:ext cx="10160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效率、安全与部署如何共同影响中小企业AI采纳？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4000" y="2032000"/>
            <a:ext cx="10160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本研究旨在探究中小企业AI采纳的动因、阻力及路径选择机制。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317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175000"/>
            <a:ext cx="9525000" cy="127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课程问题：为什么中小企业需要AI流程自动化？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中小企业希望用AI减少重复录入和人工复核，但资金、人才、数据和安全约束会影响项目能否落地。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4953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0" y="4953000"/>
            <a:ext cx="9525000" cy="127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机制探究：采纳过程中受到哪些因素的交互影响？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效率需求是否是唯一的驱动力？数据安全与隐私顾虑构成了怎样的阈值？SaaS与私有化部署偏好如何改变最终采纳路径？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673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0" y="6731000"/>
            <a:ext cx="9525000" cy="127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研究目标：从数据归纳到治理启示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基于官方ICT数据，严格识别机制相关性（非因果推断），解释SME特有的部署偏好，并为企业实践提供管理启示。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资源、认知与技术条件共同限制SME的数字化转型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理论与现实背景：中小企业AI转型不是单纯技术替换，落地前需要同时处理三类约束。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302000"/>
            <a:ext cx="457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4572000" cy="762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810000"/>
            <a:ext cx="3810000" cy="330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资源限制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资金与人才双重匮乏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false" i="false" strike="noStrike" u="none" sz="1600">
                <a:solidFill>
                  <a:srgbClr val="64696E"/>
                </a:solidFill>
                <a:latin typeface="SimHei"/>
                <a:ea typeface="SimHei"/>
                <a:cs typeface="SimHei"/>
                <a:sym typeface="SimHei"/>
              </a:rPr>
              <a:t>中小企业的现金流难以支撑昂贵的初期试错成本。同时，市场上既懂业务又懂AI流程自动化的跨界技术人才极度稀缺，导致大量自动化项目因资源枯竭而中途流产。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3302000"/>
            <a:ext cx="457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3302000"/>
            <a:ext cx="4572000" cy="762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810000"/>
            <a:ext cx="3810000" cy="330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认知缺口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黑盒信任与边界模糊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false" i="false" strike="noStrike" u="none" sz="1600">
                <a:solidFill>
                  <a:srgbClr val="64696E"/>
                </a:solidFill>
                <a:latin typeface="SimHei"/>
                <a:ea typeface="SimHei"/>
                <a:cs typeface="SimHei"/>
                <a:sym typeface="SimHei"/>
              </a:rPr>
              <a:t>决策层往往对AI技术的能力边界存在认知落差。由于深度学习等模型的“黑盒”特性，管理层对由机器做出的业务决策逻辑产生严重的不信任感，阻碍核心业务采纳。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922000" y="3302000"/>
            <a:ext cx="457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922000" y="3302000"/>
            <a:ext cx="4572000" cy="762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303000" y="3810000"/>
            <a:ext cx="3810000" cy="330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技术门槛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数据孤岛与遗留系统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false" i="false" strike="noStrike" u="none" sz="1600">
                <a:solidFill>
                  <a:srgbClr val="64696E"/>
                </a:solidFill>
                <a:latin typeface="SimHei"/>
                <a:ea typeface="SimHei"/>
                <a:cs typeface="SimHei"/>
                <a:sym typeface="SimHei"/>
              </a:rPr>
              <a:t>中小企业传统的IT基础设施多为分散、老化的系统。缺乏标准化的API接口能力与统一的数据湖底座，使得现代AI工作流难以无缝集成至现有繁杂的本地架构中。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从需求驱动到组织治理的全链路采纳框架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研究框架：效率、安全与部署三大前置变量共同形塑了中小企业的AI采纳机制及后续组织治理路径。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3810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48000"/>
            <a:ext cx="3810000" cy="508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3810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驱动与阻力变量 (前置)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3937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"/>
            </a:srgbClr>
          </a:solidFill>
          <a:ln w="25400" cmpd="sng" cap="flat">
            <a:solidFill>
              <a:srgbClr val="1C3A7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3937000"/>
            <a:ext cx="3048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效率需求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5080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"/>
            </a:srgbClr>
          </a:solidFill>
          <a:ln w="25400" cmpd="sng" cap="flat">
            <a:solidFill>
              <a:srgbClr val="1C3A7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7000" y="5080000"/>
            <a:ext cx="3048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安全顾虑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6223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"/>
            </a:srgbClr>
          </a:solidFill>
          <a:ln w="25400" cmpd="sng" cap="flat">
            <a:solidFill>
              <a:srgbClr val="1C3A7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97000" y="6223000"/>
            <a:ext cx="3048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部署偏好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28647" flipH="false" flipV="false">
            <a:off x="4825365" y="519430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9505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3683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3683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683000"/>
            <a:ext cx="3556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核心机制识别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58000" y="4572000"/>
            <a:ext cx="2794000" cy="1524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4572000"/>
            <a:ext cx="279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中小企业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采纳机制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28647" flipH="false" flipV="false">
            <a:off x="10032365" y="519430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9505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1684000" y="4191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1684000" y="4191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684000" y="4191000"/>
            <a:ext cx="3556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管理结果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2065000" y="5080000"/>
            <a:ext cx="2794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95057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2065000" y="5080000"/>
            <a:ext cx="2794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组织治理与生命周期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基于可复现要求的数据生命周期设计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研究从官方数据、manifest、清洗脚本、建模面板到结果图表保留对应证据，便于课程检查。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55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556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330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1. 数据获取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572000"/>
            <a:ext cx="2794000" cy="228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获取全量官方原始记录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校验 Manifest 清单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SHA256 哈希值完整性校验，锁定源数据</a:t>
            </a:r>
          </a:p>
        </p:txBody>
      </p:sp>
      <p:cxnSp>
        <p:nvCxnSpPr>
          <p:cNvPr name="Connector 9" id="9"/>
          <p:cNvCxnSpPr/>
          <p:nvPr/>
        </p:nvCxnSpPr>
        <p:spPr>
          <a:xfrm rot="-171744" flipH="false" flipV="false">
            <a:off x="4190365" y="532130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C3A76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4572000" y="355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556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3556000"/>
            <a:ext cx="330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2. 清洗治理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4572000"/>
            <a:ext cx="2794000" cy="228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去重与冗余记录过滤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特征对齐与缺失值处理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严格控制未来数据防泄漏机制</a:t>
            </a:r>
          </a:p>
        </p:txBody>
      </p:sp>
      <p:cxnSp>
        <p:nvCxnSpPr>
          <p:cNvPr name="Connector 14" id="14"/>
          <p:cNvCxnSpPr/>
          <p:nvPr/>
        </p:nvCxnSpPr>
        <p:spPr>
          <a:xfrm rot="-171744" flipH="false" flipV="false">
            <a:off x="8000365" y="532130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C3A76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8382000" y="355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556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556000"/>
            <a:ext cx="330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3. 特征工程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36000" y="4572000"/>
            <a:ext cx="2794000" cy="228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多维度业务特征提取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构建并聚合面板数据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输出稳健的解释变量与控制变量组</a:t>
            </a:r>
          </a:p>
        </p:txBody>
      </p:sp>
      <p:cxnSp>
        <p:nvCxnSpPr>
          <p:cNvPr name="Connector 19" id="19"/>
          <p:cNvCxnSpPr/>
          <p:nvPr/>
        </p:nvCxnSpPr>
        <p:spPr>
          <a:xfrm rot="-171744" flipH="false" flipV="false">
            <a:off x="11810365" y="532130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C3A76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12192000" y="355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2192000" y="3556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2192000" y="3556000"/>
            <a:ext cx="330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4. 验证与输出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2446000" y="4572000"/>
            <a:ext cx="2794000" cy="228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机器学习建模与双阶段验证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机制结果解释分析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• 沉淀Agent原型辅助决策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从1277万官方记录到5814条建模面板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项目不是直接用千万级原始行训练模型，而是经过指标筛选、面板聚合和目标非空过滤，形成可解释建模数据。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413000" y="3048000"/>
            <a:ext cx="11430000" cy="889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0" y="3238500"/>
            <a:ext cx="5080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Raw Official Rows (原始官方记录)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0" y="3238500"/>
            <a:ext cx="2794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12,770,332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924800" y="4064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048000" y="4572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1C3A7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29000" y="4762500"/>
            <a:ext cx="5080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Scanned Rows (扫描与去重处理)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0" y="4762500"/>
            <a:ext cx="2667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12,341,630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924800" y="5588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318000" y="6096000"/>
            <a:ext cx="7620000" cy="889000"/>
          </a:xfrm>
          <a:prstGeom prst="roundRect">
            <a:avLst>
              <a:gd name="adj" fmla="val 0"/>
            </a:avLst>
          </a:prstGeom>
          <a:solidFill>
            <a:srgbClr val="1C3A7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6286500"/>
            <a:ext cx="3810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77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Feature-filtered Rows (特征过滤样本)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0" y="6286500"/>
            <a:ext cx="2667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856,880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924800" y="7112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588000" y="7620000"/>
            <a:ext cx="5080000" cy="889000"/>
          </a:xfrm>
          <a:prstGeom prst="roundRect">
            <a:avLst>
              <a:gd name="adj" fmla="val 0"/>
            </a:avLst>
          </a:prstGeom>
          <a:solidFill>
            <a:srgbClr val="1C3A76">
              <a:alpha val="40000"/>
            </a:srgbClr>
          </a:solidFill>
          <a:ln w="25400" cmpd="sng" cap="flat">
            <a:solidFill>
              <a:srgbClr val="1C3A7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969000" y="7810500"/>
            <a:ext cx="2540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7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Modeling-panel Rows (建模核心面板)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7810500"/>
            <a:ext cx="1143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5,814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围绕效率、安全与部署构建的核心变量组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针对不同采纳阶段的业务关注点，本研究设计了多维度的定量解释特征体系。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75000"/>
            <a:ext cx="457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175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457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维度一：效率驱动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318000"/>
            <a:ext cx="3810000" cy="3175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降本增效指标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量化初始人力成本节约及标准化错误率降低预期。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产能提升预期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衡量自动化对核心业务响应速度的潜在边际贡献。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3175000"/>
            <a:ext cx="457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3175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3175000"/>
            <a:ext cx="457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维度二：安全阈值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4318000"/>
            <a:ext cx="3810000" cy="3175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数据确权与隐私合规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行业监管压力及企业内部商业机密保护的防线阈值。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黑盒可解释性要求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企业对模型决策透明度的主观依赖程度测量。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922000" y="3175000"/>
            <a:ext cx="457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922000" y="3175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922000" y="3175000"/>
            <a:ext cx="457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维度三：部署偏好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303000" y="4318000"/>
            <a:ext cx="3810000" cy="3175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架构策略评估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SaaS免维护、边缘低延迟、私有化高安全及混合云方案的成本结构选择。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投入产出匹配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部署路径对业务融合深度的乘数调节效应。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Stage 1：聚焦中小企业局域面板的机制解释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本阶段专注 SME 场景机制探索，采用 Ridge 岭回归控制共线性，利用 GroupKFold 防止地理数据泄漏。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75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556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SME 面板样本规模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553 panel rows, 544 modeling rows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涵盖 36 geo groups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382000" y="3175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63000" y="3556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观测时间跨度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2021 (基础对照基线)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2023 - 2025 (近期趋势与未来预期)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969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6350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模型架构：Ridge 回归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采用 Ridge 岭回归作为解释框架，有效处理高维特征间存在的多重共线性，保证机制解释的稳定可信。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382000" y="5969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63000" y="6350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验证策略：GroupKFold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以 36 个地理分组为界限进行 K 折交叉验证，确保训练与验证集之间没有区域性数据溢出造成的乐观评估。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Ridge模型在SME规模组口径下表现稳定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Stage 1使用SME规模组面板，Ridge在按国家分组验证下保持较好解释力。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778000" y="3556000"/>
            <a:ext cx="5842000" cy="3048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3937000"/>
            <a:ext cx="5334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决定系数 R² (GroupKFold)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4572000"/>
            <a:ext cx="533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0.874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3556000"/>
            <a:ext cx="584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0" y="3937000"/>
            <a:ext cx="5334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平均绝对误差 MAE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0" y="4572000"/>
            <a:ext cx="533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1.7730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78000" y="7112000"/>
            <a:ext cx="762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159000" y="7112000"/>
            <a:ext cx="12319000" cy="101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机制稳定性结论：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该结果来自GroupKFold by country口径，说明核心变量对SME规模组采纳差异有较强解释力；结论限定为相关性和预测解释。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Stage 2：跨越50个行业的外部验证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Stage 2不再写成SME-only结论，而是用行业/区域GE10口径检验变量框架是否仍有解释力。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75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556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全行业/大区域面板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扩张至 5,814 modeling rows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涵盖 36 geo groups 与 50 个复杂细分行业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382000" y="3175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63000" y="3556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观测时间跨度与挑战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• 2021, 2023 - 2025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大跨度与复杂宏观经济周期考验核心机制稳健性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969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6350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模型升级：ExtraTrees 算法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采用 ExtraTrees (极端随机树) 非线性树模型集成，以应对扩样后陡增的跨行业变量与非线性交互关系。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382000" y="5969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63000" y="6350000"/>
            <a:ext cx="6350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▍ 验证策略：Long-run GroupKFold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不仅防范空间溢出，还在长周期下检验模型抵御不同宏观外部冲击（如宏观经济下行、新技术爆发）的稳固性。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ExtraTrees在行业/区域验证中保持可用解释力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在5814条行业/区域样本中，模型仍保留0.7左右的解释力，说明变量框架有外部验证价值。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778000" y="3556000"/>
            <a:ext cx="5842000" cy="3048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3937000"/>
            <a:ext cx="5334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决定系数 R² (Long-run GroupKFold)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4572000"/>
            <a:ext cx="533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0.7073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3556000"/>
            <a:ext cx="584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0" y="3937000"/>
            <a:ext cx="5334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平均绝对误差 MAE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0" y="4572000"/>
            <a:ext cx="533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2.1060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78000" y="7112000"/>
            <a:ext cx="762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159000" y="7112000"/>
            <a:ext cx="12319000" cy="101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外部泛化有效性评估：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场景从SME规模组扩展到行业/区域口径后，模型难度上升，R²下降是合理现象；这里用于说明外部验证，不用于宣称因果规律。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效率、治理与部署条件的特征权重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特征重要性帮助解释哪些变量在两个阶段中更稳定，仍需结合口径边界审慎表述。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048000"/>
            <a:ext cx="14732000" cy="533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556000"/>
            <a:ext cx="2540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效率特征组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0" y="3683000"/>
            <a:ext cx="7620000" cy="508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4318000"/>
            <a:ext cx="7366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92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贡献较高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AI能力和效率相关指标贡献较高，是企业启动自动化项目的重要线索。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5334000"/>
            <a:ext cx="2540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安全特征组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5461000"/>
            <a:ext cx="5080000" cy="508000"/>
          </a:xfrm>
          <a:prstGeom prst="roundRect">
            <a:avLst>
              <a:gd name="adj" fmla="val 0"/>
            </a:avLst>
          </a:prstGeom>
          <a:solidFill>
            <a:srgbClr val="1C3A7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6096000"/>
            <a:ext cx="7366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77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路径约束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安全和数据治理指标会影响部署路径选择，不宜简单写成采纳阻力。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7112000"/>
            <a:ext cx="2540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部署偏好组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064000" y="7239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1C3A7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18000" y="7874000"/>
            <a:ext cx="7366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775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落地条件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部署准备度影响AI进入业务流程的范围和速度。</a:t>
            </a:r>
          </a:p>
        </p:txBody>
      </p:sp>
      <p:cxnSp>
        <p:nvCxnSpPr>
          <p:cNvPr name="Connector 15" id="15"/>
          <p:cNvCxnSpPr/>
          <p:nvPr/>
        </p:nvCxnSpPr>
        <p:spPr>
          <a:xfrm rot="5391814" flipH="false" flipV="false">
            <a:off x="1396365" y="570230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DD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探明从“入场”到“落地”的演化路径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模型结果提示，中小企业AI采纳不是单一因素驱动，而是效率收益、安全约束和部署条件共同作用。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302000"/>
            <a:ext cx="4318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1C3A7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4318000" cy="101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第一阶：进入动因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4699000"/>
            <a:ext cx="3556000" cy="254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效率预期突破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可测算的降本增效指标，是资金与人才受限的 SME 打破现有流程惯性、开启自动化探索的唯一敲门砖。无效率提升则无立项。</a:t>
            </a:r>
          </a:p>
        </p:txBody>
      </p:sp>
      <p:cxnSp>
        <p:nvCxnSpPr>
          <p:cNvPr name="Connector 9" id="9"/>
          <p:cNvCxnSpPr/>
          <p:nvPr/>
        </p:nvCxnSpPr>
        <p:spPr>
          <a:xfrm rot="-114549" flipH="false" flipV="false">
            <a:off x="5460365" y="544830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C3A76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969000" y="3302000"/>
            <a:ext cx="4318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1C3A76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3302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1C3A7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69000" y="3302000"/>
            <a:ext cx="4318000" cy="101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第二阶：治理门槛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4699000"/>
            <a:ext cx="3556000" cy="254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安全数据阈值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进入实施或 PoC 后，合规审查与核心数据资产确权构成难以逾越的隐形墙。若黑盒解释性不能通过业务审计，项目将发生硬阻断。</a:t>
            </a:r>
          </a:p>
        </p:txBody>
      </p:sp>
      <p:cxnSp>
        <p:nvCxnSpPr>
          <p:cNvPr name="Connector 14" id="14"/>
          <p:cNvCxnSpPr/>
          <p:nvPr/>
        </p:nvCxnSpPr>
        <p:spPr>
          <a:xfrm rot="-114549" flipH="false" flipV="false">
            <a:off x="10413365" y="544830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C3A76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0922000" y="3302000"/>
            <a:ext cx="4318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1C3A7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922000" y="3302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1C3A7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922000" y="3302000"/>
            <a:ext cx="4318000" cy="101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第三阶：落地路径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303000" y="4699000"/>
            <a:ext cx="3556000" cy="254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部署偏好适配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跨越门槛后，从 SaaS 试水向私有化或混合云演变的决策，最终决定了 AI 在企业级核心业务流中的渗透深度与稳固度。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面向SME的“三步走”AI采纳闭环建议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基于研究结论，中小企业更适合从低风险流程切入，再逐步完善安全、治理和部署能力。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8128000" y="2540000"/>
            <a:ext cx="2659380" cy="3921760"/>
          </a:xfrm>
          <a:custGeom>
            <a:avLst/>
            <a:gdLst/>
            <a:ahLst/>
            <a:cxnLst/>
            <a:rect r="r" b="b" t="t" l="l"/>
            <a:pathLst>
              <a:path h="3921760" w="2659380">
                <a:moveTo>
                  <a:pt x="0" y="0"/>
                </a:moveTo>
                <a:cubicBezTo>
                  <a:pt x="909320" y="0"/>
                  <a:pt x="1748790" y="486410"/>
                  <a:pt x="2203450" y="1272540"/>
                </a:cubicBezTo>
                <a:cubicBezTo>
                  <a:pt x="2659380" y="2058670"/>
                  <a:pt x="2658110" y="3031490"/>
                  <a:pt x="2203450" y="3816350"/>
                </a:cubicBezTo>
                <a:lnTo>
                  <a:pt x="1548130" y="3921760"/>
                </a:lnTo>
                <a:lnTo>
                  <a:pt x="1313180" y="3302000"/>
                </a:lnTo>
                <a:cubicBezTo>
                  <a:pt x="1583690" y="2833370"/>
                  <a:pt x="1583690" y="2255520"/>
                  <a:pt x="1313180" y="1785620"/>
                </a:cubicBezTo>
                <a:cubicBezTo>
                  <a:pt x="1042670" y="1318260"/>
                  <a:pt x="541020" y="1028700"/>
                  <a:pt x="0" y="1028700"/>
                </a:cubicBezTo>
                <a:lnTo>
                  <a:pt x="419100" y="514350"/>
                </a:lnTo>
                <a:close/>
              </a:path>
            </a:pathLst>
          </a:custGeom>
          <a:solidFill>
            <a:srgbClr val="1C3A7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930900" y="5727700"/>
            <a:ext cx="4401820" cy="1889760"/>
          </a:xfrm>
          <a:custGeom>
            <a:avLst/>
            <a:gdLst/>
            <a:ahLst/>
            <a:cxnLst/>
            <a:rect r="r" b="b" t="t" l="l"/>
            <a:pathLst>
              <a:path h="1889760" w="4401820">
                <a:moveTo>
                  <a:pt x="4401820" y="618490"/>
                </a:moveTo>
                <a:cubicBezTo>
                  <a:pt x="3947160" y="1404620"/>
                  <a:pt x="3108960" y="1889760"/>
                  <a:pt x="2200910" y="1889760"/>
                </a:cubicBezTo>
                <a:cubicBezTo>
                  <a:pt x="1292860" y="1889760"/>
                  <a:pt x="454660" y="1404620"/>
                  <a:pt x="0" y="618490"/>
                </a:cubicBezTo>
                <a:lnTo>
                  <a:pt x="234950" y="0"/>
                </a:lnTo>
                <a:lnTo>
                  <a:pt x="889000" y="105410"/>
                </a:lnTo>
                <a:cubicBezTo>
                  <a:pt x="1159510" y="572770"/>
                  <a:pt x="1659890" y="862330"/>
                  <a:pt x="2200910" y="862330"/>
                </a:cubicBezTo>
                <a:cubicBezTo>
                  <a:pt x="2741930" y="862330"/>
                  <a:pt x="3241040" y="572770"/>
                  <a:pt x="3511550" y="105410"/>
                </a:cubicBezTo>
                <a:lnTo>
                  <a:pt x="3747770" y="723900"/>
                </a:lnTo>
                <a:close/>
              </a:path>
            </a:pathLst>
          </a:custGeom>
          <a:solidFill>
            <a:srgbClr val="1C3A76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461000" y="2540000"/>
            <a:ext cx="3078480" cy="3810000"/>
          </a:xfrm>
          <a:custGeom>
            <a:avLst/>
            <a:gdLst/>
            <a:ahLst/>
            <a:cxnLst/>
            <a:rect r="r" b="b" t="t" l="l"/>
            <a:pathLst>
              <a:path h="3810000" w="3078480">
                <a:moveTo>
                  <a:pt x="454660" y="3810000"/>
                </a:moveTo>
                <a:cubicBezTo>
                  <a:pt x="0" y="3025140"/>
                  <a:pt x="0" y="2058670"/>
                  <a:pt x="454660" y="1270000"/>
                </a:cubicBezTo>
                <a:cubicBezTo>
                  <a:pt x="909320" y="485140"/>
                  <a:pt x="1744980" y="0"/>
                  <a:pt x="2658110" y="0"/>
                </a:cubicBezTo>
                <a:lnTo>
                  <a:pt x="3078480" y="513080"/>
                </a:lnTo>
                <a:lnTo>
                  <a:pt x="2658110" y="1027430"/>
                </a:lnTo>
                <a:cubicBezTo>
                  <a:pt x="2117090" y="1027430"/>
                  <a:pt x="1612900" y="1318260"/>
                  <a:pt x="1344930" y="1783080"/>
                </a:cubicBezTo>
                <a:cubicBezTo>
                  <a:pt x="1074420" y="2250440"/>
                  <a:pt x="1073150" y="2834640"/>
                  <a:pt x="1344930" y="3296920"/>
                </a:cubicBezTo>
                <a:lnTo>
                  <a:pt x="690880" y="3191510"/>
                </a:lnTo>
                <a:close/>
              </a:path>
            </a:pathLst>
          </a:cu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93400" y="3048000"/>
            <a:ext cx="406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步二：全域安全评估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在概念验证期（PoC）同步引入核心数据确权与业务底线审查。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7747000"/>
            <a:ext cx="4064000" cy="127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步三：柔性部署治理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不苛求一次性本地部署，而是根据数据核敏感度，从 SaaS 试用平滑演变至混合云架构，形成稳固产能。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048000"/>
            <a:ext cx="4064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步一：敏捷效率试点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r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不碰核心重资产，优先低成本寻找能提供单一确切降本增效的高 ROI 痛点切入。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研究成果落地：构建证据约束型AI决策辅助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避免盲目而发散的生成式对话，通过“知识硬约束”将机器学习模型揭示的机制落地为 Agent 工程原型。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175000"/>
            <a:ext cx="14224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3810000"/>
            <a:ext cx="3302000" cy="254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知识抽取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将Ridge与ExtraTrees结果、指标解释和证据索引整理为业务逻辑库。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5016500"/>
            <a:ext cx="762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5400000" flipH="false" flipV="false">
            <a:off x="5842000" y="4914900"/>
            <a:ext cx="254000" cy="254000"/>
          </a:xfrm>
          <a:prstGeom prst="triangle">
            <a:avLst/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3683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mpd="sng" cap="flat">
            <a:solidFill>
              <a:srgbClr val="1C3A7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3937000"/>
            <a:ext cx="3302000" cy="254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证据强制约束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基于大模型的 System Prompt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将合规审计视为硬阻断参数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将效率预测设为触发权重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避免无证据扩展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0" y="5016500"/>
            <a:ext cx="762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5400000" flipH="false" flipV="false">
            <a:off x="10922000" y="4914900"/>
            <a:ext cx="254000" cy="254000"/>
          </a:xfrm>
          <a:prstGeom prst="triangle">
            <a:avLst/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0" y="3810000"/>
            <a:ext cx="3302000" cy="2540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实战输出与诊断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输入企业现况参数，Agent 按照实际官方历史数据呈现的最优生命周期，输出部署偏好路径与风险治理推荐表。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7239000"/>
            <a:ext cx="14224000" cy="762000"/>
          </a:xfrm>
          <a:prstGeom prst="roundRect">
            <a:avLst>
              <a:gd name="adj" fmla="val 0"/>
            </a:avLst>
          </a:prstGeom>
          <a:solidFill>
            <a:srgbClr val="1C3A7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7239000"/>
            <a:ext cx="13716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C3A76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应用价值：将论文中的相关性结论转化为可复核的企业部署辅助原型。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课程项目的四类产出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本研究在数据链、算法验证、管理落地与开放科学层面均有实质性产出。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685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C3A7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4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3429000"/>
            <a:ext cx="5842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数据生命周期贡献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建立了一套严密的高质量面板聚合流。克服了宏观经济数据维度不足的问题，从多源官方数据中筛选关键指标，并完成交叉核验。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0" y="3048000"/>
            <a:ext cx="685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C3A7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382000" y="304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0" y="3429000"/>
            <a:ext cx="5842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Noto Serif SC"/>
                <a:ea typeface="Noto Serif SC"/>
                <a:cs typeface="Noto Serif SC"/>
                <a:sym typeface="Noto Serif SC"/>
              </a:rPr>
              <a:t>机器学习验证贡献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通过 Ridge 岭回归与 ExtraTrees 的双阶段建模，提供了高可信度的量化解释，克服了传统线性模型在处理异质性行业特征时的局限。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842000"/>
            <a:ext cx="685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C3A7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842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6223000"/>
            <a:ext cx="5842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Noto Serif SC"/>
                <a:ea typeface="Noto Serif SC"/>
                <a:cs typeface="Noto Serif SC"/>
                <a:sym typeface="Noto Serif SC"/>
              </a:rPr>
              <a:t>SME管理启示贡献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为中小企业提供破除“采纳断层”的实操依据。明确指出安全不是事后加固，而是门槛阻断；部署选择决定项目能否稳定落地。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5842000"/>
            <a:ext cx="685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C3A7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5842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0" y="6223000"/>
            <a:ext cx="5842000" cy="1524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C3A76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可复现项目贡献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8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代码、核心管线及脱敏特征数据已整理到 GitHub 项目，从模型诊断到 Agent 构建都能对照复核。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4732000" cy="76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125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方法边界与下一步计划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4732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95057"/>
                </a:solidFill>
                <a:latin typeface="SimHei"/>
                <a:ea typeface="SimHei"/>
                <a:cs typeface="SimHei"/>
                <a:sym typeface="SimHei"/>
              </a:rPr>
              <a:t>明确机器学习的底层本质属性，严守数据伦理界限，并为下一步研究指明方向。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302000"/>
            <a:ext cx="457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4572000" cy="762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810000"/>
            <a:ext cx="3810000" cy="330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归因克制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不声称因果关系推断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false" i="false" strike="noStrike" u="none" sz="1600">
                <a:solidFill>
                  <a:srgbClr val="64696E"/>
                </a:solidFill>
                <a:latin typeface="SimHei"/>
                <a:ea typeface="SimHei"/>
                <a:cs typeface="SimHei"/>
                <a:sym typeface="SimHei"/>
              </a:rPr>
              <a:t>本项目验证的是机制相关性与预测解释力度，没有使用双重差分、断点回归等因果推断方法。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3302000"/>
            <a:ext cx="457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3302000"/>
            <a:ext cx="4572000" cy="762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810000"/>
            <a:ext cx="3810000" cy="330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数据合规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严格隔离公私数据域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false" i="false" strike="noStrike" u="none" sz="1600">
                <a:solidFill>
                  <a:srgbClr val="64696E"/>
                </a:solidFill>
                <a:latin typeface="SimHei"/>
                <a:ea typeface="SimHei"/>
                <a:cs typeface="SimHei"/>
                <a:sym typeface="SimHei"/>
              </a:rPr>
              <a:t>公开仓库仅存放基于官方源数据的抽象聚合面板数据。关于企业私密的问卷与访谈记录受到严格的数据伦理约束，不进入公开验证流，绝不混淆主次证据。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922000" y="3302000"/>
            <a:ext cx="457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CD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922000" y="3302000"/>
            <a:ext cx="4572000" cy="762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303000" y="3810000"/>
            <a:ext cx="3810000" cy="3302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12529"/>
                </a:solidFill>
                <a:latin typeface="SimHei"/>
                <a:ea typeface="SimHei"/>
                <a:cs typeface="SimHei"/>
                <a:sym typeface="SimHei"/>
              </a:rPr>
              <a:t>未来展望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600"/>
              </a:spcBef>
            </a:pPr>
            <a:r>
              <a:rPr lang="en-US" b="false" i="false" strike="noStrike" u="none" sz="1800">
                <a:solidFill>
                  <a:srgbClr val="1C3A76"/>
                </a:solidFill>
                <a:latin typeface="SimHei"/>
                <a:ea typeface="SimHei"/>
                <a:cs typeface="SimHei"/>
                <a:sym typeface="SimHei"/>
              </a:rPr>
              <a:t>更微观与更长期的追踪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2400"/>
              </a:spcBef>
            </a:pPr>
            <a:r>
              <a:rPr lang="en-US" b="false" i="false" strike="noStrike" u="none" sz="1600">
                <a:solidFill>
                  <a:srgbClr val="64696E"/>
                </a:solidFill>
                <a:latin typeface="SimHei"/>
                <a:ea typeface="SimHei"/>
                <a:cs typeface="SimHei"/>
                <a:sym typeface="SimHei"/>
              </a:rPr>
              <a:t>下一步研究计划引入更细颗粒度的企业微观微动数据，追踪不同偏好下部署AI后在3-5年长效维度的真实财务ROI回报，丰富生命周期末端模型。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524000" y="2032000"/>
            <a:ext cx="13208000" cy="5080000"/>
          </a:xfrm>
          <a:prstGeom prst="roundRect">
            <a:avLst>
              <a:gd name="adj" fmla="val 0"/>
            </a:avLst>
          </a:prstGeom>
          <a:solidFill>
            <a:srgbClr val="1C3A76">
              <a:alpha val="100000"/>
            </a:srgbClr>
          </a:solidFill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254000" blurRad="508000" algn="tl" rotWithShape="false">
              <a:srgbClr val="1C3A76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3048000"/>
            <a:ext cx="11684000" cy="2286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本项目用可复现的数据生命周期和机器学习验证，说明中小企业AI流程自动化采纳中的效率、安全与部署条件。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493000" y="5588000"/>
            <a:ext cx="1270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6096000"/>
            <a:ext cx="11684000" cy="508000"/>
          </a:xfrm>
          <a:prstGeom prst="rect">
            <a:avLst/>
          </a:prstGeom>
          <a:noFill/>
          <a:ln w="16933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感谢老师和同学聆听，欢迎批评指正。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